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63" r:id="rId4"/>
    <p:sldId id="261" r:id="rId5"/>
    <p:sldId id="258" r:id="rId6"/>
    <p:sldId id="259" r:id="rId7"/>
    <p:sldId id="260" r:id="rId8"/>
    <p:sldId id="262" r:id="rId9"/>
    <p:sldId id="265" r:id="rId10"/>
  </p:sldIdLst>
  <p:sldSz cx="14630400" cy="8229600"/>
  <p:notesSz cx="8229600" cy="14630400"/>
  <p:embeddedFontLst>
    <p:embeddedFont>
      <p:font typeface="Bitter" panose="020B0604020202020204" charset="0"/>
      <p:regular r:id="rId12"/>
    </p:embeddedFont>
    <p:embeddedFont>
      <p:font typeface="Consolas" panose="020B0609020204030204" pitchFamily="49" charset="0"/>
      <p:regular r:id="rId13"/>
      <p:bold r:id="rId14"/>
      <p:italic r:id="rId15"/>
      <p:boldItalic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3" d="100"/>
          <a:sy n="53" d="100"/>
        </p:scale>
        <p:origin x="74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5203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txBody>
          <a:bodyPr/>
          <a:lstStyle/>
          <a:p>
            <a:endParaRPr lang="en-IN"/>
          </a:p>
        </p:txBody>
      </p:sp>
      <p:sp>
        <p:nvSpPr>
          <p:cNvPr id="3" name="Shape 1"/>
          <p:cNvSpPr/>
          <p:nvPr/>
        </p:nvSpPr>
        <p:spPr>
          <a:xfrm>
            <a:off x="0" y="0"/>
            <a:ext cx="14630400" cy="8229600"/>
          </a:xfrm>
          <a:prstGeom prst="rect">
            <a:avLst/>
          </a:prstGeom>
          <a:solidFill>
            <a:srgbClr val="1C1D1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txBody>
          <a:bodyPr/>
          <a:lstStyle/>
          <a:p>
            <a:endParaRPr lang="en-IN"/>
          </a:p>
        </p:txBody>
      </p:sp>
      <p:sp>
        <p:nvSpPr>
          <p:cNvPr id="3" name="Shape 1"/>
          <p:cNvSpPr/>
          <p:nvPr/>
        </p:nvSpPr>
        <p:spPr>
          <a:xfrm>
            <a:off x="0" y="0"/>
            <a:ext cx="14630400" cy="8229600"/>
          </a:xfrm>
          <a:prstGeom prst="rect">
            <a:avLst/>
          </a:prstGeom>
          <a:solidFill>
            <a:srgbClr val="1C1D1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txBody>
          <a:bodyPr/>
          <a:lstStyle/>
          <a:p>
            <a:endParaRPr lang="en-IN"/>
          </a:p>
        </p:txBody>
      </p:sp>
      <p:sp>
        <p:nvSpPr>
          <p:cNvPr id="3" name="Shape 1"/>
          <p:cNvSpPr/>
          <p:nvPr/>
        </p:nvSpPr>
        <p:spPr>
          <a:xfrm>
            <a:off x="0" y="0"/>
            <a:ext cx="14630400" cy="8229600"/>
          </a:xfrm>
          <a:prstGeom prst="rect">
            <a:avLst/>
          </a:prstGeom>
          <a:solidFill>
            <a:srgbClr val="1C1D1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txBody>
          <a:bodyPr/>
          <a:lstStyle/>
          <a:p>
            <a:endParaRPr lang="en-IN"/>
          </a:p>
        </p:txBody>
      </p:sp>
      <p:sp>
        <p:nvSpPr>
          <p:cNvPr id="3" name="Shape 1"/>
          <p:cNvSpPr/>
          <p:nvPr/>
        </p:nvSpPr>
        <p:spPr>
          <a:xfrm>
            <a:off x="0" y="0"/>
            <a:ext cx="14630400" cy="8229600"/>
          </a:xfrm>
          <a:prstGeom prst="rect">
            <a:avLst/>
          </a:prstGeom>
          <a:solidFill>
            <a:srgbClr val="1C1D1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txBody>
          <a:bodyPr/>
          <a:lstStyle/>
          <a:p>
            <a:endParaRPr lang="en-IN"/>
          </a:p>
        </p:txBody>
      </p:sp>
      <p:sp>
        <p:nvSpPr>
          <p:cNvPr id="3" name="Shape 1"/>
          <p:cNvSpPr/>
          <p:nvPr/>
        </p:nvSpPr>
        <p:spPr>
          <a:xfrm>
            <a:off x="0" y="0"/>
            <a:ext cx="14630400" cy="8229600"/>
          </a:xfrm>
          <a:prstGeom prst="rect">
            <a:avLst/>
          </a:prstGeom>
          <a:solidFill>
            <a:srgbClr val="1C1D1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txBody>
          <a:bodyPr/>
          <a:lstStyle/>
          <a:p>
            <a:endParaRPr lang="en-IN"/>
          </a:p>
        </p:txBody>
      </p:sp>
      <p:sp>
        <p:nvSpPr>
          <p:cNvPr id="3" name="Shape 1"/>
          <p:cNvSpPr/>
          <p:nvPr/>
        </p:nvSpPr>
        <p:spPr>
          <a:xfrm>
            <a:off x="0" y="0"/>
            <a:ext cx="14630400" cy="8229600"/>
          </a:xfrm>
          <a:prstGeom prst="rect">
            <a:avLst/>
          </a:prstGeom>
          <a:solidFill>
            <a:srgbClr val="1C1D1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txBody>
          <a:bodyPr/>
          <a:lstStyle/>
          <a:p>
            <a:endParaRPr lang="en-IN"/>
          </a:p>
        </p:txBody>
      </p:sp>
      <p:sp>
        <p:nvSpPr>
          <p:cNvPr id="3" name="Shape 1"/>
          <p:cNvSpPr/>
          <p:nvPr/>
        </p:nvSpPr>
        <p:spPr>
          <a:xfrm>
            <a:off x="0" y="0"/>
            <a:ext cx="14630400" cy="8229600"/>
          </a:xfrm>
          <a:prstGeom prst="rect">
            <a:avLst/>
          </a:prstGeom>
          <a:solidFill>
            <a:srgbClr val="1C1D1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txBody>
          <a:bodyPr/>
          <a:lstStyle/>
          <a:p>
            <a:endParaRPr lang="en-IN"/>
          </a:p>
        </p:txBody>
      </p:sp>
      <p:sp>
        <p:nvSpPr>
          <p:cNvPr id="3" name="Shape 1"/>
          <p:cNvSpPr/>
          <p:nvPr/>
        </p:nvSpPr>
        <p:spPr>
          <a:xfrm>
            <a:off x="0" y="0"/>
            <a:ext cx="14630400" cy="8229600"/>
          </a:xfrm>
          <a:prstGeom prst="rect">
            <a:avLst/>
          </a:prstGeom>
          <a:solidFill>
            <a:srgbClr val="1C1D1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txBody>
          <a:bodyPr/>
          <a:lstStyle/>
          <a:p>
            <a:endParaRPr lang="en-IN"/>
          </a:p>
        </p:txBody>
      </p:sp>
      <p:sp>
        <p:nvSpPr>
          <p:cNvPr id="3" name="Shape 1"/>
          <p:cNvSpPr/>
          <p:nvPr/>
        </p:nvSpPr>
        <p:spPr>
          <a:xfrm>
            <a:off x="0" y="0"/>
            <a:ext cx="14630400" cy="8229600"/>
          </a:xfrm>
          <a:prstGeom prst="rect">
            <a:avLst/>
          </a:prstGeom>
          <a:solidFill>
            <a:srgbClr val="1C1D1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txBody>
          <a:bodyPr/>
          <a:lstStyle/>
          <a:p>
            <a:endParaRPr lang="en-IN"/>
          </a:p>
        </p:txBody>
      </p:sp>
      <p:sp>
        <p:nvSpPr>
          <p:cNvPr id="3" name="Shape 1"/>
          <p:cNvSpPr/>
          <p:nvPr/>
        </p:nvSpPr>
        <p:spPr>
          <a:xfrm>
            <a:off x="0" y="0"/>
            <a:ext cx="14630400" cy="8229600"/>
          </a:xfrm>
          <a:prstGeom prst="rect">
            <a:avLst/>
          </a:prstGeom>
          <a:solidFill>
            <a:srgbClr val="1C1D1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3497104"/>
            <a:ext cx="6136243" cy="620078"/>
          </a:xfrm>
          <a:prstGeom prst="rect">
            <a:avLst/>
          </a:prstGeom>
          <a:noFill/>
          <a:ln/>
        </p:spPr>
        <p:txBody>
          <a:bodyPr wrap="none" lIns="0" tIns="0" rIns="0" bIns="0" rtlCol="0" anchor="t"/>
          <a:lstStyle/>
          <a:p>
            <a:pPr marL="0" indent="0" algn="l">
              <a:lnSpc>
                <a:spcPts val="4850"/>
              </a:lnSpc>
              <a:buNone/>
            </a:pPr>
            <a:r>
              <a:rPr lang="en-US" sz="3900" b="1" dirty="0">
                <a:solidFill>
                  <a:srgbClr val="E1E5CD"/>
                </a:solidFill>
                <a:latin typeface="Outfit Bold" pitchFamily="34" charset="0"/>
                <a:ea typeface="Outfit Bold" pitchFamily="34" charset="-122"/>
                <a:cs typeface="Outfit Bold" pitchFamily="34" charset="-120"/>
              </a:rPr>
              <a:t>Kubernetes Node Selectors</a:t>
            </a:r>
            <a:endParaRPr lang="en-US" sz="3900" dirty="0"/>
          </a:p>
        </p:txBody>
      </p:sp>
      <p:sp>
        <p:nvSpPr>
          <p:cNvPr id="4" name="Text 1"/>
          <p:cNvSpPr/>
          <p:nvPr/>
        </p:nvSpPr>
        <p:spPr>
          <a:xfrm>
            <a:off x="6280190" y="4414838"/>
            <a:ext cx="7556421" cy="317540"/>
          </a:xfrm>
          <a:prstGeom prst="rect">
            <a:avLst/>
          </a:prstGeom>
          <a:noFill/>
          <a:ln/>
        </p:spPr>
        <p:txBody>
          <a:bodyPr wrap="none" lIns="0" tIns="0" rIns="0" bIns="0" rtlCol="0" anchor="t"/>
          <a:lstStyle/>
          <a:p>
            <a:pPr marL="0" indent="0" algn="l">
              <a:lnSpc>
                <a:spcPts val="2500"/>
              </a:lnSpc>
              <a:buNone/>
            </a:pP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71049" y="569476"/>
            <a:ext cx="7035641" cy="542092"/>
          </a:xfrm>
          <a:prstGeom prst="rect">
            <a:avLst/>
          </a:prstGeom>
          <a:noFill/>
          <a:ln/>
        </p:spPr>
        <p:txBody>
          <a:bodyPr wrap="none" lIns="0" tIns="0" rIns="0" bIns="0" rtlCol="0" anchor="t"/>
          <a:lstStyle/>
          <a:p>
            <a:pPr marL="0" indent="0" algn="l">
              <a:lnSpc>
                <a:spcPts val="4250"/>
              </a:lnSpc>
              <a:buNone/>
            </a:pPr>
            <a:r>
              <a:rPr lang="en-US" sz="3400" b="1" dirty="0">
                <a:solidFill>
                  <a:srgbClr val="E1E5CD"/>
                </a:solidFill>
                <a:latin typeface="Outfit Bold" pitchFamily="34" charset="0"/>
                <a:ea typeface="Outfit Bold" pitchFamily="34" charset="-122"/>
                <a:cs typeface="Outfit Bold" pitchFamily="34" charset="-120"/>
              </a:rPr>
              <a:t>Why Scheduling Control is Essential</a:t>
            </a:r>
            <a:endParaRPr lang="en-US" sz="3400" dirty="0"/>
          </a:p>
        </p:txBody>
      </p:sp>
      <p:sp>
        <p:nvSpPr>
          <p:cNvPr id="4" name="Text 1"/>
          <p:cNvSpPr/>
          <p:nvPr/>
        </p:nvSpPr>
        <p:spPr>
          <a:xfrm>
            <a:off x="771049" y="1338977"/>
            <a:ext cx="7601902" cy="780098"/>
          </a:xfrm>
          <a:prstGeom prst="rect">
            <a:avLst/>
          </a:prstGeom>
          <a:noFill/>
          <a:ln/>
        </p:spPr>
        <p:txBody>
          <a:bodyPr wrap="square" lIns="0" tIns="0" rIns="0" bIns="0" rtlCol="0" anchor="t"/>
          <a:lstStyle/>
          <a:p>
            <a:pPr marL="0" indent="0" algn="l">
              <a:lnSpc>
                <a:spcPts val="2000"/>
              </a:lnSpc>
              <a:buNone/>
            </a:pPr>
            <a:r>
              <a:rPr lang="en-US" sz="1350" dirty="0">
                <a:solidFill>
                  <a:srgbClr val="C2C4B5"/>
                </a:solidFill>
                <a:latin typeface="Bitter" pitchFamily="34" charset="0"/>
                <a:ea typeface="Bitter" pitchFamily="34" charset="-122"/>
                <a:cs typeface="Bitter" pitchFamily="34" charset="-120"/>
              </a:rPr>
              <a:t>Kubernetes automatically schedules pods across nodes using its default scheduler, which works brilliantly for most workloads. However, real-world production environments demand more granular control over where your applications run.</a:t>
            </a:r>
            <a:endParaRPr lang="en-US" sz="1350" dirty="0"/>
          </a:p>
        </p:txBody>
      </p:sp>
      <p:sp>
        <p:nvSpPr>
          <p:cNvPr id="5" name="Shape 2"/>
          <p:cNvSpPr/>
          <p:nvPr/>
        </p:nvSpPr>
        <p:spPr>
          <a:xfrm>
            <a:off x="771049" y="2289572"/>
            <a:ext cx="7601902" cy="1228963"/>
          </a:xfrm>
          <a:prstGeom prst="roundRect">
            <a:avLst>
              <a:gd name="adj" fmla="val 2117"/>
            </a:avLst>
          </a:prstGeom>
          <a:solidFill>
            <a:srgbClr val="3B3C3E"/>
          </a:solidFill>
          <a:ln/>
        </p:spPr>
        <p:txBody>
          <a:bodyPr/>
          <a:lstStyle/>
          <a:p>
            <a:endParaRPr lang="en-IN"/>
          </a:p>
        </p:txBody>
      </p:sp>
      <p:sp>
        <p:nvSpPr>
          <p:cNvPr id="6" name="Text 3"/>
          <p:cNvSpPr/>
          <p:nvPr/>
        </p:nvSpPr>
        <p:spPr>
          <a:xfrm>
            <a:off x="944523" y="2463046"/>
            <a:ext cx="2430899" cy="270986"/>
          </a:xfrm>
          <a:prstGeom prst="rect">
            <a:avLst/>
          </a:prstGeom>
          <a:noFill/>
          <a:ln/>
        </p:spPr>
        <p:txBody>
          <a:bodyPr wrap="none" lIns="0" tIns="0" rIns="0" bIns="0" rtlCol="0" anchor="t"/>
          <a:lstStyle/>
          <a:p>
            <a:pPr marL="0" indent="0" algn="l">
              <a:lnSpc>
                <a:spcPts val="2100"/>
              </a:lnSpc>
              <a:buNone/>
            </a:pPr>
            <a:r>
              <a:rPr lang="en-US" sz="1700" b="1" dirty="0">
                <a:solidFill>
                  <a:srgbClr val="C2C4B5"/>
                </a:solidFill>
                <a:latin typeface="Outfit Bold" pitchFamily="34" charset="0"/>
                <a:ea typeface="Outfit Bold" pitchFamily="34" charset="-122"/>
                <a:cs typeface="Outfit Bold" pitchFamily="34" charset="-120"/>
              </a:rPr>
              <a:t>Hardware Requirements</a:t>
            </a:r>
            <a:endParaRPr lang="en-US" sz="1700" dirty="0"/>
          </a:p>
        </p:txBody>
      </p:sp>
      <p:sp>
        <p:nvSpPr>
          <p:cNvPr id="7" name="Text 4"/>
          <p:cNvSpPr/>
          <p:nvPr/>
        </p:nvSpPr>
        <p:spPr>
          <a:xfrm>
            <a:off x="944523" y="2824996"/>
            <a:ext cx="7254954" cy="520065"/>
          </a:xfrm>
          <a:prstGeom prst="rect">
            <a:avLst/>
          </a:prstGeom>
          <a:noFill/>
          <a:ln/>
        </p:spPr>
        <p:txBody>
          <a:bodyPr wrap="square" lIns="0" tIns="0" rIns="0" bIns="0" rtlCol="0" anchor="t"/>
          <a:lstStyle/>
          <a:p>
            <a:pPr marL="0" indent="0" algn="l">
              <a:lnSpc>
                <a:spcPts val="2000"/>
              </a:lnSpc>
              <a:buNone/>
            </a:pPr>
            <a:r>
              <a:rPr lang="en-US" sz="1350" dirty="0">
                <a:solidFill>
                  <a:srgbClr val="C2C4B5"/>
                </a:solidFill>
                <a:latin typeface="Bitter" pitchFamily="34" charset="0"/>
                <a:ea typeface="Bitter" pitchFamily="34" charset="-122"/>
                <a:cs typeface="Bitter" pitchFamily="34" charset="-120"/>
              </a:rPr>
              <a:t>Specialised workloads need specific CPU architectures, GPU availability, or high-memory nodes that aren't available on every node</a:t>
            </a:r>
            <a:endParaRPr lang="en-US" sz="1350" dirty="0"/>
          </a:p>
        </p:txBody>
      </p:sp>
      <p:sp>
        <p:nvSpPr>
          <p:cNvPr id="8" name="Shape 5"/>
          <p:cNvSpPr/>
          <p:nvPr/>
        </p:nvSpPr>
        <p:spPr>
          <a:xfrm>
            <a:off x="771049" y="3670102"/>
            <a:ext cx="7601902" cy="1228963"/>
          </a:xfrm>
          <a:prstGeom prst="roundRect">
            <a:avLst>
              <a:gd name="adj" fmla="val 2117"/>
            </a:avLst>
          </a:prstGeom>
          <a:solidFill>
            <a:srgbClr val="3B3C3E"/>
          </a:solidFill>
          <a:ln/>
        </p:spPr>
        <p:txBody>
          <a:bodyPr/>
          <a:lstStyle/>
          <a:p>
            <a:endParaRPr lang="en-IN"/>
          </a:p>
        </p:txBody>
      </p:sp>
      <p:sp>
        <p:nvSpPr>
          <p:cNvPr id="9" name="Text 6"/>
          <p:cNvSpPr/>
          <p:nvPr/>
        </p:nvSpPr>
        <p:spPr>
          <a:xfrm>
            <a:off x="944523" y="3843576"/>
            <a:ext cx="2223135" cy="270986"/>
          </a:xfrm>
          <a:prstGeom prst="rect">
            <a:avLst/>
          </a:prstGeom>
          <a:noFill/>
          <a:ln/>
        </p:spPr>
        <p:txBody>
          <a:bodyPr wrap="none" lIns="0" tIns="0" rIns="0" bIns="0" rtlCol="0" anchor="t"/>
          <a:lstStyle/>
          <a:p>
            <a:pPr marL="0" indent="0" algn="l">
              <a:lnSpc>
                <a:spcPts val="2100"/>
              </a:lnSpc>
              <a:buNone/>
            </a:pPr>
            <a:r>
              <a:rPr lang="en-US" sz="1700" b="1" dirty="0">
                <a:solidFill>
                  <a:srgbClr val="C2C4B5"/>
                </a:solidFill>
                <a:latin typeface="Outfit Bold" pitchFamily="34" charset="0"/>
                <a:ea typeface="Outfit Bold" pitchFamily="34" charset="-122"/>
                <a:cs typeface="Outfit Bold" pitchFamily="34" charset="-120"/>
              </a:rPr>
              <a:t>Compliance &amp; Security</a:t>
            </a:r>
            <a:endParaRPr lang="en-US" sz="1700" dirty="0"/>
          </a:p>
        </p:txBody>
      </p:sp>
      <p:sp>
        <p:nvSpPr>
          <p:cNvPr id="10" name="Text 7"/>
          <p:cNvSpPr/>
          <p:nvPr/>
        </p:nvSpPr>
        <p:spPr>
          <a:xfrm>
            <a:off x="944523" y="4205526"/>
            <a:ext cx="7254954" cy="520065"/>
          </a:xfrm>
          <a:prstGeom prst="rect">
            <a:avLst/>
          </a:prstGeom>
          <a:noFill/>
          <a:ln/>
        </p:spPr>
        <p:txBody>
          <a:bodyPr wrap="square" lIns="0" tIns="0" rIns="0" bIns="0" rtlCol="0" anchor="t"/>
          <a:lstStyle/>
          <a:p>
            <a:pPr marL="0" indent="0" algn="l">
              <a:lnSpc>
                <a:spcPts val="2000"/>
              </a:lnSpc>
              <a:buNone/>
            </a:pPr>
            <a:r>
              <a:rPr lang="en-US" sz="1350" dirty="0">
                <a:solidFill>
                  <a:srgbClr val="C2C4B5"/>
                </a:solidFill>
                <a:latin typeface="Bitter" pitchFamily="34" charset="0"/>
                <a:ea typeface="Bitter" pitchFamily="34" charset="-122"/>
                <a:cs typeface="Bitter" pitchFamily="34" charset="-120"/>
              </a:rPr>
              <a:t>Data sovereignty laws or security policies may require workloads to run in specific geographic regions or isolated infrastructure</a:t>
            </a:r>
            <a:endParaRPr lang="en-US" sz="1350" dirty="0"/>
          </a:p>
        </p:txBody>
      </p:sp>
      <p:sp>
        <p:nvSpPr>
          <p:cNvPr id="11" name="Shape 8"/>
          <p:cNvSpPr/>
          <p:nvPr/>
        </p:nvSpPr>
        <p:spPr>
          <a:xfrm>
            <a:off x="771049" y="5050631"/>
            <a:ext cx="7601902" cy="1228963"/>
          </a:xfrm>
          <a:prstGeom prst="roundRect">
            <a:avLst>
              <a:gd name="adj" fmla="val 2117"/>
            </a:avLst>
          </a:prstGeom>
          <a:solidFill>
            <a:srgbClr val="3B3C3E"/>
          </a:solidFill>
          <a:ln/>
        </p:spPr>
        <p:txBody>
          <a:bodyPr/>
          <a:lstStyle/>
          <a:p>
            <a:endParaRPr lang="en-IN"/>
          </a:p>
        </p:txBody>
      </p:sp>
      <p:sp>
        <p:nvSpPr>
          <p:cNvPr id="12" name="Text 9"/>
          <p:cNvSpPr/>
          <p:nvPr/>
        </p:nvSpPr>
        <p:spPr>
          <a:xfrm>
            <a:off x="944523" y="5224105"/>
            <a:ext cx="2667595" cy="270986"/>
          </a:xfrm>
          <a:prstGeom prst="rect">
            <a:avLst/>
          </a:prstGeom>
          <a:noFill/>
          <a:ln/>
        </p:spPr>
        <p:txBody>
          <a:bodyPr wrap="none" lIns="0" tIns="0" rIns="0" bIns="0" rtlCol="0" anchor="t"/>
          <a:lstStyle/>
          <a:p>
            <a:pPr marL="0" indent="0" algn="l">
              <a:lnSpc>
                <a:spcPts val="2100"/>
              </a:lnSpc>
              <a:buNone/>
            </a:pPr>
            <a:r>
              <a:rPr lang="en-US" sz="1700" b="1" dirty="0">
                <a:solidFill>
                  <a:srgbClr val="C2C4B5"/>
                </a:solidFill>
                <a:latin typeface="Outfit Bold" pitchFamily="34" charset="0"/>
                <a:ea typeface="Outfit Bold" pitchFamily="34" charset="-122"/>
                <a:cs typeface="Outfit Bold" pitchFamily="34" charset="-120"/>
              </a:rPr>
              <a:t>Performance Optimisation</a:t>
            </a:r>
            <a:endParaRPr lang="en-US" sz="1700" dirty="0"/>
          </a:p>
        </p:txBody>
      </p:sp>
      <p:sp>
        <p:nvSpPr>
          <p:cNvPr id="13" name="Text 10"/>
          <p:cNvSpPr/>
          <p:nvPr/>
        </p:nvSpPr>
        <p:spPr>
          <a:xfrm>
            <a:off x="944523" y="5586055"/>
            <a:ext cx="7254954" cy="520065"/>
          </a:xfrm>
          <a:prstGeom prst="rect">
            <a:avLst/>
          </a:prstGeom>
          <a:noFill/>
          <a:ln/>
        </p:spPr>
        <p:txBody>
          <a:bodyPr wrap="square" lIns="0" tIns="0" rIns="0" bIns="0" rtlCol="0" anchor="t"/>
          <a:lstStyle/>
          <a:p>
            <a:pPr marL="0" indent="0" algn="l">
              <a:lnSpc>
                <a:spcPts val="2000"/>
              </a:lnSpc>
              <a:buNone/>
            </a:pPr>
            <a:r>
              <a:rPr lang="en-US" sz="1350" dirty="0">
                <a:solidFill>
                  <a:srgbClr val="C2C4B5"/>
                </a:solidFill>
                <a:latin typeface="Bitter" pitchFamily="34" charset="0"/>
                <a:ea typeface="Bitter" pitchFamily="34" charset="-122"/>
                <a:cs typeface="Bitter" pitchFamily="34" charset="-120"/>
              </a:rPr>
              <a:t>Co-locating related services on the same node can reduce network latency and improve application performance</a:t>
            </a:r>
            <a:endParaRPr lang="en-US" sz="1350" dirty="0"/>
          </a:p>
        </p:txBody>
      </p:sp>
      <p:sp>
        <p:nvSpPr>
          <p:cNvPr id="14" name="Shape 11"/>
          <p:cNvSpPr/>
          <p:nvPr/>
        </p:nvSpPr>
        <p:spPr>
          <a:xfrm>
            <a:off x="771049" y="6431161"/>
            <a:ext cx="7601902" cy="1228963"/>
          </a:xfrm>
          <a:prstGeom prst="roundRect">
            <a:avLst>
              <a:gd name="adj" fmla="val 2117"/>
            </a:avLst>
          </a:prstGeom>
          <a:solidFill>
            <a:srgbClr val="3B3C3E"/>
          </a:solidFill>
          <a:ln/>
        </p:spPr>
        <p:txBody>
          <a:bodyPr/>
          <a:lstStyle/>
          <a:p>
            <a:endParaRPr lang="en-IN"/>
          </a:p>
        </p:txBody>
      </p:sp>
      <p:sp>
        <p:nvSpPr>
          <p:cNvPr id="15" name="Text 12"/>
          <p:cNvSpPr/>
          <p:nvPr/>
        </p:nvSpPr>
        <p:spPr>
          <a:xfrm>
            <a:off x="944523" y="6604635"/>
            <a:ext cx="2168485" cy="270986"/>
          </a:xfrm>
          <a:prstGeom prst="rect">
            <a:avLst/>
          </a:prstGeom>
          <a:noFill/>
          <a:ln/>
        </p:spPr>
        <p:txBody>
          <a:bodyPr wrap="none" lIns="0" tIns="0" rIns="0" bIns="0" rtlCol="0" anchor="t"/>
          <a:lstStyle/>
          <a:p>
            <a:pPr marL="0" indent="0" algn="l">
              <a:lnSpc>
                <a:spcPts val="2100"/>
              </a:lnSpc>
              <a:buNone/>
            </a:pPr>
            <a:r>
              <a:rPr lang="en-US" sz="1700" b="1" dirty="0">
                <a:solidFill>
                  <a:srgbClr val="C2C4B5"/>
                </a:solidFill>
                <a:latin typeface="Outfit Bold" pitchFamily="34" charset="0"/>
                <a:ea typeface="Outfit Bold" pitchFamily="34" charset="-122"/>
                <a:cs typeface="Outfit Bold" pitchFamily="34" charset="-120"/>
              </a:rPr>
              <a:t>Cost Management</a:t>
            </a:r>
            <a:endParaRPr lang="en-US" sz="1700" dirty="0"/>
          </a:p>
        </p:txBody>
      </p:sp>
      <p:sp>
        <p:nvSpPr>
          <p:cNvPr id="16" name="Text 13"/>
          <p:cNvSpPr/>
          <p:nvPr/>
        </p:nvSpPr>
        <p:spPr>
          <a:xfrm>
            <a:off x="944523" y="6966585"/>
            <a:ext cx="7254954" cy="520065"/>
          </a:xfrm>
          <a:prstGeom prst="rect">
            <a:avLst/>
          </a:prstGeom>
          <a:noFill/>
          <a:ln/>
        </p:spPr>
        <p:txBody>
          <a:bodyPr wrap="square" lIns="0" tIns="0" rIns="0" bIns="0" rtlCol="0" anchor="t"/>
          <a:lstStyle/>
          <a:p>
            <a:pPr marL="0" indent="0" algn="l">
              <a:lnSpc>
                <a:spcPts val="2000"/>
              </a:lnSpc>
              <a:buNone/>
            </a:pPr>
            <a:r>
              <a:rPr lang="en-US" sz="1350" dirty="0">
                <a:solidFill>
                  <a:srgbClr val="C2C4B5"/>
                </a:solidFill>
                <a:latin typeface="Bitter" pitchFamily="34" charset="0"/>
                <a:ea typeface="Bitter" pitchFamily="34" charset="-122"/>
                <a:cs typeface="Bitter" pitchFamily="34" charset="-120"/>
              </a:rPr>
              <a:t>Different node types have different pricing tiers—assign workloads strategically to optimise infrastructure costs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175861"/>
            <a:ext cx="8206621" cy="620078"/>
          </a:xfrm>
          <a:prstGeom prst="rect">
            <a:avLst/>
          </a:prstGeom>
          <a:noFill/>
          <a:ln/>
        </p:spPr>
        <p:txBody>
          <a:bodyPr wrap="none" lIns="0" tIns="0" rIns="0" bIns="0" rtlCol="0" anchor="t"/>
          <a:lstStyle/>
          <a:p>
            <a:pPr marL="0" indent="0" algn="l">
              <a:lnSpc>
                <a:spcPts val="4850"/>
              </a:lnSpc>
              <a:buNone/>
            </a:pPr>
            <a:r>
              <a:rPr lang="en-US" sz="3900" b="1" dirty="0">
                <a:solidFill>
                  <a:srgbClr val="E1E5CD"/>
                </a:solidFill>
                <a:latin typeface="Outfit Bold" pitchFamily="34" charset="0"/>
                <a:ea typeface="Outfit Bold" pitchFamily="34" charset="-122"/>
                <a:cs typeface="Outfit Bold" pitchFamily="34" charset="-120"/>
              </a:rPr>
              <a:t>Node Selector vs Default Scheduling</a:t>
            </a:r>
            <a:endParaRPr lang="en-US" sz="3900" dirty="0"/>
          </a:p>
        </p:txBody>
      </p:sp>
      <p:sp>
        <p:nvSpPr>
          <p:cNvPr id="3" name="Text 1"/>
          <p:cNvSpPr/>
          <p:nvPr/>
        </p:nvSpPr>
        <p:spPr>
          <a:xfrm>
            <a:off x="793790" y="2192774"/>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C2C4B5"/>
                </a:solidFill>
                <a:latin typeface="Bitter" pitchFamily="34" charset="0"/>
                <a:ea typeface="Bitter" pitchFamily="34" charset="-122"/>
                <a:cs typeface="Bitter" pitchFamily="34" charset="-120"/>
              </a:rPr>
              <a:t>Understanding the difference between default Kubernetes scheduling and node selector-controlled scheduling is fundamental for cluster administration and the CKA exam.</a:t>
            </a:r>
            <a:endParaRPr lang="en-US" sz="1550" dirty="0"/>
          </a:p>
        </p:txBody>
      </p:sp>
      <p:sp>
        <p:nvSpPr>
          <p:cNvPr id="4" name="Shape 2"/>
          <p:cNvSpPr/>
          <p:nvPr/>
        </p:nvSpPr>
        <p:spPr>
          <a:xfrm>
            <a:off x="793790" y="3051096"/>
            <a:ext cx="446484" cy="446484"/>
          </a:xfrm>
          <a:prstGeom prst="roundRect">
            <a:avLst>
              <a:gd name="adj" fmla="val 6668"/>
            </a:avLst>
          </a:prstGeom>
          <a:solidFill>
            <a:srgbClr val="3B3C3E"/>
          </a:solidFill>
          <a:ln/>
        </p:spPr>
        <p:txBody>
          <a:bodyPr/>
          <a:lstStyle/>
          <a:p>
            <a:endParaRPr lang="en-IN"/>
          </a:p>
        </p:txBody>
      </p:sp>
      <p:sp>
        <p:nvSpPr>
          <p:cNvPr id="5" name="Text 3"/>
          <p:cNvSpPr/>
          <p:nvPr/>
        </p:nvSpPr>
        <p:spPr>
          <a:xfrm>
            <a:off x="868204" y="3088303"/>
            <a:ext cx="297656" cy="372070"/>
          </a:xfrm>
          <a:prstGeom prst="rect">
            <a:avLst/>
          </a:prstGeom>
          <a:noFill/>
          <a:ln/>
        </p:spPr>
        <p:txBody>
          <a:bodyPr wrap="none" lIns="0" tIns="0" rIns="0" bIns="0" rtlCol="0" anchor="t"/>
          <a:lstStyle/>
          <a:p>
            <a:pPr marL="0" indent="0" algn="ctr">
              <a:lnSpc>
                <a:spcPts val="2300"/>
              </a:lnSpc>
              <a:buNone/>
            </a:pPr>
            <a:r>
              <a:rPr lang="en-US" sz="2300" b="1" dirty="0">
                <a:solidFill>
                  <a:srgbClr val="C2C4B5"/>
                </a:solidFill>
                <a:latin typeface="Outfit Bold" pitchFamily="34" charset="0"/>
                <a:ea typeface="Outfit Bold" pitchFamily="34" charset="-122"/>
                <a:cs typeface="Outfit Bold" pitchFamily="34" charset="-120"/>
              </a:rPr>
              <a:t>1</a:t>
            </a:r>
            <a:endParaRPr lang="en-US" sz="2300" dirty="0"/>
          </a:p>
        </p:txBody>
      </p:sp>
      <p:sp>
        <p:nvSpPr>
          <p:cNvPr id="6" name="Text 4"/>
          <p:cNvSpPr/>
          <p:nvPr/>
        </p:nvSpPr>
        <p:spPr>
          <a:xfrm>
            <a:off x="1438632" y="311931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C2C4B5"/>
                </a:solidFill>
                <a:latin typeface="Outfit Bold" pitchFamily="34" charset="0"/>
                <a:ea typeface="Outfit Bold" pitchFamily="34" charset="-122"/>
                <a:cs typeface="Outfit Bold" pitchFamily="34" charset="-120"/>
              </a:rPr>
              <a:t>Default Scheduling</a:t>
            </a:r>
            <a:endParaRPr lang="en-US" sz="1950" dirty="0"/>
          </a:p>
        </p:txBody>
      </p:sp>
      <p:sp>
        <p:nvSpPr>
          <p:cNvPr id="7" name="Text 5"/>
          <p:cNvSpPr/>
          <p:nvPr/>
        </p:nvSpPr>
        <p:spPr>
          <a:xfrm>
            <a:off x="1438632" y="3548539"/>
            <a:ext cx="5752505" cy="2639258"/>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C2C4B5"/>
                </a:solidFill>
                <a:latin typeface="Bitter" pitchFamily="34" charset="0"/>
                <a:ea typeface="Bitter" pitchFamily="34" charset="-122"/>
                <a:cs typeface="Bitter" pitchFamily="34" charset="-120"/>
              </a:rPr>
              <a:t>Pods can schedule to any node in the cluster</a:t>
            </a:r>
            <a:endParaRPr lang="en-US" sz="1550" dirty="0"/>
          </a:p>
          <a:p>
            <a:pPr marL="342900" indent="-342900" algn="l">
              <a:lnSpc>
                <a:spcPts val="2500"/>
              </a:lnSpc>
              <a:buSzPct val="100000"/>
              <a:buChar char="•"/>
            </a:pPr>
            <a:r>
              <a:rPr lang="en-US" sz="1550" dirty="0">
                <a:solidFill>
                  <a:srgbClr val="C2C4B5"/>
                </a:solidFill>
                <a:latin typeface="Bitter" pitchFamily="34" charset="0"/>
                <a:ea typeface="Bitter" pitchFamily="34" charset="-122"/>
                <a:cs typeface="Bitter" pitchFamily="34" charset="-120"/>
              </a:rPr>
              <a:t>Scheduler considers resource requests/limits</a:t>
            </a:r>
            <a:endParaRPr lang="en-US" sz="1550" dirty="0"/>
          </a:p>
          <a:p>
            <a:pPr marL="342900" indent="-342900" algn="l">
              <a:lnSpc>
                <a:spcPts val="2500"/>
              </a:lnSpc>
              <a:buSzPct val="100000"/>
              <a:buChar char="•"/>
            </a:pPr>
            <a:r>
              <a:rPr lang="en-US" sz="1550" dirty="0">
                <a:solidFill>
                  <a:srgbClr val="C2C4B5"/>
                </a:solidFill>
                <a:latin typeface="Bitter" pitchFamily="34" charset="0"/>
                <a:ea typeface="Bitter" pitchFamily="34" charset="-122"/>
                <a:cs typeface="Bitter" pitchFamily="34" charset="-120"/>
              </a:rPr>
              <a:t>Applies standard spreading across nodes</a:t>
            </a:r>
            <a:endParaRPr lang="en-US" sz="1550" dirty="0"/>
          </a:p>
          <a:p>
            <a:pPr marL="342900" indent="-342900" algn="l">
              <a:lnSpc>
                <a:spcPts val="2500"/>
              </a:lnSpc>
              <a:buSzPct val="100000"/>
              <a:buChar char="•"/>
            </a:pPr>
            <a:r>
              <a:rPr lang="en-US" sz="1550" dirty="0">
                <a:solidFill>
                  <a:srgbClr val="C2C4B5"/>
                </a:solidFill>
                <a:latin typeface="Bitter" pitchFamily="34" charset="0"/>
                <a:ea typeface="Bitter" pitchFamily="34" charset="-122"/>
                <a:cs typeface="Bitter" pitchFamily="34" charset="-120"/>
              </a:rPr>
              <a:t>No label-based filtering applied</a:t>
            </a:r>
            <a:endParaRPr lang="en-US" sz="1550" dirty="0"/>
          </a:p>
          <a:p>
            <a:pPr marL="342900" indent="-342900" algn="l">
              <a:lnSpc>
                <a:spcPts val="2500"/>
              </a:lnSpc>
              <a:buSzPct val="100000"/>
              <a:buChar char="•"/>
            </a:pPr>
            <a:r>
              <a:rPr lang="en-US" sz="1550" dirty="0">
                <a:solidFill>
                  <a:srgbClr val="C2C4B5"/>
                </a:solidFill>
                <a:latin typeface="Bitter" pitchFamily="34" charset="0"/>
                <a:ea typeface="Bitter" pitchFamily="34" charset="-122"/>
                <a:cs typeface="Bitter" pitchFamily="34" charset="-120"/>
              </a:rPr>
              <a:t>Pods typically schedule quickly</a:t>
            </a:r>
            <a:endParaRPr lang="en-US" sz="1550" dirty="0"/>
          </a:p>
          <a:p>
            <a:pPr marL="342900" indent="-342900" algn="l">
              <a:lnSpc>
                <a:spcPts val="2500"/>
              </a:lnSpc>
              <a:buSzPct val="100000"/>
              <a:buChar char="•"/>
            </a:pPr>
            <a:endParaRPr lang="en-US" sz="1550" dirty="0"/>
          </a:p>
        </p:txBody>
      </p:sp>
      <p:sp>
        <p:nvSpPr>
          <p:cNvPr id="8" name="Shape 6"/>
          <p:cNvSpPr/>
          <p:nvPr/>
        </p:nvSpPr>
        <p:spPr>
          <a:xfrm>
            <a:off x="7439144" y="3051096"/>
            <a:ext cx="446484" cy="446484"/>
          </a:xfrm>
          <a:prstGeom prst="roundRect">
            <a:avLst>
              <a:gd name="adj" fmla="val 6668"/>
            </a:avLst>
          </a:prstGeom>
          <a:solidFill>
            <a:srgbClr val="3B3C3E"/>
          </a:solidFill>
          <a:ln/>
        </p:spPr>
        <p:txBody>
          <a:bodyPr/>
          <a:lstStyle/>
          <a:p>
            <a:endParaRPr lang="en-IN"/>
          </a:p>
        </p:txBody>
      </p:sp>
      <p:sp>
        <p:nvSpPr>
          <p:cNvPr id="9" name="Text 7"/>
          <p:cNvSpPr/>
          <p:nvPr/>
        </p:nvSpPr>
        <p:spPr>
          <a:xfrm>
            <a:off x="7513558" y="3088303"/>
            <a:ext cx="297656" cy="372070"/>
          </a:xfrm>
          <a:prstGeom prst="rect">
            <a:avLst/>
          </a:prstGeom>
          <a:noFill/>
          <a:ln/>
        </p:spPr>
        <p:txBody>
          <a:bodyPr wrap="none" lIns="0" tIns="0" rIns="0" bIns="0" rtlCol="0" anchor="t"/>
          <a:lstStyle/>
          <a:p>
            <a:pPr marL="0" indent="0" algn="ctr">
              <a:lnSpc>
                <a:spcPts val="2300"/>
              </a:lnSpc>
              <a:buNone/>
            </a:pPr>
            <a:r>
              <a:rPr lang="en-US" sz="2300" b="1" dirty="0">
                <a:solidFill>
                  <a:srgbClr val="C2C4B5"/>
                </a:solidFill>
                <a:latin typeface="Outfit Bold" pitchFamily="34" charset="0"/>
                <a:ea typeface="Outfit Bold" pitchFamily="34" charset="-122"/>
                <a:cs typeface="Outfit Bold" pitchFamily="34" charset="-120"/>
              </a:rPr>
              <a:t>2</a:t>
            </a:r>
            <a:endParaRPr lang="en-US" sz="2300" dirty="0"/>
          </a:p>
        </p:txBody>
      </p:sp>
      <p:sp>
        <p:nvSpPr>
          <p:cNvPr id="10" name="Text 8"/>
          <p:cNvSpPr/>
          <p:nvPr/>
        </p:nvSpPr>
        <p:spPr>
          <a:xfrm>
            <a:off x="8083987" y="3119318"/>
            <a:ext cx="2896553" cy="310158"/>
          </a:xfrm>
          <a:prstGeom prst="rect">
            <a:avLst/>
          </a:prstGeom>
          <a:noFill/>
          <a:ln/>
        </p:spPr>
        <p:txBody>
          <a:bodyPr wrap="none" lIns="0" tIns="0" rIns="0" bIns="0" rtlCol="0" anchor="t"/>
          <a:lstStyle/>
          <a:p>
            <a:pPr marL="0" indent="0" algn="l">
              <a:lnSpc>
                <a:spcPts val="2400"/>
              </a:lnSpc>
              <a:buNone/>
            </a:pPr>
            <a:r>
              <a:rPr lang="en-US" sz="1950" b="1" dirty="0">
                <a:solidFill>
                  <a:srgbClr val="C2C4B5"/>
                </a:solidFill>
                <a:latin typeface="Outfit Bold" pitchFamily="34" charset="0"/>
                <a:ea typeface="Outfit Bold" pitchFamily="34" charset="-122"/>
                <a:cs typeface="Outfit Bold" pitchFamily="34" charset="-120"/>
              </a:rPr>
              <a:t>Node Selector Scheduling</a:t>
            </a:r>
            <a:endParaRPr lang="en-US" sz="1950" dirty="0"/>
          </a:p>
        </p:txBody>
      </p:sp>
      <p:sp>
        <p:nvSpPr>
          <p:cNvPr id="11" name="Text 9"/>
          <p:cNvSpPr/>
          <p:nvPr/>
        </p:nvSpPr>
        <p:spPr>
          <a:xfrm>
            <a:off x="8083987" y="3548539"/>
            <a:ext cx="5752624" cy="2639258"/>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C2C4B5"/>
                </a:solidFill>
                <a:latin typeface="Bitter" pitchFamily="34" charset="0"/>
                <a:ea typeface="Bitter" pitchFamily="34" charset="-122"/>
                <a:cs typeface="Bitter" pitchFamily="34" charset="-120"/>
              </a:rPr>
              <a:t>Pods restricted to nodes with matching labels</a:t>
            </a:r>
            <a:endParaRPr lang="en-US" sz="1550" dirty="0"/>
          </a:p>
          <a:p>
            <a:pPr marL="342900" indent="-342900" algn="l">
              <a:lnSpc>
                <a:spcPts val="2500"/>
              </a:lnSpc>
              <a:buSzPct val="100000"/>
              <a:buChar char="•"/>
            </a:pPr>
            <a:r>
              <a:rPr lang="en-US" sz="1550" dirty="0">
                <a:solidFill>
                  <a:srgbClr val="C2C4B5"/>
                </a:solidFill>
                <a:latin typeface="Bitter" pitchFamily="34" charset="0"/>
                <a:ea typeface="Bitter" pitchFamily="34" charset="-122"/>
                <a:cs typeface="Bitter" pitchFamily="34" charset="-120"/>
              </a:rPr>
              <a:t>First filters by labels, then applies resource checks</a:t>
            </a:r>
            <a:endParaRPr lang="en-US" sz="1550" dirty="0"/>
          </a:p>
          <a:p>
            <a:pPr marL="342900" indent="-342900" algn="l">
              <a:lnSpc>
                <a:spcPts val="2500"/>
              </a:lnSpc>
              <a:buSzPct val="100000"/>
              <a:buChar char="•"/>
            </a:pPr>
            <a:r>
              <a:rPr lang="en-US" sz="1550" dirty="0">
                <a:solidFill>
                  <a:srgbClr val="C2C4B5"/>
                </a:solidFill>
                <a:latin typeface="Bitter" pitchFamily="34" charset="0"/>
                <a:ea typeface="Bitter" pitchFamily="34" charset="-122"/>
                <a:cs typeface="Bitter" pitchFamily="34" charset="-120"/>
              </a:rPr>
              <a:t>Spreading limited to matching nodes only</a:t>
            </a:r>
            <a:endParaRPr lang="en-US" sz="1550" dirty="0"/>
          </a:p>
          <a:p>
            <a:pPr marL="342900" indent="-342900" algn="l">
              <a:lnSpc>
                <a:spcPts val="2500"/>
              </a:lnSpc>
              <a:buSzPct val="100000"/>
              <a:buChar char="•"/>
            </a:pPr>
            <a:r>
              <a:rPr lang="en-US" sz="1550" dirty="0">
                <a:solidFill>
                  <a:srgbClr val="C2C4B5"/>
                </a:solidFill>
                <a:latin typeface="Bitter" pitchFamily="34" charset="0"/>
                <a:ea typeface="Bitter" pitchFamily="34" charset="-122"/>
                <a:cs typeface="Bitter" pitchFamily="34" charset="-120"/>
              </a:rPr>
              <a:t>Requires proper label management</a:t>
            </a:r>
            <a:endParaRPr lang="en-US" sz="1550" dirty="0"/>
          </a:p>
          <a:p>
            <a:pPr marL="342900" indent="-342900" algn="l">
              <a:lnSpc>
                <a:spcPts val="2500"/>
              </a:lnSpc>
              <a:buSzPct val="100000"/>
              <a:buChar char="•"/>
            </a:pPr>
            <a:r>
              <a:rPr lang="en-US" sz="1550" dirty="0">
                <a:solidFill>
                  <a:srgbClr val="C2C4B5"/>
                </a:solidFill>
                <a:latin typeface="Bitter" pitchFamily="34" charset="0"/>
                <a:ea typeface="Bitter" pitchFamily="34" charset="-122"/>
                <a:cs typeface="Bitter" pitchFamily="34" charset="-120"/>
              </a:rPr>
              <a:t>Pods may stay Pending if no match</a:t>
            </a:r>
            <a:endParaRPr lang="en-US" sz="1550" dirty="0"/>
          </a:p>
          <a:p>
            <a:pPr algn="l">
              <a:lnSpc>
                <a:spcPts val="2500"/>
              </a:lnSpc>
              <a:buSzPct val="100000"/>
            </a:pPr>
            <a:endParaRPr lang="en-US" sz="1550" dirty="0"/>
          </a:p>
        </p:txBody>
      </p:sp>
      <p:sp>
        <p:nvSpPr>
          <p:cNvPr id="12" name="Text 10"/>
          <p:cNvSpPr/>
          <p:nvPr/>
        </p:nvSpPr>
        <p:spPr>
          <a:xfrm>
            <a:off x="793790" y="5985510"/>
            <a:ext cx="13042821" cy="642699"/>
          </a:xfrm>
          <a:prstGeom prst="rect">
            <a:avLst/>
          </a:prstGeom>
          <a:noFill/>
          <a:ln/>
        </p:spPr>
        <p:txBody>
          <a:bodyPr wrap="square" lIns="0" tIns="0" rIns="0" bIns="0" rtlCol="0" anchor="t"/>
          <a:lstStyle/>
          <a:p>
            <a:pPr marL="0" indent="0" algn="l">
              <a:lnSpc>
                <a:spcPts val="2500"/>
              </a:lnSpc>
              <a:buNone/>
            </a:pPr>
            <a:r>
              <a:rPr lang="en-US" sz="1550" b="1" dirty="0">
                <a:solidFill>
                  <a:srgbClr val="C2C4B5"/>
                </a:solidFill>
                <a:latin typeface="Bitter" pitchFamily="34" charset="0"/>
                <a:ea typeface="Bitter" pitchFamily="34" charset="-122"/>
                <a:cs typeface="Bitter" pitchFamily="34" charset="-120"/>
              </a:rPr>
              <a:t>Practical Example:</a:t>
            </a:r>
            <a:r>
              <a:rPr lang="en-US" sz="1550" dirty="0">
                <a:solidFill>
                  <a:srgbClr val="C2C4B5"/>
                </a:solidFill>
                <a:latin typeface="Bitter" pitchFamily="34" charset="0"/>
                <a:ea typeface="Bitter" pitchFamily="34" charset="-122"/>
                <a:cs typeface="Bitter" pitchFamily="34" charset="-120"/>
              </a:rPr>
              <a:t> In a 10-node cluster with 8 worker nodes and 2 control plane nodes, default scheduling can place pods on any node. With </a:t>
            </a:r>
            <a:r>
              <a:rPr lang="en-US" sz="1550" dirty="0">
                <a:solidFill>
                  <a:srgbClr val="C2C4B5"/>
                </a:solidFill>
                <a:highlight>
                  <a:srgbClr val="292A2C"/>
                </a:highlight>
                <a:latin typeface="Consolas" pitchFamily="34" charset="0"/>
                <a:ea typeface="Consolas" pitchFamily="34" charset="-122"/>
                <a:cs typeface="Consolas" pitchFamily="34" charset="-120"/>
              </a:rPr>
              <a:t>node-role.kubernetes.io/worker: "true"</a:t>
            </a:r>
            <a:r>
              <a:rPr lang="en-US" sz="1550" dirty="0">
                <a:solidFill>
                  <a:srgbClr val="C2C4B5"/>
                </a:solidFill>
                <a:latin typeface="Bitter" pitchFamily="34" charset="0"/>
                <a:ea typeface="Bitter" pitchFamily="34" charset="-122"/>
                <a:cs typeface="Bitter" pitchFamily="34" charset="-120"/>
              </a:rPr>
              <a:t> selector, pods only schedule to the 8 worker nodes, protecting control plane stability.</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62633"/>
            <a:ext cx="9145310" cy="620078"/>
          </a:xfrm>
          <a:prstGeom prst="rect">
            <a:avLst/>
          </a:prstGeom>
          <a:noFill/>
          <a:ln/>
        </p:spPr>
        <p:txBody>
          <a:bodyPr wrap="none" lIns="0" tIns="0" rIns="0" bIns="0" rtlCol="0" anchor="t"/>
          <a:lstStyle/>
          <a:p>
            <a:pPr marL="0" indent="0" algn="l">
              <a:lnSpc>
                <a:spcPts val="4850"/>
              </a:lnSpc>
              <a:buNone/>
            </a:pPr>
            <a:r>
              <a:rPr lang="en-US" sz="3900" b="1" dirty="0">
                <a:solidFill>
                  <a:srgbClr val="E1E5CD"/>
                </a:solidFill>
                <a:latin typeface="Outfit Bold" pitchFamily="34" charset="0"/>
                <a:ea typeface="Outfit Bold" pitchFamily="34" charset="-122"/>
                <a:cs typeface="Outfit Bold" pitchFamily="34" charset="-120"/>
              </a:rPr>
              <a:t>Pod Scheduling</a:t>
            </a:r>
            <a:endParaRPr lang="en-US" sz="3900" dirty="0"/>
          </a:p>
        </p:txBody>
      </p:sp>
      <p:sp>
        <p:nvSpPr>
          <p:cNvPr id="3" name="Text 1"/>
          <p:cNvSpPr/>
          <p:nvPr/>
        </p:nvSpPr>
        <p:spPr>
          <a:xfrm>
            <a:off x="793789" y="2235955"/>
            <a:ext cx="13042821" cy="5319875"/>
          </a:xfrm>
          <a:prstGeom prst="rect">
            <a:avLst/>
          </a:prstGeom>
          <a:noFill/>
          <a:ln/>
        </p:spPr>
        <p:txBody>
          <a:bodyPr wrap="none" lIns="0" tIns="0" rIns="0" bIns="0" rtlCol="0" anchor="t"/>
          <a:lstStyle/>
          <a:p>
            <a:pPr marL="0" indent="0" algn="l">
              <a:lnSpc>
                <a:spcPts val="2500"/>
              </a:lnSpc>
              <a:buNone/>
            </a:pPr>
            <a:r>
              <a:rPr lang="en-US" sz="2400" b="1" dirty="0">
                <a:solidFill>
                  <a:srgbClr val="C2C4B5"/>
                </a:solidFill>
                <a:latin typeface="Bitter" pitchFamily="34" charset="0"/>
                <a:ea typeface="Bitter" pitchFamily="34" charset="-122"/>
                <a:cs typeface="Bitter" pitchFamily="34" charset="-120"/>
              </a:rPr>
              <a:t>Filtering:</a:t>
            </a:r>
          </a:p>
          <a:p>
            <a:pPr marL="342900" indent="-342900" algn="l">
              <a:lnSpc>
                <a:spcPts val="2500"/>
              </a:lnSpc>
              <a:buFont typeface="Arial" panose="020B0604020202020204" pitchFamily="34" charset="0"/>
              <a:buChar char="•"/>
            </a:pPr>
            <a:r>
              <a:rPr lang="en-US" sz="2000" b="1" u="sng" dirty="0">
                <a:solidFill>
                  <a:srgbClr val="C2C4B5"/>
                </a:solidFill>
                <a:latin typeface="Bitter" pitchFamily="34" charset="0"/>
                <a:ea typeface="Bitter" pitchFamily="34" charset="-122"/>
                <a:cs typeface="Bitter" pitchFamily="34" charset="-120"/>
              </a:rPr>
              <a:t>Resource Fits:</a:t>
            </a:r>
            <a:r>
              <a:rPr lang="en-US" sz="2000" dirty="0">
                <a:solidFill>
                  <a:srgbClr val="C2C4B5"/>
                </a:solidFill>
                <a:latin typeface="Bitter" pitchFamily="34" charset="0"/>
                <a:ea typeface="Bitter" pitchFamily="34" charset="-122"/>
                <a:cs typeface="Bitter" pitchFamily="34" charset="-120"/>
              </a:rPr>
              <a:t> Does node have enough unallocated CPU/Memory ? </a:t>
            </a:r>
          </a:p>
          <a:p>
            <a:pPr marL="342900" indent="-342900" algn="l">
              <a:lnSpc>
                <a:spcPts val="2500"/>
              </a:lnSpc>
              <a:buFont typeface="Arial" panose="020B0604020202020204" pitchFamily="34" charset="0"/>
              <a:buChar char="•"/>
            </a:pPr>
            <a:r>
              <a:rPr lang="en-US" sz="2000" b="1" u="sng" dirty="0">
                <a:solidFill>
                  <a:srgbClr val="C2C4B5"/>
                </a:solidFill>
                <a:latin typeface="Bitter" pitchFamily="34" charset="0"/>
                <a:ea typeface="Bitter" pitchFamily="34" charset="-122"/>
                <a:cs typeface="Bitter" pitchFamily="34" charset="-120"/>
              </a:rPr>
              <a:t>Node Selectors/Affinity</a:t>
            </a:r>
            <a:r>
              <a:rPr lang="en-US" sz="2000" dirty="0">
                <a:solidFill>
                  <a:srgbClr val="C2C4B5"/>
                </a:solidFill>
                <a:latin typeface="Bitter" pitchFamily="34" charset="0"/>
                <a:ea typeface="Bitter" pitchFamily="34" charset="-122"/>
                <a:cs typeface="Bitter" pitchFamily="34" charset="-120"/>
              </a:rPr>
              <a:t>: Does node have required labels ?</a:t>
            </a:r>
          </a:p>
          <a:p>
            <a:pPr marL="342900" indent="-342900" algn="l">
              <a:lnSpc>
                <a:spcPts val="2500"/>
              </a:lnSpc>
              <a:buFont typeface="Arial" panose="020B0604020202020204" pitchFamily="34" charset="0"/>
              <a:buChar char="•"/>
            </a:pPr>
            <a:r>
              <a:rPr lang="en-US" sz="2000" b="1" u="sng" dirty="0">
                <a:solidFill>
                  <a:srgbClr val="C2C4B5"/>
                </a:solidFill>
                <a:latin typeface="Bitter" pitchFamily="34" charset="0"/>
                <a:ea typeface="Bitter" pitchFamily="34" charset="-122"/>
                <a:cs typeface="Bitter" pitchFamily="34" charset="-120"/>
              </a:rPr>
              <a:t>Taints &amp; Tolerations:</a:t>
            </a:r>
            <a:r>
              <a:rPr lang="en-US" sz="2000" dirty="0">
                <a:solidFill>
                  <a:srgbClr val="C2C4B5"/>
                </a:solidFill>
                <a:latin typeface="Bitter" pitchFamily="34" charset="0"/>
                <a:ea typeface="Bitter" pitchFamily="34" charset="-122"/>
                <a:cs typeface="Bitter" pitchFamily="34" charset="-120"/>
              </a:rPr>
              <a:t> Is pod allowed to stay on a “restricted” node</a:t>
            </a:r>
          </a:p>
          <a:p>
            <a:pPr algn="l">
              <a:lnSpc>
                <a:spcPts val="2500"/>
              </a:lnSpc>
            </a:pPr>
            <a:endParaRPr lang="en-US" sz="2000" dirty="0">
              <a:solidFill>
                <a:srgbClr val="C2C4B5"/>
              </a:solidFill>
              <a:latin typeface="Bitter" pitchFamily="34" charset="0"/>
              <a:ea typeface="Bitter" pitchFamily="34" charset="-122"/>
              <a:cs typeface="Bitter" pitchFamily="34" charset="-120"/>
            </a:endParaRPr>
          </a:p>
          <a:p>
            <a:pPr algn="l">
              <a:lnSpc>
                <a:spcPts val="2500"/>
              </a:lnSpc>
            </a:pPr>
            <a:r>
              <a:rPr lang="en-US" sz="2400" b="1" dirty="0">
                <a:solidFill>
                  <a:srgbClr val="C2C4B5"/>
                </a:solidFill>
                <a:latin typeface="Bitter" pitchFamily="34" charset="0"/>
                <a:ea typeface="Bitter" pitchFamily="34" charset="-122"/>
                <a:cs typeface="Bitter" pitchFamily="34" charset="-120"/>
              </a:rPr>
              <a:t>Scoring:</a:t>
            </a:r>
          </a:p>
          <a:p>
            <a:pPr marL="342900" indent="-342900" algn="l">
              <a:lnSpc>
                <a:spcPts val="2500"/>
              </a:lnSpc>
              <a:buFont typeface="Arial" panose="020B0604020202020204" pitchFamily="34" charset="0"/>
              <a:buChar char="•"/>
            </a:pPr>
            <a:r>
              <a:rPr lang="en-US" sz="2000" b="1" u="sng" dirty="0">
                <a:solidFill>
                  <a:srgbClr val="C2C4B5"/>
                </a:solidFill>
                <a:latin typeface="Bitter" pitchFamily="34" charset="0"/>
                <a:ea typeface="Bitter" pitchFamily="34" charset="-122"/>
                <a:cs typeface="Bitter" pitchFamily="34" charset="-120"/>
              </a:rPr>
              <a:t>Resource Balance:</a:t>
            </a:r>
            <a:r>
              <a:rPr lang="en-US" sz="2000" b="1" dirty="0">
                <a:solidFill>
                  <a:srgbClr val="C2C4B5"/>
                </a:solidFill>
                <a:latin typeface="Bitter" pitchFamily="34" charset="0"/>
                <a:ea typeface="Bitter" pitchFamily="34" charset="-122"/>
                <a:cs typeface="Bitter" pitchFamily="34" charset="-120"/>
              </a:rPr>
              <a:t>  </a:t>
            </a:r>
            <a:r>
              <a:rPr lang="en-US" sz="2000" dirty="0">
                <a:solidFill>
                  <a:srgbClr val="C2C4B5"/>
                </a:solidFill>
                <a:latin typeface="Bitter" pitchFamily="34" charset="0"/>
                <a:ea typeface="Bitter" pitchFamily="34" charset="-122"/>
                <a:cs typeface="Bitter" pitchFamily="34" charset="-120"/>
              </a:rPr>
              <a:t>Prefers nodes where CPU &amp; Memory usage is balanced</a:t>
            </a:r>
            <a:endParaRPr lang="en-US" sz="2000" b="1" dirty="0">
              <a:solidFill>
                <a:srgbClr val="C2C4B5"/>
              </a:solidFill>
              <a:latin typeface="Bitter" pitchFamily="34" charset="0"/>
              <a:ea typeface="Bitter" pitchFamily="34" charset="-122"/>
              <a:cs typeface="Bitter" pitchFamily="34" charset="-120"/>
            </a:endParaRPr>
          </a:p>
          <a:p>
            <a:pPr marL="342900" indent="-342900" algn="l">
              <a:lnSpc>
                <a:spcPts val="2500"/>
              </a:lnSpc>
              <a:buFont typeface="Arial" panose="020B0604020202020204" pitchFamily="34" charset="0"/>
              <a:buChar char="•"/>
            </a:pPr>
            <a:r>
              <a:rPr lang="en-US" sz="2000" b="1" u="sng" dirty="0">
                <a:solidFill>
                  <a:srgbClr val="C2C4B5"/>
                </a:solidFill>
                <a:latin typeface="Bitter" pitchFamily="34" charset="0"/>
                <a:ea typeface="Bitter" pitchFamily="34" charset="-122"/>
                <a:cs typeface="Bitter" pitchFamily="34" charset="-120"/>
              </a:rPr>
              <a:t>Image Locality:</a:t>
            </a:r>
            <a:r>
              <a:rPr lang="en-US" sz="2000" dirty="0">
                <a:solidFill>
                  <a:srgbClr val="C2C4B5"/>
                </a:solidFill>
                <a:latin typeface="Bitter" pitchFamily="34" charset="0"/>
                <a:ea typeface="Bitter" pitchFamily="34" charset="-122"/>
                <a:cs typeface="Bitter" pitchFamily="34" charset="-120"/>
              </a:rPr>
              <a:t> Scores nodes higher if already Container Image is pulled</a:t>
            </a:r>
          </a:p>
          <a:p>
            <a:pPr marL="342900" indent="-342900" algn="l">
              <a:lnSpc>
                <a:spcPts val="2500"/>
              </a:lnSpc>
              <a:buFont typeface="Arial" panose="020B0604020202020204" pitchFamily="34" charset="0"/>
              <a:buChar char="•"/>
            </a:pPr>
            <a:r>
              <a:rPr lang="en-US" sz="2000" b="1" u="sng" dirty="0">
                <a:solidFill>
                  <a:srgbClr val="C2C4B5"/>
                </a:solidFill>
                <a:latin typeface="Bitter" pitchFamily="34" charset="0"/>
                <a:ea typeface="Bitter" pitchFamily="34" charset="-122"/>
                <a:cs typeface="Bitter" pitchFamily="34" charset="-120"/>
              </a:rPr>
              <a:t>Soft Affinity:</a:t>
            </a:r>
            <a:r>
              <a:rPr lang="en-US" sz="2000" dirty="0">
                <a:solidFill>
                  <a:srgbClr val="C2C4B5"/>
                </a:solidFill>
                <a:latin typeface="Bitter" pitchFamily="34" charset="0"/>
                <a:ea typeface="Bitter" pitchFamily="34" charset="-122"/>
                <a:cs typeface="Bitter" pitchFamily="34" charset="-120"/>
              </a:rPr>
              <a:t> Rewards nodes that satisfy “Preferred” scheduling rules.</a:t>
            </a:r>
          </a:p>
          <a:p>
            <a:pPr marL="342900" indent="-342900" algn="l">
              <a:lnSpc>
                <a:spcPts val="2500"/>
              </a:lnSpc>
              <a:buFont typeface="Arial" panose="020B0604020202020204" pitchFamily="34" charset="0"/>
              <a:buChar char="•"/>
            </a:pPr>
            <a:endParaRPr lang="en-US" sz="2000" dirty="0">
              <a:solidFill>
                <a:srgbClr val="C2C4B5"/>
              </a:solidFill>
              <a:latin typeface="Bitter" pitchFamily="34" charset="0"/>
              <a:ea typeface="Bitter" pitchFamily="34" charset="-122"/>
              <a:cs typeface="Bitter" pitchFamily="34" charset="-120"/>
            </a:endParaRPr>
          </a:p>
          <a:p>
            <a:pPr algn="l">
              <a:lnSpc>
                <a:spcPts val="2500"/>
              </a:lnSpc>
            </a:pPr>
            <a:r>
              <a:rPr lang="en-US" sz="2400" b="1" dirty="0">
                <a:solidFill>
                  <a:srgbClr val="C2C4B5"/>
                </a:solidFill>
                <a:latin typeface="Bitter" pitchFamily="34" charset="0"/>
                <a:ea typeface="Bitter" pitchFamily="34" charset="-122"/>
                <a:cs typeface="Bitter" pitchFamily="34" charset="-120"/>
              </a:rPr>
              <a:t>Binding:</a:t>
            </a:r>
          </a:p>
          <a:p>
            <a:pPr marL="342900" indent="-342900" algn="l">
              <a:lnSpc>
                <a:spcPts val="2500"/>
              </a:lnSpc>
              <a:buFont typeface="Arial" panose="020B0604020202020204" pitchFamily="34" charset="0"/>
              <a:buChar char="•"/>
            </a:pPr>
            <a:r>
              <a:rPr lang="en-US" sz="2000" b="1" u="sng" dirty="0">
                <a:solidFill>
                  <a:srgbClr val="C2C4B5"/>
                </a:solidFill>
                <a:latin typeface="Bitter" pitchFamily="34" charset="0"/>
                <a:ea typeface="Bitter" pitchFamily="34" charset="-122"/>
                <a:cs typeface="Bitter" pitchFamily="34" charset="-120"/>
              </a:rPr>
              <a:t>Final Selection</a:t>
            </a:r>
          </a:p>
          <a:p>
            <a:pPr marL="342900" indent="-342900" algn="l">
              <a:lnSpc>
                <a:spcPts val="2500"/>
              </a:lnSpc>
              <a:buFont typeface="Arial" panose="020B0604020202020204" pitchFamily="34" charset="0"/>
              <a:buChar char="•"/>
            </a:pPr>
            <a:r>
              <a:rPr lang="en-US" sz="2000" b="1" u="sng" dirty="0">
                <a:solidFill>
                  <a:srgbClr val="C2C4B5"/>
                </a:solidFill>
                <a:latin typeface="Bitter" pitchFamily="34" charset="0"/>
                <a:ea typeface="Bitter" pitchFamily="34" charset="-122"/>
                <a:cs typeface="Bitter" pitchFamily="34" charset="-120"/>
              </a:rPr>
              <a:t>Execution:</a:t>
            </a:r>
            <a:r>
              <a:rPr lang="en-US" sz="2000" dirty="0">
                <a:solidFill>
                  <a:srgbClr val="C2C4B5"/>
                </a:solidFill>
                <a:latin typeface="Bitter" pitchFamily="34" charset="0"/>
                <a:ea typeface="Bitter" pitchFamily="34" charset="-122"/>
                <a:cs typeface="Bitter" pitchFamily="34" charset="-120"/>
              </a:rPr>
              <a:t> Kubelet on chosen node sees the assignment and start the container</a:t>
            </a:r>
          </a:p>
          <a:p>
            <a:pPr marL="0" indent="0" algn="l">
              <a:lnSpc>
                <a:spcPts val="2500"/>
              </a:lnSpc>
              <a:buNone/>
            </a:pPr>
            <a:endParaRPr lang="en-US" sz="1550" dirty="0"/>
          </a:p>
        </p:txBody>
      </p:sp>
      <p:sp>
        <p:nvSpPr>
          <p:cNvPr id="6" name="Text 2"/>
          <p:cNvSpPr/>
          <p:nvPr/>
        </p:nvSpPr>
        <p:spPr>
          <a:xfrm>
            <a:off x="8816770" y="5928845"/>
            <a:ext cx="1904221" cy="733647"/>
          </a:xfrm>
          <a:prstGeom prst="rect">
            <a:avLst/>
          </a:prstGeom>
          <a:noFill/>
          <a:ln/>
        </p:spPr>
        <p:txBody>
          <a:bodyPr wrap="square" lIns="0" tIns="0" rIns="0" bIns="0" rtlCol="0" anchor="t"/>
          <a:lstStyle/>
          <a:p>
            <a:pPr marL="0" indent="0" algn="ctr">
              <a:lnSpc>
                <a:spcPts val="2850"/>
              </a:lnSpc>
              <a:buNone/>
            </a:pPr>
            <a:endParaRPr lang="en-US" sz="2300" dirty="0"/>
          </a:p>
        </p:txBody>
      </p:sp>
      <p:sp>
        <p:nvSpPr>
          <p:cNvPr id="8" name="Text 3"/>
          <p:cNvSpPr/>
          <p:nvPr/>
        </p:nvSpPr>
        <p:spPr>
          <a:xfrm>
            <a:off x="6416929" y="5928845"/>
            <a:ext cx="1904221" cy="733647"/>
          </a:xfrm>
          <a:prstGeom prst="rect">
            <a:avLst/>
          </a:prstGeom>
          <a:noFill/>
          <a:ln/>
        </p:spPr>
        <p:txBody>
          <a:bodyPr wrap="square" lIns="0" tIns="0" rIns="0" bIns="0" rtlCol="0" anchor="t"/>
          <a:lstStyle/>
          <a:p>
            <a:pPr marL="0" indent="0" algn="ctr">
              <a:lnSpc>
                <a:spcPts val="2850"/>
              </a:lnSpc>
              <a:buNone/>
            </a:pPr>
            <a:endParaRPr lang="en-US" sz="2300" dirty="0"/>
          </a:p>
        </p:txBody>
      </p:sp>
      <p:sp>
        <p:nvSpPr>
          <p:cNvPr id="10" name="Text 4"/>
          <p:cNvSpPr/>
          <p:nvPr/>
        </p:nvSpPr>
        <p:spPr>
          <a:xfrm>
            <a:off x="3977961" y="6112257"/>
            <a:ext cx="1904221" cy="366824"/>
          </a:xfrm>
          <a:prstGeom prst="rect">
            <a:avLst/>
          </a:prstGeom>
          <a:noFill/>
          <a:ln/>
        </p:spPr>
        <p:txBody>
          <a:bodyPr wrap="none" lIns="0" tIns="0" rIns="0" bIns="0" rtlCol="0" anchor="t"/>
          <a:lstStyle/>
          <a:p>
            <a:pPr marL="0" indent="0" algn="ctr">
              <a:lnSpc>
                <a:spcPts val="2850"/>
              </a:lnSpc>
              <a:buNone/>
            </a:pPr>
            <a:endParaRPr lang="en-US" sz="2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092041"/>
            <a:ext cx="5671899" cy="620078"/>
          </a:xfrm>
          <a:prstGeom prst="rect">
            <a:avLst/>
          </a:prstGeom>
          <a:noFill/>
          <a:ln/>
        </p:spPr>
        <p:txBody>
          <a:bodyPr wrap="none" lIns="0" tIns="0" rIns="0" bIns="0" rtlCol="0" anchor="t"/>
          <a:lstStyle/>
          <a:p>
            <a:pPr marL="0" indent="0" algn="l">
              <a:lnSpc>
                <a:spcPts val="4850"/>
              </a:lnSpc>
              <a:buNone/>
            </a:pPr>
            <a:r>
              <a:rPr lang="en-US" sz="3900" b="1" dirty="0">
                <a:solidFill>
                  <a:srgbClr val="E1E5CD"/>
                </a:solidFill>
                <a:latin typeface="Outfit Bold" pitchFamily="34" charset="0"/>
                <a:ea typeface="Outfit Bold" pitchFamily="34" charset="-122"/>
                <a:cs typeface="Outfit Bold" pitchFamily="34" charset="-120"/>
              </a:rPr>
              <a:t>What is a Node Selector?</a:t>
            </a:r>
            <a:endParaRPr lang="en-US" sz="3900" dirty="0"/>
          </a:p>
        </p:txBody>
      </p:sp>
      <p:sp>
        <p:nvSpPr>
          <p:cNvPr id="3" name="Text 1"/>
          <p:cNvSpPr/>
          <p:nvPr/>
        </p:nvSpPr>
        <p:spPr>
          <a:xfrm>
            <a:off x="793790" y="2188369"/>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C2C4B5"/>
                </a:solidFill>
                <a:latin typeface="Bitter" pitchFamily="34" charset="0"/>
                <a:ea typeface="Bitter" pitchFamily="34" charset="-122"/>
                <a:cs typeface="Bitter" pitchFamily="34" charset="-120"/>
              </a:rPr>
              <a:t>Node Selector is Kubernetes' simplest mechanism for controlling pod placement. It's a key-value pair dictionary defined in a Pod specification that tells the scheduler "only place this pod on nodes that have these exact labels".</a:t>
            </a:r>
            <a:endParaRPr lang="en-US" sz="1550" dirty="0"/>
          </a:p>
        </p:txBody>
      </p:sp>
      <p:sp>
        <p:nvSpPr>
          <p:cNvPr id="4" name="Text 2"/>
          <p:cNvSpPr/>
          <p:nvPr/>
        </p:nvSpPr>
        <p:spPr>
          <a:xfrm>
            <a:off x="793790" y="3637121"/>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C2C4B5"/>
                </a:solidFill>
                <a:latin typeface="Bitter" pitchFamily="34" charset="0"/>
                <a:ea typeface="Bitter" pitchFamily="34" charset="-122"/>
                <a:cs typeface="Bitter" pitchFamily="34" charset="-120"/>
              </a:rPr>
              <a:t>Think of it as a filtering mechanism—the scheduler examines all available nodes, checks which ones match the required labels, and then applies standard scheduling algorithms (resource availability, spreading, etc.) within that filtered subset.</a:t>
            </a:r>
            <a:endParaRPr lang="en-US" sz="1550" dirty="0"/>
          </a:p>
        </p:txBody>
      </p:sp>
      <p:sp>
        <p:nvSpPr>
          <p:cNvPr id="5" name="Text 3"/>
          <p:cNvSpPr/>
          <p:nvPr/>
        </p:nvSpPr>
        <p:spPr>
          <a:xfrm>
            <a:off x="793790" y="5085874"/>
            <a:ext cx="6279356" cy="317540"/>
          </a:xfrm>
          <a:prstGeom prst="rect">
            <a:avLst/>
          </a:prstGeom>
          <a:noFill/>
          <a:ln/>
        </p:spPr>
        <p:txBody>
          <a:bodyPr wrap="none" lIns="0" tIns="0" rIns="0" bIns="0" rtlCol="0" anchor="t"/>
          <a:lstStyle/>
          <a:p>
            <a:pPr marL="0" indent="0" algn="l">
              <a:lnSpc>
                <a:spcPts val="2500"/>
              </a:lnSpc>
              <a:buNone/>
            </a:pPr>
            <a:r>
              <a:rPr lang="en-US" sz="1550" b="1" dirty="0">
                <a:solidFill>
                  <a:srgbClr val="C2C4B5"/>
                </a:solidFill>
                <a:latin typeface="Bitter" pitchFamily="34" charset="0"/>
                <a:ea typeface="Bitter" pitchFamily="34" charset="-122"/>
                <a:cs typeface="Bitter" pitchFamily="34" charset="-120"/>
              </a:rPr>
              <a:t>Key characteristics:</a:t>
            </a:r>
            <a:endParaRPr lang="en-US" sz="1550" dirty="0"/>
          </a:p>
        </p:txBody>
      </p:sp>
      <p:sp>
        <p:nvSpPr>
          <p:cNvPr id="6" name="Text 4"/>
          <p:cNvSpPr/>
          <p:nvPr/>
        </p:nvSpPr>
        <p:spPr>
          <a:xfrm>
            <a:off x="793790" y="5582007"/>
            <a:ext cx="6279356" cy="148601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C2C4B5"/>
                </a:solidFill>
                <a:latin typeface="Bitter" pitchFamily="34" charset="0"/>
                <a:ea typeface="Bitter" pitchFamily="34" charset="-122"/>
                <a:cs typeface="Bitter" pitchFamily="34" charset="-120"/>
              </a:rPr>
              <a:t>Simple key-value pairs (no complex logic)</a:t>
            </a:r>
            <a:endParaRPr lang="en-US" sz="1550" dirty="0"/>
          </a:p>
          <a:p>
            <a:pPr marL="342900" indent="-342900" algn="l">
              <a:lnSpc>
                <a:spcPts val="2500"/>
              </a:lnSpc>
              <a:buSzPct val="100000"/>
              <a:buChar char="•"/>
            </a:pPr>
            <a:r>
              <a:rPr lang="en-US" sz="1550" dirty="0">
                <a:solidFill>
                  <a:srgbClr val="C2C4B5"/>
                </a:solidFill>
                <a:latin typeface="Bitter" pitchFamily="34" charset="0"/>
                <a:ea typeface="Bitter" pitchFamily="34" charset="-122"/>
                <a:cs typeface="Bitter" pitchFamily="34" charset="-120"/>
              </a:rPr>
              <a:t>Must match all specified labels (AND logic only)</a:t>
            </a:r>
            <a:endParaRPr lang="en-US" sz="1550" dirty="0"/>
          </a:p>
          <a:p>
            <a:pPr marL="342900" indent="-342900" algn="l">
              <a:lnSpc>
                <a:spcPts val="2500"/>
              </a:lnSpc>
              <a:buSzPct val="100000"/>
              <a:buChar char="•"/>
            </a:pPr>
            <a:r>
              <a:rPr lang="en-US" sz="1550" dirty="0">
                <a:solidFill>
                  <a:srgbClr val="C2C4B5"/>
                </a:solidFill>
                <a:latin typeface="Bitter" pitchFamily="34" charset="0"/>
                <a:ea typeface="Bitter" pitchFamily="34" charset="-122"/>
                <a:cs typeface="Bitter" pitchFamily="34" charset="-120"/>
              </a:rPr>
              <a:t>Hard requirement—if no nodes match, pod stays Pending</a:t>
            </a:r>
            <a:endParaRPr lang="en-US" sz="1550" dirty="0"/>
          </a:p>
          <a:p>
            <a:pPr marL="342900" indent="-342900" algn="l">
              <a:lnSpc>
                <a:spcPts val="2500"/>
              </a:lnSpc>
              <a:buSzPct val="100000"/>
              <a:buChar char="•"/>
            </a:pPr>
            <a:r>
              <a:rPr lang="en-US" sz="1550" dirty="0">
                <a:solidFill>
                  <a:srgbClr val="C2C4B5"/>
                </a:solidFill>
                <a:latin typeface="Bitter" pitchFamily="34" charset="0"/>
                <a:ea typeface="Bitter" pitchFamily="34" charset="-122"/>
                <a:cs typeface="Bitter" pitchFamily="34" charset="-120"/>
              </a:rPr>
              <a:t>Defined directly in Pod spec under </a:t>
            </a:r>
            <a:r>
              <a:rPr lang="en-US" sz="1550" dirty="0">
                <a:solidFill>
                  <a:srgbClr val="C2C4B5"/>
                </a:solidFill>
                <a:highlight>
                  <a:srgbClr val="292A2C"/>
                </a:highlight>
                <a:latin typeface="Consolas" pitchFamily="34" charset="0"/>
                <a:ea typeface="Consolas" pitchFamily="34" charset="-122"/>
                <a:cs typeface="Consolas" pitchFamily="34" charset="-120"/>
              </a:rPr>
              <a:t>nodeSelector</a:t>
            </a:r>
            <a:endParaRPr lang="en-US" sz="1550" dirty="0"/>
          </a:p>
        </p:txBody>
      </p:sp>
      <p:sp>
        <p:nvSpPr>
          <p:cNvPr id="7" name="Shape 5"/>
          <p:cNvSpPr/>
          <p:nvPr/>
        </p:nvSpPr>
        <p:spPr>
          <a:xfrm>
            <a:off x="7421999" y="2009775"/>
            <a:ext cx="6565106" cy="5127665"/>
          </a:xfrm>
          <a:prstGeom prst="roundRect">
            <a:avLst>
              <a:gd name="adj" fmla="val 581"/>
            </a:avLst>
          </a:prstGeom>
          <a:solidFill>
            <a:srgbClr val="9FA582"/>
          </a:solidFill>
          <a:ln/>
        </p:spPr>
        <p:txBody>
          <a:bodyPr/>
          <a:lstStyle/>
          <a:p>
            <a:endParaRPr lang="en-IN"/>
          </a:p>
        </p:txBody>
      </p:sp>
      <p:sp>
        <p:nvSpPr>
          <p:cNvPr id="8" name="Text 6"/>
          <p:cNvSpPr/>
          <p:nvPr/>
        </p:nvSpPr>
        <p:spPr>
          <a:xfrm>
            <a:off x="7620357" y="220813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Outfit Bold" pitchFamily="34" charset="0"/>
                <a:ea typeface="Outfit Bold" pitchFamily="34" charset="-122"/>
                <a:cs typeface="Outfit Bold" pitchFamily="34" charset="-120"/>
              </a:rPr>
              <a:t>When to Use</a:t>
            </a:r>
            <a:endParaRPr lang="en-US" sz="1950" dirty="0"/>
          </a:p>
        </p:txBody>
      </p:sp>
      <p:sp>
        <p:nvSpPr>
          <p:cNvPr id="9" name="Text 7"/>
          <p:cNvSpPr/>
          <p:nvPr/>
        </p:nvSpPr>
        <p:spPr>
          <a:xfrm>
            <a:off x="7620357" y="2716649"/>
            <a:ext cx="6168390" cy="147839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000000"/>
                </a:solidFill>
                <a:latin typeface="Bitter" pitchFamily="34" charset="0"/>
                <a:ea typeface="Bitter" pitchFamily="34" charset="-122"/>
                <a:cs typeface="Bitter" pitchFamily="34" charset="-120"/>
              </a:rPr>
              <a:t>Basic node affinity requirements</a:t>
            </a:r>
            <a:endParaRPr lang="en-US" sz="1550" dirty="0"/>
          </a:p>
          <a:p>
            <a:pPr marL="342900" indent="-342900" algn="l">
              <a:lnSpc>
                <a:spcPts val="2500"/>
              </a:lnSpc>
              <a:buSzPct val="100000"/>
              <a:buChar char="•"/>
            </a:pPr>
            <a:r>
              <a:rPr lang="en-US" sz="1550" dirty="0">
                <a:solidFill>
                  <a:srgbClr val="000000"/>
                </a:solidFill>
                <a:latin typeface="Bitter" pitchFamily="34" charset="0"/>
                <a:ea typeface="Bitter" pitchFamily="34" charset="-122"/>
                <a:cs typeface="Bitter" pitchFamily="34" charset="-120"/>
              </a:rPr>
              <a:t>Static infrastructure characteristics</a:t>
            </a:r>
            <a:endParaRPr lang="en-US" sz="1550" dirty="0"/>
          </a:p>
          <a:p>
            <a:pPr marL="342900" indent="-342900" algn="l">
              <a:lnSpc>
                <a:spcPts val="2500"/>
              </a:lnSpc>
              <a:buSzPct val="100000"/>
              <a:buChar char="•"/>
            </a:pPr>
            <a:r>
              <a:rPr lang="en-US" sz="1550" dirty="0">
                <a:solidFill>
                  <a:srgbClr val="000000"/>
                </a:solidFill>
                <a:latin typeface="Bitter" pitchFamily="34" charset="0"/>
                <a:ea typeface="Bitter" pitchFamily="34" charset="-122"/>
                <a:cs typeface="Bitter" pitchFamily="34" charset="-120"/>
              </a:rPr>
              <a:t>Learning Kubernetes scheduling fundamentals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0218" y="551974"/>
            <a:ext cx="6273641" cy="617339"/>
          </a:xfrm>
          <a:prstGeom prst="rect">
            <a:avLst/>
          </a:prstGeom>
          <a:noFill/>
          <a:ln/>
        </p:spPr>
        <p:txBody>
          <a:bodyPr wrap="none" lIns="0" tIns="0" rIns="0" bIns="0" rtlCol="0" anchor="t"/>
          <a:lstStyle/>
          <a:p>
            <a:pPr marL="0" indent="0" algn="l">
              <a:lnSpc>
                <a:spcPts val="4850"/>
              </a:lnSpc>
              <a:buNone/>
            </a:pPr>
            <a:r>
              <a:rPr lang="en-US" sz="3850" b="1" dirty="0">
                <a:solidFill>
                  <a:srgbClr val="E1E5CD"/>
                </a:solidFill>
                <a:latin typeface="Outfit Bold" pitchFamily="34" charset="0"/>
                <a:ea typeface="Outfit Bold" pitchFamily="34" charset="-122"/>
                <a:cs typeface="Outfit Bold" pitchFamily="34" charset="-120"/>
              </a:rPr>
              <a:t>Understanding Node Labels</a:t>
            </a:r>
            <a:endParaRPr lang="en-US" sz="3850" dirty="0"/>
          </a:p>
        </p:txBody>
      </p:sp>
      <p:sp>
        <p:nvSpPr>
          <p:cNvPr id="3" name="Text 1"/>
          <p:cNvSpPr/>
          <p:nvPr/>
        </p:nvSpPr>
        <p:spPr>
          <a:xfrm>
            <a:off x="790218" y="1562576"/>
            <a:ext cx="13049964" cy="630555"/>
          </a:xfrm>
          <a:prstGeom prst="rect">
            <a:avLst/>
          </a:prstGeom>
          <a:noFill/>
          <a:ln/>
        </p:spPr>
        <p:txBody>
          <a:bodyPr wrap="square" lIns="0" tIns="0" rIns="0" bIns="0" rtlCol="0" anchor="t"/>
          <a:lstStyle/>
          <a:p>
            <a:pPr marL="0" indent="0" algn="l">
              <a:lnSpc>
                <a:spcPts val="2450"/>
              </a:lnSpc>
              <a:buNone/>
            </a:pPr>
            <a:r>
              <a:rPr lang="en-US" sz="1550" dirty="0">
                <a:solidFill>
                  <a:srgbClr val="C2C4B5"/>
                </a:solidFill>
                <a:latin typeface="Bitter" pitchFamily="34" charset="0"/>
                <a:ea typeface="Bitter" pitchFamily="34" charset="-122"/>
                <a:cs typeface="Bitter" pitchFamily="34" charset="-120"/>
              </a:rPr>
              <a:t>Node labels are key-value pairs attached to nodes that describe their characteristics. They're the foundation of node selector functionality—without labels, you cannot filter nodes.</a:t>
            </a:r>
            <a:endParaRPr lang="en-US" sz="1550" dirty="0"/>
          </a:p>
        </p:txBody>
      </p:sp>
      <p:sp>
        <p:nvSpPr>
          <p:cNvPr id="4" name="Text 2"/>
          <p:cNvSpPr/>
          <p:nvPr/>
        </p:nvSpPr>
        <p:spPr>
          <a:xfrm>
            <a:off x="790218" y="2414349"/>
            <a:ext cx="197525" cy="246936"/>
          </a:xfrm>
          <a:prstGeom prst="rect">
            <a:avLst/>
          </a:prstGeom>
          <a:noFill/>
          <a:ln/>
        </p:spPr>
        <p:txBody>
          <a:bodyPr wrap="none" lIns="0" tIns="0" rIns="0" bIns="0" rtlCol="0" anchor="t"/>
          <a:lstStyle/>
          <a:p>
            <a:pPr marL="0" indent="0" algn="l">
              <a:lnSpc>
                <a:spcPts val="2450"/>
              </a:lnSpc>
              <a:buNone/>
            </a:pPr>
            <a:r>
              <a:rPr lang="en-US" sz="1550" dirty="0">
                <a:solidFill>
                  <a:srgbClr val="C2C4B5"/>
                </a:solidFill>
                <a:latin typeface="Outfit Light" pitchFamily="34" charset="0"/>
                <a:ea typeface="Outfit Light" pitchFamily="34" charset="-122"/>
                <a:cs typeface="Outfit Light" pitchFamily="34" charset="-120"/>
              </a:rPr>
              <a:t>01</a:t>
            </a:r>
            <a:endParaRPr lang="en-US" sz="1550" dirty="0"/>
          </a:p>
        </p:txBody>
      </p:sp>
      <p:sp>
        <p:nvSpPr>
          <p:cNvPr id="5" name="Shape 3"/>
          <p:cNvSpPr/>
          <p:nvPr/>
        </p:nvSpPr>
        <p:spPr>
          <a:xfrm>
            <a:off x="790218" y="2727127"/>
            <a:ext cx="6426637" cy="22860"/>
          </a:xfrm>
          <a:prstGeom prst="rect">
            <a:avLst/>
          </a:prstGeom>
          <a:solidFill>
            <a:srgbClr val="9FA582"/>
          </a:solidFill>
          <a:ln/>
        </p:spPr>
        <p:txBody>
          <a:bodyPr/>
          <a:lstStyle/>
          <a:p>
            <a:endParaRPr lang="en-IN"/>
          </a:p>
        </p:txBody>
      </p:sp>
      <p:sp>
        <p:nvSpPr>
          <p:cNvPr id="6" name="Text 4"/>
          <p:cNvSpPr/>
          <p:nvPr/>
        </p:nvSpPr>
        <p:spPr>
          <a:xfrm>
            <a:off x="790218" y="2871549"/>
            <a:ext cx="2469475" cy="308610"/>
          </a:xfrm>
          <a:prstGeom prst="rect">
            <a:avLst/>
          </a:prstGeom>
          <a:noFill/>
          <a:ln/>
        </p:spPr>
        <p:txBody>
          <a:bodyPr wrap="none" lIns="0" tIns="0" rIns="0" bIns="0" rtlCol="0" anchor="t"/>
          <a:lstStyle/>
          <a:p>
            <a:pPr marL="0" indent="0" algn="l">
              <a:lnSpc>
                <a:spcPts val="2400"/>
              </a:lnSpc>
              <a:buNone/>
            </a:pPr>
            <a:r>
              <a:rPr lang="en-US" sz="1900" b="1" dirty="0">
                <a:solidFill>
                  <a:srgbClr val="C2C4B5"/>
                </a:solidFill>
                <a:latin typeface="Outfit Bold" pitchFamily="34" charset="0"/>
                <a:ea typeface="Outfit Bold" pitchFamily="34" charset="-122"/>
                <a:cs typeface="Outfit Bold" pitchFamily="34" charset="-120"/>
              </a:rPr>
              <a:t>Label Syntax</a:t>
            </a:r>
            <a:endParaRPr lang="en-US" sz="1900" dirty="0"/>
          </a:p>
        </p:txBody>
      </p:sp>
      <p:sp>
        <p:nvSpPr>
          <p:cNvPr id="7" name="Text 5"/>
          <p:cNvSpPr/>
          <p:nvPr/>
        </p:nvSpPr>
        <p:spPr>
          <a:xfrm>
            <a:off x="790218" y="3298031"/>
            <a:ext cx="6426637" cy="968693"/>
          </a:xfrm>
          <a:prstGeom prst="rect">
            <a:avLst/>
          </a:prstGeom>
          <a:noFill/>
          <a:ln/>
        </p:spPr>
        <p:txBody>
          <a:bodyPr wrap="square" lIns="0" tIns="0" rIns="0" bIns="0" rtlCol="0" anchor="t"/>
          <a:lstStyle/>
          <a:p>
            <a:pPr marL="0" indent="0" algn="l">
              <a:lnSpc>
                <a:spcPts val="2450"/>
              </a:lnSpc>
              <a:buNone/>
            </a:pPr>
            <a:r>
              <a:rPr lang="en-US" sz="1550" dirty="0">
                <a:solidFill>
                  <a:srgbClr val="C2C4B5"/>
                </a:solidFill>
                <a:latin typeface="Bitter" pitchFamily="34" charset="0"/>
                <a:ea typeface="Bitter" pitchFamily="34" charset="-122"/>
                <a:cs typeface="Bitter" pitchFamily="34" charset="-120"/>
              </a:rPr>
              <a:t>Labels follow the format </a:t>
            </a:r>
            <a:r>
              <a:rPr lang="en-US" sz="1550" dirty="0">
                <a:solidFill>
                  <a:srgbClr val="C2C4B5"/>
                </a:solidFill>
                <a:highlight>
                  <a:srgbClr val="292A2C"/>
                </a:highlight>
                <a:latin typeface="Consolas" pitchFamily="34" charset="0"/>
                <a:ea typeface="Consolas" pitchFamily="34" charset="-122"/>
                <a:cs typeface="Consolas" pitchFamily="34" charset="-120"/>
              </a:rPr>
              <a:t>key=value</a:t>
            </a:r>
            <a:r>
              <a:rPr lang="en-US" sz="1550" dirty="0">
                <a:solidFill>
                  <a:srgbClr val="C2C4B5"/>
                </a:solidFill>
                <a:latin typeface="Bitter" pitchFamily="34" charset="0"/>
                <a:ea typeface="Bitter" pitchFamily="34" charset="-122"/>
                <a:cs typeface="Bitter" pitchFamily="34" charset="-120"/>
              </a:rPr>
              <a:t> where both key and value are strings. Keys can include optional prefixes like </a:t>
            </a:r>
            <a:r>
              <a:rPr lang="en-US" sz="1550" dirty="0">
                <a:solidFill>
                  <a:srgbClr val="C2C4B5"/>
                </a:solidFill>
                <a:highlight>
                  <a:srgbClr val="292A2C"/>
                </a:highlight>
                <a:latin typeface="Consolas" pitchFamily="34" charset="0"/>
                <a:ea typeface="Consolas" pitchFamily="34" charset="-122"/>
                <a:cs typeface="Consolas" pitchFamily="34" charset="-120"/>
              </a:rPr>
              <a:t>node-role.kubernetes.io/worker</a:t>
            </a:r>
            <a:endParaRPr lang="en-US" sz="1550" dirty="0"/>
          </a:p>
        </p:txBody>
      </p:sp>
      <p:sp>
        <p:nvSpPr>
          <p:cNvPr id="8" name="Text 6"/>
          <p:cNvSpPr/>
          <p:nvPr/>
        </p:nvSpPr>
        <p:spPr>
          <a:xfrm>
            <a:off x="7413427" y="2414349"/>
            <a:ext cx="197525" cy="246936"/>
          </a:xfrm>
          <a:prstGeom prst="rect">
            <a:avLst/>
          </a:prstGeom>
          <a:noFill/>
          <a:ln/>
        </p:spPr>
        <p:txBody>
          <a:bodyPr wrap="none" lIns="0" tIns="0" rIns="0" bIns="0" rtlCol="0" anchor="t"/>
          <a:lstStyle/>
          <a:p>
            <a:pPr marL="0" indent="0" algn="l">
              <a:lnSpc>
                <a:spcPts val="2450"/>
              </a:lnSpc>
              <a:buNone/>
            </a:pPr>
            <a:r>
              <a:rPr lang="en-US" sz="1550" dirty="0">
                <a:solidFill>
                  <a:srgbClr val="C2C4B5"/>
                </a:solidFill>
                <a:latin typeface="Outfit Light" pitchFamily="34" charset="0"/>
                <a:ea typeface="Outfit Light" pitchFamily="34" charset="-122"/>
                <a:cs typeface="Outfit Light" pitchFamily="34" charset="-120"/>
              </a:rPr>
              <a:t>02</a:t>
            </a:r>
            <a:endParaRPr lang="en-US" sz="1550" dirty="0"/>
          </a:p>
        </p:txBody>
      </p:sp>
      <p:sp>
        <p:nvSpPr>
          <p:cNvPr id="9" name="Shape 7"/>
          <p:cNvSpPr/>
          <p:nvPr/>
        </p:nvSpPr>
        <p:spPr>
          <a:xfrm>
            <a:off x="7413427" y="2727127"/>
            <a:ext cx="6426756" cy="22860"/>
          </a:xfrm>
          <a:prstGeom prst="rect">
            <a:avLst/>
          </a:prstGeom>
          <a:solidFill>
            <a:srgbClr val="9FA582"/>
          </a:solidFill>
          <a:ln/>
        </p:spPr>
        <p:txBody>
          <a:bodyPr/>
          <a:lstStyle/>
          <a:p>
            <a:endParaRPr lang="en-IN"/>
          </a:p>
        </p:txBody>
      </p:sp>
      <p:sp>
        <p:nvSpPr>
          <p:cNvPr id="10" name="Text 8"/>
          <p:cNvSpPr/>
          <p:nvPr/>
        </p:nvSpPr>
        <p:spPr>
          <a:xfrm>
            <a:off x="7413427" y="2871549"/>
            <a:ext cx="2469475" cy="308610"/>
          </a:xfrm>
          <a:prstGeom prst="rect">
            <a:avLst/>
          </a:prstGeom>
          <a:noFill/>
          <a:ln/>
        </p:spPr>
        <p:txBody>
          <a:bodyPr wrap="none" lIns="0" tIns="0" rIns="0" bIns="0" rtlCol="0" anchor="t"/>
          <a:lstStyle/>
          <a:p>
            <a:pPr marL="0" indent="0" algn="l">
              <a:lnSpc>
                <a:spcPts val="2400"/>
              </a:lnSpc>
              <a:buNone/>
            </a:pPr>
            <a:r>
              <a:rPr lang="en-US" sz="1900" b="1" dirty="0">
                <a:solidFill>
                  <a:srgbClr val="C2C4B5"/>
                </a:solidFill>
                <a:latin typeface="Outfit Bold" pitchFamily="34" charset="0"/>
                <a:ea typeface="Outfit Bold" pitchFamily="34" charset="-122"/>
                <a:cs typeface="Outfit Bold" pitchFamily="34" charset="-120"/>
              </a:rPr>
              <a:t>Apply Labels</a:t>
            </a:r>
            <a:endParaRPr lang="en-US" sz="1900" dirty="0"/>
          </a:p>
        </p:txBody>
      </p:sp>
      <p:sp>
        <p:nvSpPr>
          <p:cNvPr id="11" name="Text 9"/>
          <p:cNvSpPr/>
          <p:nvPr/>
        </p:nvSpPr>
        <p:spPr>
          <a:xfrm>
            <a:off x="7413427" y="3298031"/>
            <a:ext cx="6426756" cy="638175"/>
          </a:xfrm>
          <a:prstGeom prst="rect">
            <a:avLst/>
          </a:prstGeom>
          <a:noFill/>
          <a:ln/>
        </p:spPr>
        <p:txBody>
          <a:bodyPr wrap="square" lIns="0" tIns="0" rIns="0" bIns="0" rtlCol="0" anchor="t"/>
          <a:lstStyle/>
          <a:p>
            <a:pPr marL="0" indent="0" algn="l">
              <a:lnSpc>
                <a:spcPts val="2450"/>
              </a:lnSpc>
              <a:buNone/>
            </a:pPr>
            <a:r>
              <a:rPr lang="en-US" sz="1550" dirty="0">
                <a:solidFill>
                  <a:srgbClr val="C2C4B5"/>
                </a:solidFill>
                <a:latin typeface="Bitter" pitchFamily="34" charset="0"/>
                <a:ea typeface="Bitter" pitchFamily="34" charset="-122"/>
                <a:cs typeface="Bitter" pitchFamily="34" charset="-120"/>
              </a:rPr>
              <a:t>Use </a:t>
            </a:r>
            <a:r>
              <a:rPr lang="en-US" sz="1550" dirty="0">
                <a:solidFill>
                  <a:srgbClr val="C2C4B5"/>
                </a:solidFill>
                <a:highlight>
                  <a:srgbClr val="292A2C"/>
                </a:highlight>
                <a:latin typeface="Consolas" pitchFamily="34" charset="0"/>
                <a:ea typeface="Consolas" pitchFamily="34" charset="-122"/>
                <a:cs typeface="Consolas" pitchFamily="34" charset="-120"/>
              </a:rPr>
              <a:t>kubectl label nodes &lt;node-name&gt; &lt;key&gt;=&lt;value&gt;</a:t>
            </a:r>
            <a:r>
              <a:rPr lang="en-US" sz="1550" dirty="0">
                <a:solidFill>
                  <a:srgbClr val="C2C4B5"/>
                </a:solidFill>
                <a:latin typeface="Bitter" pitchFamily="34" charset="0"/>
                <a:ea typeface="Bitter" pitchFamily="34" charset="-122"/>
                <a:cs typeface="Bitter" pitchFamily="34" charset="-120"/>
              </a:rPr>
              <a:t> to add labels to existing nodes. Can also label nodes during cluster creation</a:t>
            </a:r>
            <a:endParaRPr lang="en-US" sz="1550" dirty="0"/>
          </a:p>
        </p:txBody>
      </p:sp>
      <p:sp>
        <p:nvSpPr>
          <p:cNvPr id="12" name="Text 10"/>
          <p:cNvSpPr/>
          <p:nvPr/>
        </p:nvSpPr>
        <p:spPr>
          <a:xfrm>
            <a:off x="790218" y="4611410"/>
            <a:ext cx="197525" cy="246936"/>
          </a:xfrm>
          <a:prstGeom prst="rect">
            <a:avLst/>
          </a:prstGeom>
          <a:noFill/>
          <a:ln/>
        </p:spPr>
        <p:txBody>
          <a:bodyPr wrap="none" lIns="0" tIns="0" rIns="0" bIns="0" rtlCol="0" anchor="t"/>
          <a:lstStyle/>
          <a:p>
            <a:pPr marL="0" indent="0" algn="l">
              <a:lnSpc>
                <a:spcPts val="2450"/>
              </a:lnSpc>
              <a:buNone/>
            </a:pPr>
            <a:r>
              <a:rPr lang="en-US" sz="1550" dirty="0">
                <a:solidFill>
                  <a:srgbClr val="C2C4B5"/>
                </a:solidFill>
                <a:latin typeface="Outfit Light" pitchFamily="34" charset="0"/>
                <a:ea typeface="Outfit Light" pitchFamily="34" charset="-122"/>
                <a:cs typeface="Outfit Light" pitchFamily="34" charset="-120"/>
              </a:rPr>
              <a:t>03</a:t>
            </a:r>
            <a:endParaRPr lang="en-US" sz="1550" dirty="0"/>
          </a:p>
        </p:txBody>
      </p:sp>
      <p:sp>
        <p:nvSpPr>
          <p:cNvPr id="13" name="Shape 11"/>
          <p:cNvSpPr/>
          <p:nvPr/>
        </p:nvSpPr>
        <p:spPr>
          <a:xfrm>
            <a:off x="790218" y="4924187"/>
            <a:ext cx="6426637" cy="22860"/>
          </a:xfrm>
          <a:prstGeom prst="rect">
            <a:avLst/>
          </a:prstGeom>
          <a:solidFill>
            <a:srgbClr val="9FA582"/>
          </a:solidFill>
          <a:ln/>
        </p:spPr>
        <p:txBody>
          <a:bodyPr/>
          <a:lstStyle/>
          <a:p>
            <a:endParaRPr lang="en-IN"/>
          </a:p>
        </p:txBody>
      </p:sp>
      <p:sp>
        <p:nvSpPr>
          <p:cNvPr id="14" name="Text 12"/>
          <p:cNvSpPr/>
          <p:nvPr/>
        </p:nvSpPr>
        <p:spPr>
          <a:xfrm>
            <a:off x="790218" y="5068610"/>
            <a:ext cx="2469475" cy="308610"/>
          </a:xfrm>
          <a:prstGeom prst="rect">
            <a:avLst/>
          </a:prstGeom>
          <a:noFill/>
          <a:ln/>
        </p:spPr>
        <p:txBody>
          <a:bodyPr wrap="none" lIns="0" tIns="0" rIns="0" bIns="0" rtlCol="0" anchor="t"/>
          <a:lstStyle/>
          <a:p>
            <a:pPr marL="0" indent="0" algn="l">
              <a:lnSpc>
                <a:spcPts val="2400"/>
              </a:lnSpc>
              <a:buNone/>
            </a:pPr>
            <a:r>
              <a:rPr lang="en-US" sz="1900" b="1" dirty="0">
                <a:solidFill>
                  <a:srgbClr val="C2C4B5"/>
                </a:solidFill>
                <a:latin typeface="Outfit Bold" pitchFamily="34" charset="0"/>
                <a:ea typeface="Outfit Bold" pitchFamily="34" charset="-122"/>
                <a:cs typeface="Outfit Bold" pitchFamily="34" charset="-120"/>
              </a:rPr>
              <a:t>Verify Labels</a:t>
            </a:r>
            <a:endParaRPr lang="en-US" sz="1900" dirty="0"/>
          </a:p>
        </p:txBody>
      </p:sp>
      <p:sp>
        <p:nvSpPr>
          <p:cNvPr id="15" name="Text 13"/>
          <p:cNvSpPr/>
          <p:nvPr/>
        </p:nvSpPr>
        <p:spPr>
          <a:xfrm>
            <a:off x="790218" y="5495092"/>
            <a:ext cx="6426637" cy="645795"/>
          </a:xfrm>
          <a:prstGeom prst="rect">
            <a:avLst/>
          </a:prstGeom>
          <a:noFill/>
          <a:ln/>
        </p:spPr>
        <p:txBody>
          <a:bodyPr wrap="square" lIns="0" tIns="0" rIns="0" bIns="0" rtlCol="0" anchor="t"/>
          <a:lstStyle/>
          <a:p>
            <a:pPr marL="0" indent="0" algn="l">
              <a:lnSpc>
                <a:spcPts val="2450"/>
              </a:lnSpc>
              <a:buNone/>
            </a:pPr>
            <a:r>
              <a:rPr lang="en-US" sz="1550" dirty="0">
                <a:solidFill>
                  <a:srgbClr val="C2C4B5"/>
                </a:solidFill>
                <a:latin typeface="Bitter" pitchFamily="34" charset="0"/>
                <a:ea typeface="Bitter" pitchFamily="34" charset="-122"/>
                <a:cs typeface="Bitter" pitchFamily="34" charset="-120"/>
              </a:rPr>
              <a:t>Check node labels with </a:t>
            </a:r>
            <a:r>
              <a:rPr lang="en-US" sz="1550" dirty="0">
                <a:solidFill>
                  <a:srgbClr val="C2C4B5"/>
                </a:solidFill>
                <a:highlight>
                  <a:srgbClr val="292A2C"/>
                </a:highlight>
                <a:latin typeface="Consolas" pitchFamily="34" charset="0"/>
                <a:ea typeface="Consolas" pitchFamily="34" charset="-122"/>
                <a:cs typeface="Consolas" pitchFamily="34" charset="-120"/>
              </a:rPr>
              <a:t>kubectl get nodes --show-labels</a:t>
            </a:r>
            <a:r>
              <a:rPr lang="en-US" sz="1550" dirty="0">
                <a:solidFill>
                  <a:srgbClr val="C2C4B5"/>
                </a:solidFill>
                <a:latin typeface="Bitter" pitchFamily="34" charset="0"/>
                <a:ea typeface="Bitter" pitchFamily="34" charset="-122"/>
                <a:cs typeface="Bitter" pitchFamily="34" charset="-120"/>
              </a:rPr>
              <a:t> or </a:t>
            </a:r>
            <a:r>
              <a:rPr lang="en-US" sz="1550" dirty="0">
                <a:solidFill>
                  <a:srgbClr val="C2C4B5"/>
                </a:solidFill>
                <a:highlight>
                  <a:srgbClr val="292A2C"/>
                </a:highlight>
                <a:latin typeface="Consolas" pitchFamily="34" charset="0"/>
                <a:ea typeface="Consolas" pitchFamily="34" charset="-122"/>
                <a:cs typeface="Consolas" pitchFamily="34" charset="-120"/>
              </a:rPr>
              <a:t>kubectl describe node &lt;node-name&gt;</a:t>
            </a:r>
            <a:r>
              <a:rPr lang="en-US" sz="1550" dirty="0">
                <a:solidFill>
                  <a:srgbClr val="C2C4B5"/>
                </a:solidFill>
                <a:latin typeface="Bitter" pitchFamily="34" charset="0"/>
                <a:ea typeface="Bitter" pitchFamily="34" charset="-122"/>
                <a:cs typeface="Bitter" pitchFamily="34" charset="-120"/>
              </a:rPr>
              <a:t> for detailed information</a:t>
            </a:r>
            <a:endParaRPr lang="en-US" sz="1550" dirty="0"/>
          </a:p>
        </p:txBody>
      </p:sp>
      <p:sp>
        <p:nvSpPr>
          <p:cNvPr id="16" name="Text 14"/>
          <p:cNvSpPr/>
          <p:nvPr/>
        </p:nvSpPr>
        <p:spPr>
          <a:xfrm>
            <a:off x="7413427" y="4611410"/>
            <a:ext cx="197525" cy="246936"/>
          </a:xfrm>
          <a:prstGeom prst="rect">
            <a:avLst/>
          </a:prstGeom>
          <a:noFill/>
          <a:ln/>
        </p:spPr>
        <p:txBody>
          <a:bodyPr wrap="none" lIns="0" tIns="0" rIns="0" bIns="0" rtlCol="0" anchor="t"/>
          <a:lstStyle/>
          <a:p>
            <a:pPr marL="0" indent="0" algn="l">
              <a:lnSpc>
                <a:spcPts val="2450"/>
              </a:lnSpc>
              <a:buNone/>
            </a:pPr>
            <a:r>
              <a:rPr lang="en-US" sz="1550" dirty="0">
                <a:solidFill>
                  <a:srgbClr val="C2C4B5"/>
                </a:solidFill>
                <a:latin typeface="Outfit Light" pitchFamily="34" charset="0"/>
                <a:ea typeface="Outfit Light" pitchFamily="34" charset="-122"/>
                <a:cs typeface="Outfit Light" pitchFamily="34" charset="-120"/>
              </a:rPr>
              <a:t>04</a:t>
            </a:r>
            <a:endParaRPr lang="en-US" sz="1550" dirty="0"/>
          </a:p>
        </p:txBody>
      </p:sp>
      <p:sp>
        <p:nvSpPr>
          <p:cNvPr id="17" name="Shape 15"/>
          <p:cNvSpPr/>
          <p:nvPr/>
        </p:nvSpPr>
        <p:spPr>
          <a:xfrm>
            <a:off x="7413427" y="4924187"/>
            <a:ext cx="6426756" cy="22860"/>
          </a:xfrm>
          <a:prstGeom prst="rect">
            <a:avLst/>
          </a:prstGeom>
          <a:solidFill>
            <a:srgbClr val="9FA582"/>
          </a:solidFill>
          <a:ln/>
        </p:spPr>
        <p:txBody>
          <a:bodyPr/>
          <a:lstStyle/>
          <a:p>
            <a:endParaRPr lang="en-IN"/>
          </a:p>
        </p:txBody>
      </p:sp>
      <p:sp>
        <p:nvSpPr>
          <p:cNvPr id="18" name="Text 16"/>
          <p:cNvSpPr/>
          <p:nvPr/>
        </p:nvSpPr>
        <p:spPr>
          <a:xfrm>
            <a:off x="7413427" y="5068610"/>
            <a:ext cx="2469475" cy="308610"/>
          </a:xfrm>
          <a:prstGeom prst="rect">
            <a:avLst/>
          </a:prstGeom>
          <a:noFill/>
          <a:ln/>
        </p:spPr>
        <p:txBody>
          <a:bodyPr wrap="none" lIns="0" tIns="0" rIns="0" bIns="0" rtlCol="0" anchor="t"/>
          <a:lstStyle/>
          <a:p>
            <a:pPr marL="0" indent="0" algn="l">
              <a:lnSpc>
                <a:spcPts val="2400"/>
              </a:lnSpc>
              <a:buNone/>
            </a:pPr>
            <a:r>
              <a:rPr lang="en-US" sz="1900" b="1" dirty="0">
                <a:solidFill>
                  <a:srgbClr val="C2C4B5"/>
                </a:solidFill>
                <a:latin typeface="Outfit Bold" pitchFamily="34" charset="0"/>
                <a:ea typeface="Outfit Bold" pitchFamily="34" charset="-122"/>
                <a:cs typeface="Outfit Bold" pitchFamily="34" charset="-120"/>
              </a:rPr>
              <a:t>Remove Labels</a:t>
            </a:r>
            <a:endParaRPr lang="en-US" sz="1900" dirty="0"/>
          </a:p>
        </p:txBody>
      </p:sp>
      <p:sp>
        <p:nvSpPr>
          <p:cNvPr id="19" name="Text 17"/>
          <p:cNvSpPr/>
          <p:nvPr/>
        </p:nvSpPr>
        <p:spPr>
          <a:xfrm>
            <a:off x="7413427" y="5495092"/>
            <a:ext cx="6426756" cy="638175"/>
          </a:xfrm>
          <a:prstGeom prst="rect">
            <a:avLst/>
          </a:prstGeom>
          <a:noFill/>
          <a:ln/>
        </p:spPr>
        <p:txBody>
          <a:bodyPr wrap="square" lIns="0" tIns="0" rIns="0" bIns="0" rtlCol="0" anchor="t"/>
          <a:lstStyle/>
          <a:p>
            <a:pPr marL="0" indent="0" algn="l">
              <a:lnSpc>
                <a:spcPts val="2450"/>
              </a:lnSpc>
              <a:buNone/>
            </a:pPr>
            <a:r>
              <a:rPr lang="en-US" sz="1550" dirty="0">
                <a:solidFill>
                  <a:srgbClr val="C2C4B5"/>
                </a:solidFill>
                <a:latin typeface="Bitter" pitchFamily="34" charset="0"/>
                <a:ea typeface="Bitter" pitchFamily="34" charset="-122"/>
                <a:cs typeface="Bitter" pitchFamily="34" charset="-120"/>
              </a:rPr>
              <a:t>Remove labels using </a:t>
            </a:r>
            <a:r>
              <a:rPr lang="en-US" sz="1550" dirty="0">
                <a:solidFill>
                  <a:srgbClr val="C2C4B5"/>
                </a:solidFill>
                <a:highlight>
                  <a:srgbClr val="292A2C"/>
                </a:highlight>
                <a:latin typeface="Consolas" pitchFamily="34" charset="0"/>
                <a:ea typeface="Consolas" pitchFamily="34" charset="-122"/>
                <a:cs typeface="Consolas" pitchFamily="34" charset="-120"/>
              </a:rPr>
              <a:t>kubectl label nodes &lt;node-name&gt; &lt;key&gt;-</a:t>
            </a:r>
            <a:r>
              <a:rPr lang="en-US" sz="1550" dirty="0">
                <a:solidFill>
                  <a:srgbClr val="C2C4B5"/>
                </a:solidFill>
                <a:latin typeface="Bitter" pitchFamily="34" charset="0"/>
                <a:ea typeface="Bitter" pitchFamily="34" charset="-122"/>
                <a:cs typeface="Bitter" pitchFamily="34" charset="-120"/>
              </a:rPr>
              <a:t> (note the minus sign at the end of the key)</a:t>
            </a:r>
            <a:endParaRPr lang="en-US" sz="1550" dirty="0"/>
          </a:p>
        </p:txBody>
      </p:sp>
      <p:sp>
        <p:nvSpPr>
          <p:cNvPr id="20" name="Shape 18"/>
          <p:cNvSpPr/>
          <p:nvPr/>
        </p:nvSpPr>
        <p:spPr>
          <a:xfrm>
            <a:off x="790218" y="6510218"/>
            <a:ext cx="13049964" cy="1167289"/>
          </a:xfrm>
          <a:prstGeom prst="roundRect">
            <a:avLst>
              <a:gd name="adj" fmla="val 2539"/>
            </a:avLst>
          </a:prstGeom>
          <a:solidFill>
            <a:srgbClr val="2A2C20"/>
          </a:solidFill>
          <a:ln/>
        </p:spPr>
        <p:txBody>
          <a:bodyPr/>
          <a:lstStyle/>
          <a:p>
            <a:endParaRPr lang="en-IN"/>
          </a:p>
        </p:txBody>
      </p:sp>
      <p:pic>
        <p:nvPicPr>
          <p:cNvPr id="21" name="Image 0" descr="preencoded.png"/>
          <p:cNvPicPr>
            <a:picLocks noChangeAspect="1"/>
          </p:cNvPicPr>
          <p:nvPr/>
        </p:nvPicPr>
        <p:blipFill>
          <a:blip r:embed="rId3"/>
          <a:stretch>
            <a:fillRect/>
          </a:stretch>
        </p:blipFill>
        <p:spPr>
          <a:xfrm>
            <a:off x="987742" y="6805136"/>
            <a:ext cx="246936" cy="197525"/>
          </a:xfrm>
          <a:prstGeom prst="rect">
            <a:avLst/>
          </a:prstGeom>
        </p:spPr>
      </p:pic>
      <p:sp>
        <p:nvSpPr>
          <p:cNvPr id="22" name="Text 19"/>
          <p:cNvSpPr/>
          <p:nvPr/>
        </p:nvSpPr>
        <p:spPr>
          <a:xfrm>
            <a:off x="1432203" y="6756083"/>
            <a:ext cx="12210455" cy="645795"/>
          </a:xfrm>
          <a:prstGeom prst="rect">
            <a:avLst/>
          </a:prstGeom>
          <a:noFill/>
          <a:ln/>
        </p:spPr>
        <p:txBody>
          <a:bodyPr wrap="square" lIns="0" tIns="0" rIns="0" bIns="0" rtlCol="0" anchor="t"/>
          <a:lstStyle/>
          <a:p>
            <a:pPr marL="0" indent="0" algn="l">
              <a:lnSpc>
                <a:spcPts val="2450"/>
              </a:lnSpc>
              <a:buNone/>
            </a:pPr>
            <a:r>
              <a:rPr lang="en-US" sz="1550" b="1" dirty="0">
                <a:solidFill>
                  <a:srgbClr val="FFFFFF"/>
                </a:solidFill>
                <a:latin typeface="Bitter" pitchFamily="34" charset="0"/>
                <a:ea typeface="Bitter" pitchFamily="34" charset="-122"/>
                <a:cs typeface="Bitter" pitchFamily="34" charset="-120"/>
              </a:rPr>
              <a:t>Best Practice:</a:t>
            </a:r>
            <a:r>
              <a:rPr lang="en-US" sz="1550" dirty="0">
                <a:solidFill>
                  <a:srgbClr val="FFFFFF"/>
                </a:solidFill>
                <a:latin typeface="Bitter" pitchFamily="34" charset="0"/>
                <a:ea typeface="Bitter" pitchFamily="34" charset="-122"/>
                <a:cs typeface="Bitter" pitchFamily="34" charset="-120"/>
              </a:rPr>
              <a:t> Use descriptive, consistent label keys across your cluster. Common patterns include </a:t>
            </a:r>
            <a:r>
              <a:rPr lang="en-US" sz="1550" dirty="0">
                <a:solidFill>
                  <a:srgbClr val="FFFFFF"/>
                </a:solidFill>
                <a:highlight>
                  <a:srgbClr val="292A2C"/>
                </a:highlight>
                <a:latin typeface="Consolas" pitchFamily="34" charset="0"/>
                <a:ea typeface="Consolas" pitchFamily="34" charset="-122"/>
                <a:cs typeface="Consolas" pitchFamily="34" charset="-120"/>
              </a:rPr>
              <a:t>node-role.kubernetes.io/&lt;role&gt;</a:t>
            </a:r>
            <a:r>
              <a:rPr lang="en-US" sz="1550" dirty="0">
                <a:solidFill>
                  <a:srgbClr val="FFFFFF"/>
                </a:solidFill>
                <a:latin typeface="Bitter" pitchFamily="34" charset="0"/>
                <a:ea typeface="Bitter" pitchFamily="34" charset="-122"/>
                <a:cs typeface="Bitter" pitchFamily="34" charset="-120"/>
              </a:rPr>
              <a:t>, </a:t>
            </a:r>
            <a:r>
              <a:rPr lang="en-US" sz="1550" dirty="0">
                <a:solidFill>
                  <a:srgbClr val="FFFFFF"/>
                </a:solidFill>
                <a:highlight>
                  <a:srgbClr val="292A2C"/>
                </a:highlight>
                <a:latin typeface="Consolas" pitchFamily="34" charset="0"/>
                <a:ea typeface="Consolas" pitchFamily="34" charset="-122"/>
                <a:cs typeface="Consolas" pitchFamily="34" charset="-120"/>
              </a:rPr>
              <a:t>topology.kubernetes.io/region</a:t>
            </a:r>
            <a:r>
              <a:rPr lang="en-US" sz="1550" dirty="0">
                <a:solidFill>
                  <a:srgbClr val="FFFFFF"/>
                </a:solidFill>
                <a:latin typeface="Bitter" pitchFamily="34" charset="0"/>
                <a:ea typeface="Bitter" pitchFamily="34" charset="-122"/>
                <a:cs typeface="Bitter" pitchFamily="34" charset="-120"/>
              </a:rPr>
              <a:t>, or custom keys like </a:t>
            </a:r>
            <a:r>
              <a:rPr lang="en-US" sz="1550" dirty="0">
                <a:solidFill>
                  <a:srgbClr val="FFFFFF"/>
                </a:solidFill>
                <a:highlight>
                  <a:srgbClr val="292A2C"/>
                </a:highlight>
                <a:latin typeface="Consolas" pitchFamily="34" charset="0"/>
                <a:ea typeface="Consolas" pitchFamily="34" charset="-122"/>
                <a:cs typeface="Consolas" pitchFamily="34" charset="-120"/>
              </a:rPr>
              <a:t>hardware-type=high-memory</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33914"/>
            <a:ext cx="3968591" cy="465177"/>
          </a:xfrm>
          <a:prstGeom prst="rect">
            <a:avLst/>
          </a:prstGeom>
          <a:noFill/>
          <a:ln/>
        </p:spPr>
        <p:txBody>
          <a:bodyPr wrap="none" lIns="0" tIns="0" rIns="0" bIns="0" rtlCol="0" anchor="t"/>
          <a:lstStyle/>
          <a:p>
            <a:pPr marL="0" indent="0" algn="l">
              <a:lnSpc>
                <a:spcPts val="3650"/>
              </a:lnSpc>
              <a:buNone/>
            </a:pPr>
            <a:r>
              <a:rPr lang="en-US" sz="2900" b="1" dirty="0">
                <a:solidFill>
                  <a:srgbClr val="E1E5CD"/>
                </a:solidFill>
                <a:latin typeface="Outfit Bold" pitchFamily="34" charset="0"/>
                <a:ea typeface="Outfit Bold" pitchFamily="34" charset="-122"/>
                <a:cs typeface="Outfit Bold" pitchFamily="34" charset="-120"/>
              </a:rPr>
              <a:t>Node Selector in Action</a:t>
            </a:r>
            <a:endParaRPr lang="en-US" sz="2900" dirty="0"/>
          </a:p>
        </p:txBody>
      </p:sp>
      <p:sp>
        <p:nvSpPr>
          <p:cNvPr id="3" name="Text 1"/>
          <p:cNvSpPr/>
          <p:nvPr/>
        </p:nvSpPr>
        <p:spPr>
          <a:xfrm>
            <a:off x="793790" y="1566863"/>
            <a:ext cx="7680365" cy="424339"/>
          </a:xfrm>
          <a:prstGeom prst="rect">
            <a:avLst/>
          </a:prstGeom>
          <a:noFill/>
          <a:ln/>
        </p:spPr>
        <p:txBody>
          <a:bodyPr wrap="square" lIns="0" tIns="0" rIns="0" bIns="0" rtlCol="0" anchor="t"/>
          <a:lstStyle/>
          <a:p>
            <a:pPr marL="0" indent="0" algn="l">
              <a:lnSpc>
                <a:spcPts val="1600"/>
              </a:lnSpc>
              <a:buNone/>
            </a:pPr>
            <a:r>
              <a:rPr lang="en-US" sz="1150" dirty="0">
                <a:solidFill>
                  <a:srgbClr val="C2C4B5"/>
                </a:solidFill>
                <a:latin typeface="Bitter" pitchFamily="34" charset="0"/>
                <a:ea typeface="Bitter" pitchFamily="34" charset="-122"/>
                <a:cs typeface="Bitter" pitchFamily="34" charset="-120"/>
              </a:rPr>
              <a:t>Here's a complete YAML example showing how to define node selectors in a Pod specification. The pod will only schedule onto nodes that have BOTH </a:t>
            </a:r>
            <a:r>
              <a:rPr lang="en-US" sz="1150" dirty="0">
                <a:solidFill>
                  <a:srgbClr val="C2C4B5"/>
                </a:solidFill>
                <a:highlight>
                  <a:srgbClr val="292A2C"/>
                </a:highlight>
                <a:latin typeface="Consolas" pitchFamily="34" charset="0"/>
                <a:ea typeface="Consolas" pitchFamily="34" charset="-122"/>
                <a:cs typeface="Consolas" pitchFamily="34" charset="-120"/>
              </a:rPr>
              <a:t>disk-type=ssd</a:t>
            </a:r>
            <a:r>
              <a:rPr lang="en-US" sz="1150" dirty="0">
                <a:solidFill>
                  <a:srgbClr val="C2C4B5"/>
                </a:solidFill>
                <a:latin typeface="Bitter" pitchFamily="34" charset="0"/>
                <a:ea typeface="Bitter" pitchFamily="34" charset="-122"/>
                <a:cs typeface="Bitter" pitchFamily="34" charset="-120"/>
              </a:rPr>
              <a:t> AND </a:t>
            </a:r>
            <a:r>
              <a:rPr lang="en-US" sz="1150" dirty="0">
                <a:solidFill>
                  <a:srgbClr val="C2C4B5"/>
                </a:solidFill>
                <a:highlight>
                  <a:srgbClr val="292A2C"/>
                </a:highlight>
                <a:latin typeface="Consolas" pitchFamily="34" charset="0"/>
                <a:ea typeface="Consolas" pitchFamily="34" charset="-122"/>
                <a:cs typeface="Consolas" pitchFamily="34" charset="-120"/>
              </a:rPr>
              <a:t>node-role.kubernetes.io/worker=true</a:t>
            </a:r>
            <a:r>
              <a:rPr lang="en-US" sz="1150" dirty="0">
                <a:solidFill>
                  <a:srgbClr val="C2C4B5"/>
                </a:solidFill>
                <a:latin typeface="Bitter" pitchFamily="34" charset="0"/>
                <a:ea typeface="Bitter" pitchFamily="34" charset="-122"/>
                <a:cs typeface="Bitter" pitchFamily="34" charset="-120"/>
              </a:rPr>
              <a:t> labels.</a:t>
            </a:r>
            <a:endParaRPr lang="en-US" sz="1150" dirty="0"/>
          </a:p>
        </p:txBody>
      </p:sp>
      <p:sp>
        <p:nvSpPr>
          <p:cNvPr id="4" name="Shape 2"/>
          <p:cNvSpPr/>
          <p:nvPr/>
        </p:nvSpPr>
        <p:spPr>
          <a:xfrm>
            <a:off x="793790" y="2116693"/>
            <a:ext cx="7680365" cy="3839766"/>
          </a:xfrm>
          <a:prstGeom prst="roundRect">
            <a:avLst>
              <a:gd name="adj" fmla="val 582"/>
            </a:avLst>
          </a:prstGeom>
          <a:solidFill>
            <a:srgbClr val="292A2C"/>
          </a:solidFill>
          <a:ln/>
        </p:spPr>
        <p:txBody>
          <a:bodyPr/>
          <a:lstStyle/>
          <a:p>
            <a:endParaRPr lang="en-IN"/>
          </a:p>
        </p:txBody>
      </p:sp>
      <p:sp>
        <p:nvSpPr>
          <p:cNvPr id="5" name="Shape 3"/>
          <p:cNvSpPr/>
          <p:nvPr/>
        </p:nvSpPr>
        <p:spPr>
          <a:xfrm>
            <a:off x="786408" y="2116693"/>
            <a:ext cx="7695128" cy="3839766"/>
          </a:xfrm>
          <a:prstGeom prst="roundRect">
            <a:avLst>
              <a:gd name="adj" fmla="val 582"/>
            </a:avLst>
          </a:prstGeom>
          <a:solidFill>
            <a:srgbClr val="292A2C"/>
          </a:solidFill>
          <a:ln/>
        </p:spPr>
        <p:txBody>
          <a:bodyPr/>
          <a:lstStyle/>
          <a:p>
            <a:endParaRPr lang="en-IN"/>
          </a:p>
        </p:txBody>
      </p:sp>
      <p:sp>
        <p:nvSpPr>
          <p:cNvPr id="6" name="Text 4"/>
          <p:cNvSpPr/>
          <p:nvPr/>
        </p:nvSpPr>
        <p:spPr>
          <a:xfrm>
            <a:off x="972383" y="2265521"/>
            <a:ext cx="7323177" cy="3542109"/>
          </a:xfrm>
          <a:prstGeom prst="rect">
            <a:avLst/>
          </a:prstGeom>
          <a:noFill/>
          <a:ln/>
        </p:spPr>
        <p:txBody>
          <a:bodyPr wrap="square" lIns="0" tIns="0" rIns="0" bIns="0" rtlCol="0" anchor="t"/>
          <a:lstStyle/>
          <a:p>
            <a:pPr marL="0" indent="0" algn="l">
              <a:lnSpc>
                <a:spcPts val="1600"/>
              </a:lnSpc>
              <a:buNone/>
            </a:pPr>
            <a:r>
              <a:rPr lang="en-US" sz="1150" dirty="0">
                <a:solidFill>
                  <a:srgbClr val="79C0FF"/>
                </a:solidFill>
                <a:highlight>
                  <a:srgbClr val="292A2C"/>
                </a:highlight>
                <a:latin typeface="Consolas" pitchFamily="34" charset="0"/>
                <a:ea typeface="Consolas" pitchFamily="34" charset="-122"/>
                <a:cs typeface="Consolas" pitchFamily="34" charset="-120"/>
              </a:rPr>
              <a:t>apiVersion: v1
kind: Pod
metadata:
  name: nginx-pod
  labels:
    app: nginx
spec:
  containers:
  - name: nginx
    image: nginx:1.21
    ports:
    - containerPort: 80
  nodeSelector:
    disk-type: ssd
    node-role.kubernetes.io/worker: "true"
    hardware-type: high-cpu
</a:t>
            </a:r>
            <a:endParaRPr lang="en-US" sz="1150" dirty="0"/>
          </a:p>
        </p:txBody>
      </p:sp>
      <p:sp>
        <p:nvSpPr>
          <p:cNvPr id="7" name="Text 5"/>
          <p:cNvSpPr/>
          <p:nvPr/>
        </p:nvSpPr>
        <p:spPr>
          <a:xfrm>
            <a:off x="793790" y="6081951"/>
            <a:ext cx="7680365" cy="208359"/>
          </a:xfrm>
          <a:prstGeom prst="rect">
            <a:avLst/>
          </a:prstGeom>
          <a:noFill/>
          <a:ln/>
        </p:spPr>
        <p:txBody>
          <a:bodyPr wrap="none" lIns="0" tIns="0" rIns="0" bIns="0" rtlCol="0" anchor="t"/>
          <a:lstStyle/>
          <a:p>
            <a:pPr marL="0" indent="0" algn="l">
              <a:lnSpc>
                <a:spcPts val="1600"/>
              </a:lnSpc>
              <a:buNone/>
            </a:pPr>
            <a:r>
              <a:rPr lang="en-US" sz="1150" b="1" dirty="0">
                <a:solidFill>
                  <a:srgbClr val="C2C4B5"/>
                </a:solidFill>
                <a:latin typeface="Bitter" pitchFamily="34" charset="0"/>
                <a:ea typeface="Bitter" pitchFamily="34" charset="-122"/>
                <a:cs typeface="Bitter" pitchFamily="34" charset="-120"/>
              </a:rPr>
              <a:t>Important notes:</a:t>
            </a:r>
            <a:endParaRPr lang="en-US" sz="1150" dirty="0"/>
          </a:p>
        </p:txBody>
      </p:sp>
      <p:sp>
        <p:nvSpPr>
          <p:cNvPr id="8" name="Text 6"/>
          <p:cNvSpPr/>
          <p:nvPr/>
        </p:nvSpPr>
        <p:spPr>
          <a:xfrm>
            <a:off x="793790" y="6390680"/>
            <a:ext cx="7680365" cy="965835"/>
          </a:xfrm>
          <a:prstGeom prst="rect">
            <a:avLst/>
          </a:prstGeom>
          <a:noFill/>
          <a:ln/>
        </p:spPr>
        <p:txBody>
          <a:bodyPr wrap="square" lIns="0" tIns="0" rIns="0" bIns="0" rtlCol="0" anchor="t"/>
          <a:lstStyle/>
          <a:p>
            <a:pPr marL="342900" indent="-342900" algn="l">
              <a:lnSpc>
                <a:spcPts val="1600"/>
              </a:lnSpc>
              <a:buSzPct val="100000"/>
              <a:buChar char="•"/>
            </a:pPr>
            <a:r>
              <a:rPr lang="en-US" sz="1150" dirty="0">
                <a:solidFill>
                  <a:srgbClr val="C2C4B5"/>
                </a:solidFill>
                <a:latin typeface="Bitter" pitchFamily="34" charset="0"/>
                <a:ea typeface="Bitter" pitchFamily="34" charset="-122"/>
                <a:cs typeface="Bitter" pitchFamily="34" charset="-120"/>
              </a:rPr>
              <a:t>All selector requirements must be satisfied (logical AND)</a:t>
            </a:r>
            <a:endParaRPr lang="en-US" sz="1150" dirty="0"/>
          </a:p>
          <a:p>
            <a:pPr marL="342900" indent="-342900" algn="l">
              <a:lnSpc>
                <a:spcPts val="1600"/>
              </a:lnSpc>
              <a:buSzPct val="100000"/>
              <a:buChar char="•"/>
            </a:pPr>
            <a:r>
              <a:rPr lang="en-US" sz="1150" dirty="0">
                <a:solidFill>
                  <a:srgbClr val="C2C4B5"/>
                </a:solidFill>
                <a:latin typeface="Bitter" pitchFamily="34" charset="0"/>
                <a:ea typeface="Bitter" pitchFamily="34" charset="-122"/>
                <a:cs typeface="Bitter" pitchFamily="34" charset="-120"/>
              </a:rPr>
              <a:t>Label values are strings—quote boolean values like </a:t>
            </a:r>
            <a:r>
              <a:rPr lang="en-US" sz="1150" dirty="0">
                <a:solidFill>
                  <a:srgbClr val="C2C4B5"/>
                </a:solidFill>
                <a:highlight>
                  <a:srgbClr val="292A2C"/>
                </a:highlight>
                <a:latin typeface="Consolas" pitchFamily="34" charset="0"/>
                <a:ea typeface="Consolas" pitchFamily="34" charset="-122"/>
                <a:cs typeface="Consolas" pitchFamily="34" charset="-120"/>
              </a:rPr>
              <a:t>"true"</a:t>
            </a:r>
            <a:endParaRPr lang="en-US" sz="1150" dirty="0"/>
          </a:p>
          <a:p>
            <a:pPr marL="342900" indent="-342900" algn="l">
              <a:lnSpc>
                <a:spcPts val="1600"/>
              </a:lnSpc>
              <a:buSzPct val="100000"/>
              <a:buChar char="•"/>
            </a:pPr>
            <a:r>
              <a:rPr lang="en-US" sz="1150" dirty="0">
                <a:solidFill>
                  <a:srgbClr val="C2C4B5"/>
                </a:solidFill>
                <a:latin typeface="Bitter" pitchFamily="34" charset="0"/>
                <a:ea typeface="Bitter" pitchFamily="34" charset="-122"/>
                <a:cs typeface="Bitter" pitchFamily="34" charset="-120"/>
              </a:rPr>
              <a:t>Case-sensitive matching</a:t>
            </a:r>
            <a:endParaRPr lang="en-US" sz="1150" dirty="0"/>
          </a:p>
          <a:p>
            <a:pPr marL="342900" indent="-342900" algn="l">
              <a:lnSpc>
                <a:spcPts val="1600"/>
              </a:lnSpc>
              <a:buSzPct val="100000"/>
              <a:buChar char="•"/>
            </a:pPr>
            <a:r>
              <a:rPr lang="en-US" sz="1150" dirty="0">
                <a:solidFill>
                  <a:srgbClr val="C2C4B5"/>
                </a:solidFill>
                <a:latin typeface="Bitter" pitchFamily="34" charset="0"/>
                <a:ea typeface="Bitter" pitchFamily="34" charset="-122"/>
                <a:cs typeface="Bitter" pitchFamily="34" charset="-120"/>
              </a:rPr>
              <a:t>Use </a:t>
            </a:r>
            <a:r>
              <a:rPr lang="en-US" sz="1150" dirty="0">
                <a:solidFill>
                  <a:srgbClr val="C2C4B5"/>
                </a:solidFill>
                <a:highlight>
                  <a:srgbClr val="292A2C"/>
                </a:highlight>
                <a:latin typeface="Consolas" pitchFamily="34" charset="0"/>
                <a:ea typeface="Consolas" pitchFamily="34" charset="-122"/>
                <a:cs typeface="Consolas" pitchFamily="34" charset="-120"/>
              </a:rPr>
              <a:t>kubectl apply -f pod.yaml</a:t>
            </a:r>
            <a:r>
              <a:rPr lang="en-US" sz="1150" dirty="0">
                <a:solidFill>
                  <a:srgbClr val="C2C4B5"/>
                </a:solidFill>
                <a:latin typeface="Bitter" pitchFamily="34" charset="0"/>
                <a:ea typeface="Bitter" pitchFamily="34" charset="-122"/>
                <a:cs typeface="Bitter" pitchFamily="34" charset="-120"/>
              </a:rPr>
              <a:t> to create the pod</a:t>
            </a:r>
            <a:endParaRPr lang="en-US" sz="1150" dirty="0"/>
          </a:p>
        </p:txBody>
      </p:sp>
      <p:sp>
        <p:nvSpPr>
          <p:cNvPr id="9" name="Text 7"/>
          <p:cNvSpPr/>
          <p:nvPr/>
        </p:nvSpPr>
        <p:spPr>
          <a:xfrm>
            <a:off x="8844915" y="1578054"/>
            <a:ext cx="2147649" cy="232529"/>
          </a:xfrm>
          <a:prstGeom prst="rect">
            <a:avLst/>
          </a:prstGeom>
          <a:noFill/>
          <a:ln/>
        </p:spPr>
        <p:txBody>
          <a:bodyPr wrap="none" lIns="0" tIns="0" rIns="0" bIns="0" rtlCol="0" anchor="t"/>
          <a:lstStyle/>
          <a:p>
            <a:pPr marL="0" indent="0" algn="l">
              <a:lnSpc>
                <a:spcPts val="1800"/>
              </a:lnSpc>
              <a:buNone/>
            </a:pPr>
            <a:r>
              <a:rPr lang="en-US" sz="1450" b="1" dirty="0">
                <a:solidFill>
                  <a:srgbClr val="E1E5CD"/>
                </a:solidFill>
                <a:latin typeface="Outfit Bold" pitchFamily="34" charset="0"/>
                <a:ea typeface="Outfit Bold" pitchFamily="34" charset="-122"/>
                <a:cs typeface="Outfit Bold" pitchFamily="34" charset="-120"/>
              </a:rPr>
              <a:t>Common Label Examples</a:t>
            </a:r>
            <a:endParaRPr lang="en-US" sz="1450" dirty="0"/>
          </a:p>
        </p:txBody>
      </p:sp>
      <p:sp>
        <p:nvSpPr>
          <p:cNvPr id="10" name="Text 8"/>
          <p:cNvSpPr/>
          <p:nvPr/>
        </p:nvSpPr>
        <p:spPr>
          <a:xfrm>
            <a:off x="8844915" y="1922145"/>
            <a:ext cx="4999196" cy="2001203"/>
          </a:xfrm>
          <a:prstGeom prst="rect">
            <a:avLst/>
          </a:prstGeom>
          <a:noFill/>
          <a:ln/>
        </p:spPr>
        <p:txBody>
          <a:bodyPr wrap="square" lIns="0" tIns="0" rIns="0" bIns="0" rtlCol="0" anchor="t"/>
          <a:lstStyle/>
          <a:p>
            <a:pPr marL="342900" indent="-342900" algn="l">
              <a:lnSpc>
                <a:spcPts val="1600"/>
              </a:lnSpc>
              <a:buSzPct val="100000"/>
              <a:buChar char="•"/>
            </a:pPr>
            <a:r>
              <a:rPr lang="en-US" sz="1150" dirty="0">
                <a:solidFill>
                  <a:srgbClr val="C2C4B5"/>
                </a:solidFill>
                <a:highlight>
                  <a:srgbClr val="292A2C"/>
                </a:highlight>
                <a:latin typeface="Consolas" pitchFamily="34" charset="0"/>
                <a:ea typeface="Consolas" pitchFamily="34" charset="-122"/>
                <a:cs typeface="Consolas" pitchFamily="34" charset="-120"/>
              </a:rPr>
              <a:t>disk-type=ssd</a:t>
            </a:r>
            <a:endParaRPr lang="en-US" sz="1150" dirty="0"/>
          </a:p>
          <a:p>
            <a:pPr marL="342900" indent="-342900" algn="l">
              <a:lnSpc>
                <a:spcPts val="1600"/>
              </a:lnSpc>
              <a:buSzPct val="100000"/>
              <a:buChar char="•"/>
            </a:pPr>
            <a:r>
              <a:rPr lang="en-US" sz="1150" dirty="0">
                <a:solidFill>
                  <a:srgbClr val="C2C4B5"/>
                </a:solidFill>
                <a:highlight>
                  <a:srgbClr val="292A2C"/>
                </a:highlight>
                <a:latin typeface="Consolas" pitchFamily="34" charset="0"/>
                <a:ea typeface="Consolas" pitchFamily="34" charset="-122"/>
                <a:cs typeface="Consolas" pitchFamily="34" charset="-120"/>
              </a:rPr>
              <a:t>disk-type=hdd</a:t>
            </a:r>
            <a:endParaRPr lang="en-US" sz="1150" dirty="0"/>
          </a:p>
          <a:p>
            <a:pPr marL="342900" indent="-342900" algn="l">
              <a:lnSpc>
                <a:spcPts val="1600"/>
              </a:lnSpc>
              <a:buSzPct val="100000"/>
              <a:buChar char="•"/>
            </a:pPr>
            <a:r>
              <a:rPr lang="en-US" sz="1150" dirty="0">
                <a:solidFill>
                  <a:srgbClr val="C2C4B5"/>
                </a:solidFill>
                <a:highlight>
                  <a:srgbClr val="292A2C"/>
                </a:highlight>
                <a:latin typeface="Consolas" pitchFamily="34" charset="0"/>
                <a:ea typeface="Consolas" pitchFamily="34" charset="-122"/>
                <a:cs typeface="Consolas" pitchFamily="34" charset="-120"/>
              </a:rPr>
              <a:t>hardware-type=high-memory</a:t>
            </a:r>
            <a:endParaRPr lang="en-US" sz="1150" dirty="0"/>
          </a:p>
          <a:p>
            <a:pPr marL="342900" indent="-342900" algn="l">
              <a:lnSpc>
                <a:spcPts val="1600"/>
              </a:lnSpc>
              <a:buSzPct val="100000"/>
              <a:buChar char="•"/>
            </a:pPr>
            <a:r>
              <a:rPr lang="en-US" sz="1150" dirty="0">
                <a:solidFill>
                  <a:srgbClr val="C2C4B5"/>
                </a:solidFill>
                <a:highlight>
                  <a:srgbClr val="292A2C"/>
                </a:highlight>
                <a:latin typeface="Consolas" pitchFamily="34" charset="0"/>
                <a:ea typeface="Consolas" pitchFamily="34" charset="-122"/>
                <a:cs typeface="Consolas" pitchFamily="34" charset="-120"/>
              </a:rPr>
              <a:t>hardware-type=high-cpu</a:t>
            </a:r>
            <a:endParaRPr lang="en-US" sz="1150" dirty="0"/>
          </a:p>
          <a:p>
            <a:pPr marL="342900" indent="-342900" algn="l">
              <a:lnSpc>
                <a:spcPts val="1600"/>
              </a:lnSpc>
              <a:buSzPct val="100000"/>
              <a:buChar char="•"/>
            </a:pPr>
            <a:r>
              <a:rPr lang="en-US" sz="1150" dirty="0">
                <a:solidFill>
                  <a:srgbClr val="C2C4B5"/>
                </a:solidFill>
                <a:highlight>
                  <a:srgbClr val="292A2C"/>
                </a:highlight>
                <a:latin typeface="Consolas" pitchFamily="34" charset="0"/>
                <a:ea typeface="Consolas" pitchFamily="34" charset="-122"/>
                <a:cs typeface="Consolas" pitchFamily="34" charset="-120"/>
              </a:rPr>
              <a:t>topology.kubernetes.io/region=eu-west-1</a:t>
            </a:r>
            <a:endParaRPr lang="en-US" sz="1150" dirty="0"/>
          </a:p>
          <a:p>
            <a:pPr marL="342900" indent="-342900" algn="l">
              <a:lnSpc>
                <a:spcPts val="1600"/>
              </a:lnSpc>
              <a:buSzPct val="100000"/>
              <a:buChar char="•"/>
            </a:pPr>
            <a:r>
              <a:rPr lang="en-US" sz="1150" dirty="0">
                <a:solidFill>
                  <a:srgbClr val="C2C4B5"/>
                </a:solidFill>
                <a:highlight>
                  <a:srgbClr val="292A2C"/>
                </a:highlight>
                <a:latin typeface="Consolas" pitchFamily="34" charset="0"/>
                <a:ea typeface="Consolas" pitchFamily="34" charset="-122"/>
                <a:cs typeface="Consolas" pitchFamily="34" charset="-120"/>
              </a:rPr>
              <a:t>topology.kubernetes.io/zone=eu-west-1a</a:t>
            </a:r>
            <a:endParaRPr lang="en-US" sz="1150" dirty="0"/>
          </a:p>
          <a:p>
            <a:pPr marL="342900" indent="-342900" algn="l">
              <a:lnSpc>
                <a:spcPts val="1600"/>
              </a:lnSpc>
              <a:buSzPct val="100000"/>
              <a:buChar char="•"/>
            </a:pPr>
            <a:r>
              <a:rPr lang="en-US" sz="1150" dirty="0">
                <a:solidFill>
                  <a:srgbClr val="C2C4B5"/>
                </a:solidFill>
                <a:highlight>
                  <a:srgbClr val="292A2C"/>
                </a:highlight>
                <a:latin typeface="Consolas" pitchFamily="34" charset="0"/>
                <a:ea typeface="Consolas" pitchFamily="34" charset="-122"/>
                <a:cs typeface="Consolas" pitchFamily="34" charset="-120"/>
              </a:rPr>
              <a:t>node-role.kubernetes.io/worker=</a:t>
            </a:r>
            <a:r>
              <a:rPr lang="en-US" sz="1150" dirty="0">
                <a:solidFill>
                  <a:srgbClr val="C2C4B5"/>
                </a:solidFill>
                <a:latin typeface="Bitter" pitchFamily="34" charset="0"/>
                <a:ea typeface="Bitter" pitchFamily="34" charset="-122"/>
                <a:cs typeface="Bitter" pitchFamily="34" charset="-120"/>
              </a:rPr>
              <a:t>"true"</a:t>
            </a:r>
            <a:endParaRPr lang="en-US" sz="1150" dirty="0"/>
          </a:p>
          <a:p>
            <a:pPr marL="342900" indent="-342900" algn="l">
              <a:lnSpc>
                <a:spcPts val="1600"/>
              </a:lnSpc>
              <a:buSzPct val="100000"/>
              <a:buChar char="•"/>
            </a:pPr>
            <a:r>
              <a:rPr lang="en-US" sz="1150" dirty="0">
                <a:solidFill>
                  <a:srgbClr val="C2C4B5"/>
                </a:solidFill>
                <a:highlight>
                  <a:srgbClr val="292A2C"/>
                </a:highlight>
                <a:latin typeface="Consolas" pitchFamily="34" charset="0"/>
                <a:ea typeface="Consolas" pitchFamily="34" charset="-122"/>
                <a:cs typeface="Consolas" pitchFamily="34" charset="-120"/>
              </a:rPr>
              <a:t>node-role.kubernetes.io/control-plane=</a:t>
            </a:r>
            <a:r>
              <a:rPr lang="en-US" sz="1150" dirty="0">
                <a:solidFill>
                  <a:srgbClr val="C2C4B5"/>
                </a:solidFill>
                <a:latin typeface="Bitter" pitchFamily="34" charset="0"/>
                <a:ea typeface="Bitter" pitchFamily="34" charset="-122"/>
                <a:cs typeface="Bitter" pitchFamily="34" charset="-120"/>
              </a:rPr>
              <a:t>"true"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194197"/>
            <a:ext cx="5835134" cy="558165"/>
          </a:xfrm>
          <a:prstGeom prst="rect">
            <a:avLst/>
          </a:prstGeom>
          <a:noFill/>
          <a:ln/>
        </p:spPr>
        <p:txBody>
          <a:bodyPr wrap="none" lIns="0" tIns="0" rIns="0" bIns="0" rtlCol="0" anchor="t"/>
          <a:lstStyle/>
          <a:p>
            <a:pPr marL="0" indent="0" algn="l">
              <a:lnSpc>
                <a:spcPts val="4350"/>
              </a:lnSpc>
              <a:buNone/>
            </a:pPr>
            <a:r>
              <a:rPr lang="en-US" sz="3500" b="1" dirty="0">
                <a:solidFill>
                  <a:srgbClr val="E1E5CD"/>
                </a:solidFill>
                <a:latin typeface="Outfit Bold" pitchFamily="34" charset="0"/>
                <a:ea typeface="Outfit Bold" pitchFamily="34" charset="-122"/>
                <a:cs typeface="Outfit Bold" pitchFamily="34" charset="-120"/>
              </a:rPr>
              <a:t>Limitations of Node Selector</a:t>
            </a:r>
            <a:endParaRPr lang="en-US" sz="3500" dirty="0"/>
          </a:p>
        </p:txBody>
      </p:sp>
      <p:sp>
        <p:nvSpPr>
          <p:cNvPr id="3" name="Text 1"/>
          <p:cNvSpPr/>
          <p:nvPr/>
        </p:nvSpPr>
        <p:spPr>
          <a:xfrm>
            <a:off x="793790" y="2073831"/>
            <a:ext cx="13042821" cy="542925"/>
          </a:xfrm>
          <a:prstGeom prst="rect">
            <a:avLst/>
          </a:prstGeom>
          <a:noFill/>
          <a:ln/>
        </p:spPr>
        <p:txBody>
          <a:bodyPr wrap="square" lIns="0" tIns="0" rIns="0" bIns="0" rtlCol="0" anchor="t"/>
          <a:lstStyle/>
          <a:p>
            <a:pPr marL="0" indent="0" algn="l">
              <a:lnSpc>
                <a:spcPts val="2100"/>
              </a:lnSpc>
              <a:buNone/>
            </a:pPr>
            <a:r>
              <a:rPr lang="en-US" sz="1400" dirty="0">
                <a:solidFill>
                  <a:srgbClr val="C2C4B5"/>
                </a:solidFill>
                <a:latin typeface="Bitter" pitchFamily="34" charset="0"/>
                <a:ea typeface="Bitter" pitchFamily="34" charset="-122"/>
                <a:cs typeface="Bitter" pitchFamily="34" charset="-120"/>
              </a:rPr>
              <a:t>While node selectors are simple and effective for basic requirements, they have significant limitations that become apparent in complex scenarios. Understanding these limitations is crucial for CKA exam success and production workloads.</a:t>
            </a:r>
            <a:endParaRPr lang="en-US" sz="1400" dirty="0"/>
          </a:p>
        </p:txBody>
      </p:sp>
      <p:sp>
        <p:nvSpPr>
          <p:cNvPr id="4" name="Shape 2"/>
          <p:cNvSpPr/>
          <p:nvPr/>
        </p:nvSpPr>
        <p:spPr>
          <a:xfrm>
            <a:off x="793790" y="2797612"/>
            <a:ext cx="6441043" cy="1592699"/>
          </a:xfrm>
          <a:prstGeom prst="roundRect">
            <a:avLst>
              <a:gd name="adj" fmla="val 6889"/>
            </a:avLst>
          </a:prstGeom>
          <a:solidFill>
            <a:srgbClr val="1C1D1F"/>
          </a:solidFill>
          <a:ln w="22860">
            <a:solidFill>
              <a:srgbClr val="545557"/>
            </a:solidFill>
            <a:prstDash val="solid"/>
          </a:ln>
        </p:spPr>
        <p:txBody>
          <a:bodyPr/>
          <a:lstStyle/>
          <a:p>
            <a:endParaRPr lang="en-IN"/>
          </a:p>
        </p:txBody>
      </p:sp>
      <p:sp>
        <p:nvSpPr>
          <p:cNvPr id="5" name="Shape 3"/>
          <p:cNvSpPr/>
          <p:nvPr/>
        </p:nvSpPr>
        <p:spPr>
          <a:xfrm>
            <a:off x="770930" y="2797612"/>
            <a:ext cx="91440" cy="1592699"/>
          </a:xfrm>
          <a:prstGeom prst="roundRect">
            <a:avLst>
              <a:gd name="adj" fmla="val 29302"/>
            </a:avLst>
          </a:prstGeom>
          <a:solidFill>
            <a:srgbClr val="9FA582"/>
          </a:solidFill>
          <a:ln/>
        </p:spPr>
        <p:txBody>
          <a:bodyPr/>
          <a:lstStyle/>
          <a:p>
            <a:endParaRPr lang="en-IN"/>
          </a:p>
        </p:txBody>
      </p:sp>
      <p:sp>
        <p:nvSpPr>
          <p:cNvPr id="6" name="Text 4"/>
          <p:cNvSpPr/>
          <p:nvPr/>
        </p:nvSpPr>
        <p:spPr>
          <a:xfrm>
            <a:off x="1063823" y="2999065"/>
            <a:ext cx="2232779" cy="278963"/>
          </a:xfrm>
          <a:prstGeom prst="rect">
            <a:avLst/>
          </a:prstGeom>
          <a:noFill/>
          <a:ln/>
        </p:spPr>
        <p:txBody>
          <a:bodyPr wrap="none" lIns="0" tIns="0" rIns="0" bIns="0" rtlCol="0" anchor="t"/>
          <a:lstStyle/>
          <a:p>
            <a:pPr marL="0" indent="0" algn="l">
              <a:lnSpc>
                <a:spcPts val="2150"/>
              </a:lnSpc>
              <a:buNone/>
            </a:pPr>
            <a:r>
              <a:rPr lang="en-US" sz="1750" b="1" dirty="0">
                <a:solidFill>
                  <a:srgbClr val="C2C4B5"/>
                </a:solidFill>
                <a:latin typeface="Outfit Bold" pitchFamily="34" charset="0"/>
                <a:ea typeface="Outfit Bold" pitchFamily="34" charset="-122"/>
                <a:cs typeface="Outfit Bold" pitchFamily="34" charset="-120"/>
              </a:rPr>
              <a:t>No Conditional Logic</a:t>
            </a:r>
            <a:endParaRPr lang="en-US" sz="1750" dirty="0"/>
          </a:p>
        </p:txBody>
      </p:sp>
      <p:sp>
        <p:nvSpPr>
          <p:cNvPr id="7" name="Text 5"/>
          <p:cNvSpPr/>
          <p:nvPr/>
        </p:nvSpPr>
        <p:spPr>
          <a:xfrm>
            <a:off x="1063823" y="3374469"/>
            <a:ext cx="5969556" cy="814388"/>
          </a:xfrm>
          <a:prstGeom prst="rect">
            <a:avLst/>
          </a:prstGeom>
          <a:noFill/>
          <a:ln/>
        </p:spPr>
        <p:txBody>
          <a:bodyPr wrap="square" lIns="0" tIns="0" rIns="0" bIns="0" rtlCol="0" anchor="t"/>
          <a:lstStyle/>
          <a:p>
            <a:pPr marL="0" indent="0" algn="l">
              <a:lnSpc>
                <a:spcPts val="2100"/>
              </a:lnSpc>
              <a:buNone/>
            </a:pPr>
            <a:r>
              <a:rPr lang="en-US" sz="1400" dirty="0">
                <a:solidFill>
                  <a:srgbClr val="C2C4B5"/>
                </a:solidFill>
                <a:latin typeface="Bitter" pitchFamily="34" charset="0"/>
                <a:ea typeface="Bitter" pitchFamily="34" charset="-122"/>
                <a:cs typeface="Bitter" pitchFamily="34" charset="-120"/>
              </a:rPr>
              <a:t>Node selectors only support AND logic—you cannot express OR conditions like "disk-type=ssd OR disk-type=hdd". For complex logic, you need node affinity</a:t>
            </a:r>
            <a:endParaRPr lang="en-US" sz="1400" dirty="0"/>
          </a:p>
        </p:txBody>
      </p:sp>
      <p:sp>
        <p:nvSpPr>
          <p:cNvPr id="8" name="Shape 6"/>
          <p:cNvSpPr/>
          <p:nvPr/>
        </p:nvSpPr>
        <p:spPr>
          <a:xfrm>
            <a:off x="7395567" y="2797612"/>
            <a:ext cx="6441043" cy="1592699"/>
          </a:xfrm>
          <a:prstGeom prst="roundRect">
            <a:avLst>
              <a:gd name="adj" fmla="val 6889"/>
            </a:avLst>
          </a:prstGeom>
          <a:solidFill>
            <a:srgbClr val="1C1D1F"/>
          </a:solidFill>
          <a:ln w="22860">
            <a:solidFill>
              <a:srgbClr val="545557"/>
            </a:solidFill>
            <a:prstDash val="solid"/>
          </a:ln>
        </p:spPr>
        <p:txBody>
          <a:bodyPr/>
          <a:lstStyle/>
          <a:p>
            <a:endParaRPr lang="en-IN"/>
          </a:p>
        </p:txBody>
      </p:sp>
      <p:sp>
        <p:nvSpPr>
          <p:cNvPr id="9" name="Shape 7"/>
          <p:cNvSpPr/>
          <p:nvPr/>
        </p:nvSpPr>
        <p:spPr>
          <a:xfrm>
            <a:off x="7372707" y="2797612"/>
            <a:ext cx="91440" cy="1592699"/>
          </a:xfrm>
          <a:prstGeom prst="roundRect">
            <a:avLst>
              <a:gd name="adj" fmla="val 29302"/>
            </a:avLst>
          </a:prstGeom>
          <a:solidFill>
            <a:srgbClr val="9FA582"/>
          </a:solidFill>
          <a:ln/>
        </p:spPr>
        <p:txBody>
          <a:bodyPr/>
          <a:lstStyle/>
          <a:p>
            <a:endParaRPr lang="en-IN"/>
          </a:p>
        </p:txBody>
      </p:sp>
      <p:sp>
        <p:nvSpPr>
          <p:cNvPr id="10" name="Text 8"/>
          <p:cNvSpPr/>
          <p:nvPr/>
        </p:nvSpPr>
        <p:spPr>
          <a:xfrm>
            <a:off x="7665601" y="2999065"/>
            <a:ext cx="2943106" cy="278963"/>
          </a:xfrm>
          <a:prstGeom prst="rect">
            <a:avLst/>
          </a:prstGeom>
          <a:noFill/>
          <a:ln/>
        </p:spPr>
        <p:txBody>
          <a:bodyPr wrap="none" lIns="0" tIns="0" rIns="0" bIns="0" rtlCol="0" anchor="t"/>
          <a:lstStyle/>
          <a:p>
            <a:pPr marL="0" indent="0" algn="l">
              <a:lnSpc>
                <a:spcPts val="2150"/>
              </a:lnSpc>
              <a:buNone/>
            </a:pPr>
            <a:r>
              <a:rPr lang="en-US" sz="1750" b="1" dirty="0">
                <a:solidFill>
                  <a:srgbClr val="C2C4B5"/>
                </a:solidFill>
                <a:latin typeface="Outfit Bold" pitchFamily="34" charset="0"/>
                <a:ea typeface="Outfit Bold" pitchFamily="34" charset="-122"/>
                <a:cs typeface="Outfit Bold" pitchFamily="34" charset="-120"/>
              </a:rPr>
              <a:t>No Weighting or Preferences</a:t>
            </a:r>
            <a:endParaRPr lang="en-US" sz="1750" dirty="0"/>
          </a:p>
        </p:txBody>
      </p:sp>
      <p:sp>
        <p:nvSpPr>
          <p:cNvPr id="11" name="Text 9"/>
          <p:cNvSpPr/>
          <p:nvPr/>
        </p:nvSpPr>
        <p:spPr>
          <a:xfrm>
            <a:off x="7665601" y="3374469"/>
            <a:ext cx="5969556" cy="814388"/>
          </a:xfrm>
          <a:prstGeom prst="rect">
            <a:avLst/>
          </a:prstGeom>
          <a:noFill/>
          <a:ln/>
        </p:spPr>
        <p:txBody>
          <a:bodyPr wrap="square" lIns="0" tIns="0" rIns="0" bIns="0" rtlCol="0" anchor="t"/>
          <a:lstStyle/>
          <a:p>
            <a:pPr marL="0" indent="0" algn="l">
              <a:lnSpc>
                <a:spcPts val="2100"/>
              </a:lnSpc>
              <a:buNone/>
            </a:pPr>
            <a:r>
              <a:rPr lang="en-US" sz="1400" dirty="0">
                <a:solidFill>
                  <a:srgbClr val="C2C4B5"/>
                </a:solidFill>
                <a:latin typeface="Bitter" pitchFamily="34" charset="0"/>
                <a:ea typeface="Bitter" pitchFamily="34" charset="-122"/>
                <a:cs typeface="Bitter" pitchFamily="34" charset="-120"/>
              </a:rPr>
              <a:t>It's an all-or-nothing requirement. You cannot express "prefer SSD nodes but accept HDD if SSD unavailable"—that requires preferredDuringScheduling affinity rules</a:t>
            </a:r>
            <a:endParaRPr lang="en-US" sz="1400" dirty="0"/>
          </a:p>
        </p:txBody>
      </p:sp>
      <p:sp>
        <p:nvSpPr>
          <p:cNvPr id="12" name="Shape 10"/>
          <p:cNvSpPr/>
          <p:nvPr/>
        </p:nvSpPr>
        <p:spPr>
          <a:xfrm>
            <a:off x="793790" y="4551045"/>
            <a:ext cx="6441043" cy="1321237"/>
          </a:xfrm>
          <a:prstGeom prst="roundRect">
            <a:avLst>
              <a:gd name="adj" fmla="val 8305"/>
            </a:avLst>
          </a:prstGeom>
          <a:solidFill>
            <a:srgbClr val="1C1D1F"/>
          </a:solidFill>
          <a:ln w="22860">
            <a:solidFill>
              <a:srgbClr val="545557"/>
            </a:solidFill>
            <a:prstDash val="solid"/>
          </a:ln>
        </p:spPr>
        <p:txBody>
          <a:bodyPr/>
          <a:lstStyle/>
          <a:p>
            <a:endParaRPr lang="en-IN"/>
          </a:p>
        </p:txBody>
      </p:sp>
      <p:sp>
        <p:nvSpPr>
          <p:cNvPr id="13" name="Shape 11"/>
          <p:cNvSpPr/>
          <p:nvPr/>
        </p:nvSpPr>
        <p:spPr>
          <a:xfrm>
            <a:off x="770930" y="4551045"/>
            <a:ext cx="91440" cy="1321237"/>
          </a:xfrm>
          <a:prstGeom prst="roundRect">
            <a:avLst>
              <a:gd name="adj" fmla="val 29302"/>
            </a:avLst>
          </a:prstGeom>
          <a:solidFill>
            <a:srgbClr val="9FA582"/>
          </a:solidFill>
          <a:ln/>
        </p:spPr>
        <p:txBody>
          <a:bodyPr/>
          <a:lstStyle/>
          <a:p>
            <a:endParaRPr lang="en-IN"/>
          </a:p>
        </p:txBody>
      </p:sp>
      <p:sp>
        <p:nvSpPr>
          <p:cNvPr id="14" name="Text 12"/>
          <p:cNvSpPr/>
          <p:nvPr/>
        </p:nvSpPr>
        <p:spPr>
          <a:xfrm>
            <a:off x="1063823" y="4752499"/>
            <a:ext cx="2530673" cy="278963"/>
          </a:xfrm>
          <a:prstGeom prst="rect">
            <a:avLst/>
          </a:prstGeom>
          <a:noFill/>
          <a:ln/>
        </p:spPr>
        <p:txBody>
          <a:bodyPr wrap="none" lIns="0" tIns="0" rIns="0" bIns="0" rtlCol="0" anchor="t"/>
          <a:lstStyle/>
          <a:p>
            <a:pPr marL="0" indent="0" algn="l">
              <a:lnSpc>
                <a:spcPts val="2150"/>
              </a:lnSpc>
              <a:buNone/>
            </a:pPr>
            <a:r>
              <a:rPr lang="en-US" sz="1750" b="1" dirty="0">
                <a:solidFill>
                  <a:srgbClr val="C2C4B5"/>
                </a:solidFill>
                <a:latin typeface="Outfit Bold" pitchFamily="34" charset="0"/>
                <a:ea typeface="Outfit Bold" pitchFamily="34" charset="-122"/>
                <a:cs typeface="Outfit Bold" pitchFamily="34" charset="-120"/>
              </a:rPr>
              <a:t>No Anti-Affinity Support</a:t>
            </a:r>
            <a:endParaRPr lang="en-US" sz="1750" dirty="0"/>
          </a:p>
        </p:txBody>
      </p:sp>
      <p:sp>
        <p:nvSpPr>
          <p:cNvPr id="15" name="Text 13"/>
          <p:cNvSpPr/>
          <p:nvPr/>
        </p:nvSpPr>
        <p:spPr>
          <a:xfrm>
            <a:off x="1063823" y="5127903"/>
            <a:ext cx="5969556" cy="542925"/>
          </a:xfrm>
          <a:prstGeom prst="rect">
            <a:avLst/>
          </a:prstGeom>
          <a:noFill/>
          <a:ln/>
        </p:spPr>
        <p:txBody>
          <a:bodyPr wrap="square" lIns="0" tIns="0" rIns="0" bIns="0" rtlCol="0" anchor="t"/>
          <a:lstStyle/>
          <a:p>
            <a:pPr marL="0" indent="0" algn="l">
              <a:lnSpc>
                <a:spcPts val="2100"/>
              </a:lnSpc>
              <a:buNone/>
            </a:pPr>
            <a:r>
              <a:rPr lang="en-US" sz="1400" dirty="0">
                <a:solidFill>
                  <a:srgbClr val="C2C4B5"/>
                </a:solidFill>
                <a:latin typeface="Bitter" pitchFamily="34" charset="0"/>
                <a:ea typeface="Bitter" pitchFamily="34" charset="-122"/>
                <a:cs typeface="Bitter" pitchFamily="34" charset="-120"/>
              </a:rPr>
              <a:t>Cannot express "don't schedule on nodes with certain labels"—you need pod anti-affinity rules for that type of logic</a:t>
            </a:r>
            <a:endParaRPr lang="en-US" sz="1400" dirty="0"/>
          </a:p>
        </p:txBody>
      </p:sp>
      <p:sp>
        <p:nvSpPr>
          <p:cNvPr id="16" name="Shape 14"/>
          <p:cNvSpPr/>
          <p:nvPr/>
        </p:nvSpPr>
        <p:spPr>
          <a:xfrm>
            <a:off x="7395567" y="4551045"/>
            <a:ext cx="6441043" cy="1321237"/>
          </a:xfrm>
          <a:prstGeom prst="roundRect">
            <a:avLst>
              <a:gd name="adj" fmla="val 8305"/>
            </a:avLst>
          </a:prstGeom>
          <a:solidFill>
            <a:srgbClr val="1C1D1F"/>
          </a:solidFill>
          <a:ln w="22860">
            <a:solidFill>
              <a:srgbClr val="545557"/>
            </a:solidFill>
            <a:prstDash val="solid"/>
          </a:ln>
        </p:spPr>
        <p:txBody>
          <a:bodyPr/>
          <a:lstStyle/>
          <a:p>
            <a:endParaRPr lang="en-IN"/>
          </a:p>
        </p:txBody>
      </p:sp>
      <p:sp>
        <p:nvSpPr>
          <p:cNvPr id="17" name="Shape 15"/>
          <p:cNvSpPr/>
          <p:nvPr/>
        </p:nvSpPr>
        <p:spPr>
          <a:xfrm>
            <a:off x="7372707" y="4551045"/>
            <a:ext cx="91440" cy="1321237"/>
          </a:xfrm>
          <a:prstGeom prst="roundRect">
            <a:avLst>
              <a:gd name="adj" fmla="val 29302"/>
            </a:avLst>
          </a:prstGeom>
          <a:solidFill>
            <a:srgbClr val="9FA582"/>
          </a:solidFill>
          <a:ln/>
        </p:spPr>
        <p:txBody>
          <a:bodyPr/>
          <a:lstStyle/>
          <a:p>
            <a:endParaRPr lang="en-IN"/>
          </a:p>
        </p:txBody>
      </p:sp>
      <p:sp>
        <p:nvSpPr>
          <p:cNvPr id="18" name="Text 16"/>
          <p:cNvSpPr/>
          <p:nvPr/>
        </p:nvSpPr>
        <p:spPr>
          <a:xfrm>
            <a:off x="7665601" y="4752499"/>
            <a:ext cx="2511504" cy="278963"/>
          </a:xfrm>
          <a:prstGeom prst="rect">
            <a:avLst/>
          </a:prstGeom>
          <a:noFill/>
          <a:ln/>
        </p:spPr>
        <p:txBody>
          <a:bodyPr wrap="none" lIns="0" tIns="0" rIns="0" bIns="0" rtlCol="0" anchor="t"/>
          <a:lstStyle/>
          <a:p>
            <a:pPr marL="0" indent="0" algn="l">
              <a:lnSpc>
                <a:spcPts val="2150"/>
              </a:lnSpc>
              <a:buNone/>
            </a:pPr>
            <a:r>
              <a:rPr lang="en-US" sz="1750" b="1" dirty="0">
                <a:solidFill>
                  <a:srgbClr val="C2C4B5"/>
                </a:solidFill>
                <a:latin typeface="Outfit Bold" pitchFamily="34" charset="0"/>
                <a:ea typeface="Outfit Bold" pitchFamily="34" charset="-122"/>
                <a:cs typeface="Outfit Bold" pitchFamily="34" charset="-120"/>
              </a:rPr>
              <a:t>Hard Requirements Only</a:t>
            </a:r>
            <a:endParaRPr lang="en-US" sz="1750" dirty="0"/>
          </a:p>
        </p:txBody>
      </p:sp>
      <p:sp>
        <p:nvSpPr>
          <p:cNvPr id="19" name="Text 17"/>
          <p:cNvSpPr/>
          <p:nvPr/>
        </p:nvSpPr>
        <p:spPr>
          <a:xfrm>
            <a:off x="7665601" y="5127903"/>
            <a:ext cx="5969556" cy="542925"/>
          </a:xfrm>
          <a:prstGeom prst="rect">
            <a:avLst/>
          </a:prstGeom>
          <a:noFill/>
          <a:ln/>
        </p:spPr>
        <p:txBody>
          <a:bodyPr wrap="square" lIns="0" tIns="0" rIns="0" bIns="0" rtlCol="0" anchor="t"/>
          <a:lstStyle/>
          <a:p>
            <a:pPr marL="0" indent="0" algn="l">
              <a:lnSpc>
                <a:spcPts val="2100"/>
              </a:lnSpc>
              <a:buNone/>
            </a:pPr>
            <a:r>
              <a:rPr lang="en-US" sz="1400" dirty="0">
                <a:solidFill>
                  <a:srgbClr val="C2C4B5"/>
                </a:solidFill>
                <a:latin typeface="Bitter" pitchFamily="34" charset="0"/>
                <a:ea typeface="Bitter" pitchFamily="34" charset="-122"/>
                <a:cs typeface="Bitter" pitchFamily="34" charset="-120"/>
              </a:rPr>
              <a:t>If no nodes match, the pod stays Pending forever. You cannot make node selectors soft requirements that fall back to default scheduling</a:t>
            </a:r>
            <a:endParaRPr lang="en-US" sz="1400" dirty="0"/>
          </a:p>
        </p:txBody>
      </p:sp>
      <p:sp>
        <p:nvSpPr>
          <p:cNvPr id="20" name="Shape 18"/>
          <p:cNvSpPr/>
          <p:nvPr/>
        </p:nvSpPr>
        <p:spPr>
          <a:xfrm>
            <a:off x="793790" y="6053138"/>
            <a:ext cx="13042821" cy="982266"/>
          </a:xfrm>
          <a:prstGeom prst="roundRect">
            <a:avLst>
              <a:gd name="adj" fmla="val 2728"/>
            </a:avLst>
          </a:prstGeom>
          <a:solidFill>
            <a:srgbClr val="2A2C20"/>
          </a:solidFill>
          <a:ln/>
        </p:spPr>
        <p:txBody>
          <a:bodyPr/>
          <a:lstStyle/>
          <a:p>
            <a:endParaRPr lang="en-IN"/>
          </a:p>
        </p:txBody>
      </p:sp>
      <p:pic>
        <p:nvPicPr>
          <p:cNvPr id="21" name="Image 0" descr="preencoded.png"/>
          <p:cNvPicPr>
            <a:picLocks noChangeAspect="1"/>
          </p:cNvPicPr>
          <p:nvPr/>
        </p:nvPicPr>
        <p:blipFill>
          <a:blip r:embed="rId3"/>
          <a:stretch>
            <a:fillRect/>
          </a:stretch>
        </p:blipFill>
        <p:spPr>
          <a:xfrm>
            <a:off x="972383" y="6310551"/>
            <a:ext cx="223242" cy="178594"/>
          </a:xfrm>
          <a:prstGeom prst="rect">
            <a:avLst/>
          </a:prstGeom>
        </p:spPr>
      </p:pic>
      <p:sp>
        <p:nvSpPr>
          <p:cNvPr id="22" name="Text 19"/>
          <p:cNvSpPr/>
          <p:nvPr/>
        </p:nvSpPr>
        <p:spPr>
          <a:xfrm>
            <a:off x="1374219" y="6258520"/>
            <a:ext cx="12283797" cy="542925"/>
          </a:xfrm>
          <a:prstGeom prst="rect">
            <a:avLst/>
          </a:prstGeom>
          <a:noFill/>
          <a:ln/>
        </p:spPr>
        <p:txBody>
          <a:bodyPr wrap="square" lIns="0" tIns="0" rIns="0" bIns="0" rtlCol="0" anchor="t"/>
          <a:lstStyle/>
          <a:p>
            <a:pPr marL="0" indent="0" algn="l">
              <a:lnSpc>
                <a:spcPts val="2100"/>
              </a:lnSpc>
              <a:buNone/>
            </a:pPr>
            <a:r>
              <a:rPr lang="en-US" sz="1400" b="1" dirty="0">
                <a:solidFill>
                  <a:srgbClr val="FFFFFF"/>
                </a:solidFill>
                <a:latin typeface="Bitter" pitchFamily="34" charset="0"/>
                <a:ea typeface="Bitter" pitchFamily="34" charset="-122"/>
                <a:cs typeface="Bitter" pitchFamily="34" charset="-120"/>
              </a:rPr>
              <a:t>Exam Tip:</a:t>
            </a:r>
            <a:r>
              <a:rPr lang="en-US" sz="1400" dirty="0">
                <a:solidFill>
                  <a:srgbClr val="FFFFFF"/>
                </a:solidFill>
                <a:latin typeface="Bitter" pitchFamily="34" charset="0"/>
                <a:ea typeface="Bitter" pitchFamily="34" charset="-122"/>
                <a:cs typeface="Bitter" pitchFamily="34" charset="-120"/>
              </a:rPr>
              <a:t> Be prepared to explain when to use nodeSelector versus node affinity. NodeSelector is perfect for simple, hard requirements. Use node affinity for complex logic, preferences, or anti-affinity rules.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31269"/>
            <a:ext cx="3969425" cy="496133"/>
          </a:xfrm>
          <a:prstGeom prst="rect">
            <a:avLst/>
          </a:prstGeom>
          <a:noFill/>
          <a:ln/>
        </p:spPr>
        <p:txBody>
          <a:bodyPr wrap="none" lIns="0" tIns="0" rIns="0" bIns="0" rtlCol="0" anchor="t"/>
          <a:lstStyle/>
          <a:p>
            <a:pPr marL="0" indent="0" algn="l">
              <a:lnSpc>
                <a:spcPts val="3900"/>
              </a:lnSpc>
              <a:buNone/>
            </a:pPr>
            <a:r>
              <a:rPr lang="en-US" sz="3100" b="1" dirty="0">
                <a:solidFill>
                  <a:srgbClr val="E1E5CD"/>
                </a:solidFill>
                <a:latin typeface="Outfit Bold" pitchFamily="34" charset="0"/>
                <a:ea typeface="Outfit Bold" pitchFamily="34" charset="-122"/>
                <a:cs typeface="Outfit Bold" pitchFamily="34" charset="-120"/>
              </a:rPr>
              <a:t>Key Takeaways</a:t>
            </a:r>
            <a:endParaRPr lang="en-US" sz="3100" dirty="0"/>
          </a:p>
        </p:txBody>
      </p:sp>
      <p:sp>
        <p:nvSpPr>
          <p:cNvPr id="3" name="Shape 1"/>
          <p:cNvSpPr/>
          <p:nvPr/>
        </p:nvSpPr>
        <p:spPr>
          <a:xfrm>
            <a:off x="793790" y="1381363"/>
            <a:ext cx="357188" cy="357188"/>
          </a:xfrm>
          <a:prstGeom prst="roundRect">
            <a:avLst>
              <a:gd name="adj" fmla="val 6668"/>
            </a:avLst>
          </a:prstGeom>
          <a:solidFill>
            <a:srgbClr val="3B3C3E"/>
          </a:solidFill>
          <a:ln/>
        </p:spPr>
        <p:txBody>
          <a:bodyPr/>
          <a:lstStyle/>
          <a:p>
            <a:endParaRPr lang="en-IN"/>
          </a:p>
        </p:txBody>
      </p:sp>
      <p:sp>
        <p:nvSpPr>
          <p:cNvPr id="4" name="Text 2"/>
          <p:cNvSpPr/>
          <p:nvPr/>
        </p:nvSpPr>
        <p:spPr>
          <a:xfrm>
            <a:off x="853321" y="1411129"/>
            <a:ext cx="238125" cy="297656"/>
          </a:xfrm>
          <a:prstGeom prst="rect">
            <a:avLst/>
          </a:prstGeom>
          <a:noFill/>
          <a:ln/>
        </p:spPr>
        <p:txBody>
          <a:bodyPr wrap="none" lIns="0" tIns="0" rIns="0" bIns="0" rtlCol="0" anchor="t"/>
          <a:lstStyle/>
          <a:p>
            <a:pPr marL="0" indent="0" algn="ctr">
              <a:lnSpc>
                <a:spcPts val="1850"/>
              </a:lnSpc>
              <a:buNone/>
            </a:pPr>
            <a:r>
              <a:rPr lang="en-US" sz="1850" b="1" dirty="0">
                <a:solidFill>
                  <a:srgbClr val="C2C4B5"/>
                </a:solidFill>
                <a:latin typeface="Outfit Bold" pitchFamily="34" charset="0"/>
                <a:ea typeface="Outfit Bold" pitchFamily="34" charset="-122"/>
                <a:cs typeface="Outfit Bold" pitchFamily="34" charset="-120"/>
              </a:rPr>
              <a:t>1</a:t>
            </a:r>
            <a:endParaRPr lang="en-US" sz="1850" dirty="0"/>
          </a:p>
        </p:txBody>
      </p:sp>
      <p:sp>
        <p:nvSpPr>
          <p:cNvPr id="5" name="Text 3"/>
          <p:cNvSpPr/>
          <p:nvPr/>
        </p:nvSpPr>
        <p:spPr>
          <a:xfrm>
            <a:off x="1277898" y="1435894"/>
            <a:ext cx="3118604" cy="248007"/>
          </a:xfrm>
          <a:prstGeom prst="rect">
            <a:avLst/>
          </a:prstGeom>
          <a:noFill/>
          <a:ln/>
        </p:spPr>
        <p:txBody>
          <a:bodyPr wrap="none" lIns="0" tIns="0" rIns="0" bIns="0" rtlCol="0" anchor="t"/>
          <a:lstStyle/>
          <a:p>
            <a:pPr marL="0" indent="0" algn="l">
              <a:lnSpc>
                <a:spcPts val="1950"/>
              </a:lnSpc>
              <a:buNone/>
            </a:pPr>
            <a:r>
              <a:rPr lang="en-US" sz="1550" b="1" dirty="0">
                <a:solidFill>
                  <a:srgbClr val="C2C4B5"/>
                </a:solidFill>
                <a:latin typeface="Outfit Bold" pitchFamily="34" charset="0"/>
                <a:ea typeface="Outfit Bold" pitchFamily="34" charset="-122"/>
                <a:cs typeface="Outfit Bold" pitchFamily="34" charset="-120"/>
              </a:rPr>
              <a:t>Node selectors are key-value pairs</a:t>
            </a:r>
            <a:endParaRPr lang="en-US" sz="1550" dirty="0"/>
          </a:p>
        </p:txBody>
      </p:sp>
      <p:sp>
        <p:nvSpPr>
          <p:cNvPr id="6" name="Text 4"/>
          <p:cNvSpPr/>
          <p:nvPr/>
        </p:nvSpPr>
        <p:spPr>
          <a:xfrm>
            <a:off x="1277898" y="1760101"/>
            <a:ext cx="12558713" cy="228600"/>
          </a:xfrm>
          <a:prstGeom prst="rect">
            <a:avLst/>
          </a:prstGeom>
          <a:noFill/>
          <a:ln/>
        </p:spPr>
        <p:txBody>
          <a:bodyPr wrap="none" lIns="0" tIns="0" rIns="0" bIns="0" rtlCol="0" anchor="t"/>
          <a:lstStyle/>
          <a:p>
            <a:pPr marL="0" indent="0" algn="l">
              <a:lnSpc>
                <a:spcPts val="1800"/>
              </a:lnSpc>
              <a:buNone/>
            </a:pPr>
            <a:r>
              <a:rPr lang="en-US" sz="1250" dirty="0">
                <a:solidFill>
                  <a:srgbClr val="C2C4B5"/>
                </a:solidFill>
                <a:latin typeface="Bitter" pitchFamily="34" charset="0"/>
                <a:ea typeface="Bitter" pitchFamily="34" charset="-122"/>
                <a:cs typeface="Bitter" pitchFamily="34" charset="-120"/>
              </a:rPr>
              <a:t>They filter nodes based on labels, requiring all specified labels to match exactly</a:t>
            </a:r>
            <a:endParaRPr lang="en-US" sz="1250" dirty="0"/>
          </a:p>
        </p:txBody>
      </p:sp>
      <p:sp>
        <p:nvSpPr>
          <p:cNvPr id="7" name="Shape 5"/>
          <p:cNvSpPr/>
          <p:nvPr/>
        </p:nvSpPr>
        <p:spPr>
          <a:xfrm>
            <a:off x="793790" y="2242661"/>
            <a:ext cx="357188" cy="357188"/>
          </a:xfrm>
          <a:prstGeom prst="roundRect">
            <a:avLst>
              <a:gd name="adj" fmla="val 6668"/>
            </a:avLst>
          </a:prstGeom>
          <a:solidFill>
            <a:srgbClr val="3B3C3E"/>
          </a:solidFill>
          <a:ln/>
        </p:spPr>
        <p:txBody>
          <a:bodyPr/>
          <a:lstStyle/>
          <a:p>
            <a:endParaRPr lang="en-IN"/>
          </a:p>
        </p:txBody>
      </p:sp>
      <p:sp>
        <p:nvSpPr>
          <p:cNvPr id="8" name="Text 6"/>
          <p:cNvSpPr/>
          <p:nvPr/>
        </p:nvSpPr>
        <p:spPr>
          <a:xfrm>
            <a:off x="853321" y="2272427"/>
            <a:ext cx="238125" cy="297656"/>
          </a:xfrm>
          <a:prstGeom prst="rect">
            <a:avLst/>
          </a:prstGeom>
          <a:noFill/>
          <a:ln/>
        </p:spPr>
        <p:txBody>
          <a:bodyPr wrap="none" lIns="0" tIns="0" rIns="0" bIns="0" rtlCol="0" anchor="t"/>
          <a:lstStyle/>
          <a:p>
            <a:pPr marL="0" indent="0" algn="ctr">
              <a:lnSpc>
                <a:spcPts val="1850"/>
              </a:lnSpc>
              <a:buNone/>
            </a:pPr>
            <a:r>
              <a:rPr lang="en-US" sz="1850" b="1" dirty="0">
                <a:solidFill>
                  <a:srgbClr val="C2C4B5"/>
                </a:solidFill>
                <a:latin typeface="Outfit Bold" pitchFamily="34" charset="0"/>
                <a:ea typeface="Outfit Bold" pitchFamily="34" charset="-122"/>
                <a:cs typeface="Outfit Bold" pitchFamily="34" charset="-120"/>
              </a:rPr>
              <a:t>2</a:t>
            </a:r>
            <a:endParaRPr lang="en-US" sz="1850" dirty="0"/>
          </a:p>
        </p:txBody>
      </p:sp>
      <p:sp>
        <p:nvSpPr>
          <p:cNvPr id="9" name="Text 7"/>
          <p:cNvSpPr/>
          <p:nvPr/>
        </p:nvSpPr>
        <p:spPr>
          <a:xfrm>
            <a:off x="1277898" y="2297192"/>
            <a:ext cx="2685217" cy="248007"/>
          </a:xfrm>
          <a:prstGeom prst="rect">
            <a:avLst/>
          </a:prstGeom>
          <a:noFill/>
          <a:ln/>
        </p:spPr>
        <p:txBody>
          <a:bodyPr wrap="none" lIns="0" tIns="0" rIns="0" bIns="0" rtlCol="0" anchor="t"/>
          <a:lstStyle/>
          <a:p>
            <a:pPr marL="0" indent="0" algn="l">
              <a:lnSpc>
                <a:spcPts val="1950"/>
              </a:lnSpc>
              <a:buNone/>
            </a:pPr>
            <a:r>
              <a:rPr lang="en-US" sz="1550" b="1" dirty="0">
                <a:solidFill>
                  <a:srgbClr val="C2C4B5"/>
                </a:solidFill>
                <a:latin typeface="Outfit Bold" pitchFamily="34" charset="0"/>
                <a:ea typeface="Outfit Bold" pitchFamily="34" charset="-122"/>
                <a:cs typeface="Outfit Bold" pitchFamily="34" charset="-120"/>
              </a:rPr>
              <a:t>Labels must exist before pods</a:t>
            </a:r>
            <a:endParaRPr lang="en-US" sz="1550" dirty="0"/>
          </a:p>
        </p:txBody>
      </p:sp>
      <p:sp>
        <p:nvSpPr>
          <p:cNvPr id="10" name="Text 8"/>
          <p:cNvSpPr/>
          <p:nvPr/>
        </p:nvSpPr>
        <p:spPr>
          <a:xfrm>
            <a:off x="1277898" y="2621399"/>
            <a:ext cx="12558713" cy="228600"/>
          </a:xfrm>
          <a:prstGeom prst="rect">
            <a:avLst/>
          </a:prstGeom>
          <a:noFill/>
          <a:ln/>
        </p:spPr>
        <p:txBody>
          <a:bodyPr wrap="none" lIns="0" tIns="0" rIns="0" bIns="0" rtlCol="0" anchor="t"/>
          <a:lstStyle/>
          <a:p>
            <a:pPr marL="0" indent="0" algn="l">
              <a:lnSpc>
                <a:spcPts val="1800"/>
              </a:lnSpc>
              <a:buNone/>
            </a:pPr>
            <a:r>
              <a:rPr lang="en-US" sz="1250" dirty="0">
                <a:solidFill>
                  <a:srgbClr val="C2C4B5"/>
                </a:solidFill>
                <a:latin typeface="Bitter" pitchFamily="34" charset="0"/>
                <a:ea typeface="Bitter" pitchFamily="34" charset="-122"/>
                <a:cs typeface="Bitter" pitchFamily="34" charset="-120"/>
              </a:rPr>
              <a:t>Always verify or create node labels before applying pods with selectors</a:t>
            </a:r>
            <a:endParaRPr lang="en-US" sz="1250" dirty="0"/>
          </a:p>
        </p:txBody>
      </p:sp>
      <p:sp>
        <p:nvSpPr>
          <p:cNvPr id="11" name="Shape 9"/>
          <p:cNvSpPr/>
          <p:nvPr/>
        </p:nvSpPr>
        <p:spPr>
          <a:xfrm>
            <a:off x="793790" y="3103959"/>
            <a:ext cx="357188" cy="357188"/>
          </a:xfrm>
          <a:prstGeom prst="roundRect">
            <a:avLst>
              <a:gd name="adj" fmla="val 6668"/>
            </a:avLst>
          </a:prstGeom>
          <a:solidFill>
            <a:srgbClr val="3B3C3E"/>
          </a:solidFill>
          <a:ln/>
        </p:spPr>
        <p:txBody>
          <a:bodyPr/>
          <a:lstStyle/>
          <a:p>
            <a:endParaRPr lang="en-IN"/>
          </a:p>
        </p:txBody>
      </p:sp>
      <p:sp>
        <p:nvSpPr>
          <p:cNvPr id="12" name="Text 10"/>
          <p:cNvSpPr/>
          <p:nvPr/>
        </p:nvSpPr>
        <p:spPr>
          <a:xfrm>
            <a:off x="853321" y="3133725"/>
            <a:ext cx="238125" cy="297656"/>
          </a:xfrm>
          <a:prstGeom prst="rect">
            <a:avLst/>
          </a:prstGeom>
          <a:noFill/>
          <a:ln/>
        </p:spPr>
        <p:txBody>
          <a:bodyPr wrap="none" lIns="0" tIns="0" rIns="0" bIns="0" rtlCol="0" anchor="t"/>
          <a:lstStyle/>
          <a:p>
            <a:pPr marL="0" indent="0" algn="ctr">
              <a:lnSpc>
                <a:spcPts val="1850"/>
              </a:lnSpc>
              <a:buNone/>
            </a:pPr>
            <a:r>
              <a:rPr lang="en-US" sz="1850" b="1" dirty="0">
                <a:solidFill>
                  <a:srgbClr val="C2C4B5"/>
                </a:solidFill>
                <a:latin typeface="Outfit Bold" pitchFamily="34" charset="0"/>
                <a:ea typeface="Outfit Bold" pitchFamily="34" charset="-122"/>
                <a:cs typeface="Outfit Bold" pitchFamily="34" charset="-120"/>
              </a:rPr>
              <a:t>3</a:t>
            </a:r>
            <a:endParaRPr lang="en-US" sz="1850" dirty="0"/>
          </a:p>
        </p:txBody>
      </p:sp>
      <p:sp>
        <p:nvSpPr>
          <p:cNvPr id="13" name="Text 11"/>
          <p:cNvSpPr/>
          <p:nvPr/>
        </p:nvSpPr>
        <p:spPr>
          <a:xfrm>
            <a:off x="1277898" y="3158490"/>
            <a:ext cx="2472452" cy="248007"/>
          </a:xfrm>
          <a:prstGeom prst="rect">
            <a:avLst/>
          </a:prstGeom>
          <a:noFill/>
          <a:ln/>
        </p:spPr>
        <p:txBody>
          <a:bodyPr wrap="none" lIns="0" tIns="0" rIns="0" bIns="0" rtlCol="0" anchor="t"/>
          <a:lstStyle/>
          <a:p>
            <a:pPr marL="0" indent="0" algn="l">
              <a:lnSpc>
                <a:spcPts val="1950"/>
              </a:lnSpc>
              <a:buNone/>
            </a:pPr>
            <a:r>
              <a:rPr lang="en-US" sz="1550" b="1" dirty="0">
                <a:solidFill>
                  <a:srgbClr val="C2C4B5"/>
                </a:solidFill>
                <a:latin typeface="Outfit Bold" pitchFamily="34" charset="0"/>
                <a:ea typeface="Outfit Bold" pitchFamily="34" charset="-122"/>
                <a:cs typeface="Outfit Bold" pitchFamily="34" charset="-120"/>
              </a:rPr>
              <a:t>Use kubectl label command</a:t>
            </a:r>
            <a:endParaRPr lang="en-US" sz="1550" dirty="0"/>
          </a:p>
        </p:txBody>
      </p:sp>
      <p:sp>
        <p:nvSpPr>
          <p:cNvPr id="14" name="Text 12"/>
          <p:cNvSpPr/>
          <p:nvPr/>
        </p:nvSpPr>
        <p:spPr>
          <a:xfrm>
            <a:off x="1277898" y="3482697"/>
            <a:ext cx="12558713" cy="243840"/>
          </a:xfrm>
          <a:prstGeom prst="rect">
            <a:avLst/>
          </a:prstGeom>
          <a:noFill/>
          <a:ln/>
        </p:spPr>
        <p:txBody>
          <a:bodyPr wrap="none" lIns="0" tIns="0" rIns="0" bIns="0" rtlCol="0" anchor="t"/>
          <a:lstStyle/>
          <a:p>
            <a:pPr marL="0" indent="0" algn="l">
              <a:lnSpc>
                <a:spcPts val="1800"/>
              </a:lnSpc>
              <a:buNone/>
            </a:pPr>
            <a:r>
              <a:rPr lang="en-US" sz="1250" dirty="0">
                <a:solidFill>
                  <a:srgbClr val="C2C4B5"/>
                </a:solidFill>
                <a:latin typeface="Bitter" pitchFamily="34" charset="0"/>
                <a:ea typeface="Bitter" pitchFamily="34" charset="-122"/>
                <a:cs typeface="Bitter" pitchFamily="34" charset="-120"/>
              </a:rPr>
              <a:t>Master </a:t>
            </a:r>
            <a:r>
              <a:rPr lang="en-US" sz="1250" dirty="0">
                <a:solidFill>
                  <a:srgbClr val="C2C4B5"/>
                </a:solidFill>
                <a:highlight>
                  <a:srgbClr val="292A2C"/>
                </a:highlight>
                <a:latin typeface="Consolas" pitchFamily="34" charset="0"/>
                <a:ea typeface="Consolas" pitchFamily="34" charset="-122"/>
                <a:cs typeface="Consolas" pitchFamily="34" charset="-120"/>
              </a:rPr>
              <a:t>kubectl label nodes &lt;node&gt; key=value</a:t>
            </a:r>
            <a:r>
              <a:rPr lang="en-US" sz="1250" dirty="0">
                <a:solidFill>
                  <a:srgbClr val="C2C4B5"/>
                </a:solidFill>
                <a:latin typeface="Bitter" pitchFamily="34" charset="0"/>
                <a:ea typeface="Bitter" pitchFamily="34" charset="-122"/>
                <a:cs typeface="Bitter" pitchFamily="34" charset="-120"/>
              </a:rPr>
              <a:t> for adding labels and </a:t>
            </a:r>
            <a:r>
              <a:rPr lang="en-US" sz="1250" dirty="0">
                <a:solidFill>
                  <a:srgbClr val="C2C4B5"/>
                </a:solidFill>
                <a:highlight>
                  <a:srgbClr val="292A2C"/>
                </a:highlight>
                <a:latin typeface="Consolas" pitchFamily="34" charset="0"/>
                <a:ea typeface="Consolas" pitchFamily="34" charset="-122"/>
                <a:cs typeface="Consolas" pitchFamily="34" charset="-120"/>
              </a:rPr>
              <a:t>key-</a:t>
            </a:r>
            <a:r>
              <a:rPr lang="en-US" sz="1250" dirty="0">
                <a:solidFill>
                  <a:srgbClr val="C2C4B5"/>
                </a:solidFill>
                <a:latin typeface="Bitter" pitchFamily="34" charset="0"/>
                <a:ea typeface="Bitter" pitchFamily="34" charset="-122"/>
                <a:cs typeface="Bitter" pitchFamily="34" charset="-120"/>
              </a:rPr>
              <a:t> for removing</a:t>
            </a:r>
            <a:endParaRPr lang="en-US" sz="1250" dirty="0"/>
          </a:p>
        </p:txBody>
      </p:sp>
      <p:sp>
        <p:nvSpPr>
          <p:cNvPr id="15" name="Shape 13"/>
          <p:cNvSpPr/>
          <p:nvPr/>
        </p:nvSpPr>
        <p:spPr>
          <a:xfrm>
            <a:off x="793790" y="3980498"/>
            <a:ext cx="357188" cy="357188"/>
          </a:xfrm>
          <a:prstGeom prst="roundRect">
            <a:avLst>
              <a:gd name="adj" fmla="val 6668"/>
            </a:avLst>
          </a:prstGeom>
          <a:solidFill>
            <a:srgbClr val="3B3C3E"/>
          </a:solidFill>
          <a:ln/>
        </p:spPr>
        <p:txBody>
          <a:bodyPr/>
          <a:lstStyle/>
          <a:p>
            <a:endParaRPr lang="en-IN"/>
          </a:p>
        </p:txBody>
      </p:sp>
      <p:sp>
        <p:nvSpPr>
          <p:cNvPr id="16" name="Text 14"/>
          <p:cNvSpPr/>
          <p:nvPr/>
        </p:nvSpPr>
        <p:spPr>
          <a:xfrm>
            <a:off x="853321" y="4010263"/>
            <a:ext cx="238125" cy="297656"/>
          </a:xfrm>
          <a:prstGeom prst="rect">
            <a:avLst/>
          </a:prstGeom>
          <a:noFill/>
          <a:ln/>
        </p:spPr>
        <p:txBody>
          <a:bodyPr wrap="none" lIns="0" tIns="0" rIns="0" bIns="0" rtlCol="0" anchor="t"/>
          <a:lstStyle/>
          <a:p>
            <a:pPr marL="0" indent="0" algn="ctr">
              <a:lnSpc>
                <a:spcPts val="1850"/>
              </a:lnSpc>
              <a:buNone/>
            </a:pPr>
            <a:r>
              <a:rPr lang="en-US" sz="1850" b="1" dirty="0">
                <a:solidFill>
                  <a:srgbClr val="C2C4B5"/>
                </a:solidFill>
                <a:latin typeface="Outfit Bold" pitchFamily="34" charset="0"/>
                <a:ea typeface="Outfit Bold" pitchFamily="34" charset="-122"/>
                <a:cs typeface="Outfit Bold" pitchFamily="34" charset="-120"/>
              </a:rPr>
              <a:t>4</a:t>
            </a:r>
            <a:endParaRPr lang="en-US" sz="1850" dirty="0"/>
          </a:p>
        </p:txBody>
      </p:sp>
      <p:sp>
        <p:nvSpPr>
          <p:cNvPr id="17" name="Text 15"/>
          <p:cNvSpPr/>
          <p:nvPr/>
        </p:nvSpPr>
        <p:spPr>
          <a:xfrm>
            <a:off x="1277898" y="4035028"/>
            <a:ext cx="2184559" cy="248007"/>
          </a:xfrm>
          <a:prstGeom prst="rect">
            <a:avLst/>
          </a:prstGeom>
          <a:noFill/>
          <a:ln/>
        </p:spPr>
        <p:txBody>
          <a:bodyPr wrap="none" lIns="0" tIns="0" rIns="0" bIns="0" rtlCol="0" anchor="t"/>
          <a:lstStyle/>
          <a:p>
            <a:pPr marL="0" indent="0" algn="l">
              <a:lnSpc>
                <a:spcPts val="1950"/>
              </a:lnSpc>
              <a:buNone/>
            </a:pPr>
            <a:r>
              <a:rPr lang="en-US" sz="1550" b="1" dirty="0">
                <a:solidFill>
                  <a:srgbClr val="C2C4B5"/>
                </a:solidFill>
                <a:latin typeface="Outfit Bold" pitchFamily="34" charset="0"/>
                <a:ea typeface="Outfit Bold" pitchFamily="34" charset="-122"/>
                <a:cs typeface="Outfit Bold" pitchFamily="34" charset="-120"/>
              </a:rPr>
              <a:t>Case sensitivity matters</a:t>
            </a:r>
            <a:endParaRPr lang="en-US" sz="1550" dirty="0"/>
          </a:p>
        </p:txBody>
      </p:sp>
      <p:sp>
        <p:nvSpPr>
          <p:cNvPr id="18" name="Text 16"/>
          <p:cNvSpPr/>
          <p:nvPr/>
        </p:nvSpPr>
        <p:spPr>
          <a:xfrm>
            <a:off x="1277898" y="4359235"/>
            <a:ext cx="12558713" cy="228600"/>
          </a:xfrm>
          <a:prstGeom prst="rect">
            <a:avLst/>
          </a:prstGeom>
          <a:noFill/>
          <a:ln/>
        </p:spPr>
        <p:txBody>
          <a:bodyPr wrap="none" lIns="0" tIns="0" rIns="0" bIns="0" rtlCol="0" anchor="t"/>
          <a:lstStyle/>
          <a:p>
            <a:pPr marL="0" indent="0" algn="l">
              <a:lnSpc>
                <a:spcPts val="1800"/>
              </a:lnSpc>
              <a:buNone/>
            </a:pPr>
            <a:r>
              <a:rPr lang="en-US" sz="1250" dirty="0">
                <a:solidFill>
                  <a:srgbClr val="C2C4B5"/>
                </a:solidFill>
                <a:latin typeface="Bitter" pitchFamily="34" charset="0"/>
                <a:ea typeface="Bitter" pitchFamily="34" charset="-122"/>
                <a:cs typeface="Bitter" pitchFamily="34" charset="-120"/>
              </a:rPr>
              <a:t>Label keys and values are case-sensitive—check spelling carefully</a:t>
            </a:r>
            <a:endParaRPr lang="en-US" sz="1250" dirty="0"/>
          </a:p>
        </p:txBody>
      </p:sp>
      <p:sp>
        <p:nvSpPr>
          <p:cNvPr id="19" name="Shape 17"/>
          <p:cNvSpPr/>
          <p:nvPr/>
        </p:nvSpPr>
        <p:spPr>
          <a:xfrm>
            <a:off x="793790" y="4841796"/>
            <a:ext cx="357188" cy="357188"/>
          </a:xfrm>
          <a:prstGeom prst="roundRect">
            <a:avLst>
              <a:gd name="adj" fmla="val 6668"/>
            </a:avLst>
          </a:prstGeom>
          <a:solidFill>
            <a:srgbClr val="3B3C3E"/>
          </a:solidFill>
          <a:ln/>
        </p:spPr>
        <p:txBody>
          <a:bodyPr/>
          <a:lstStyle/>
          <a:p>
            <a:endParaRPr lang="en-IN"/>
          </a:p>
        </p:txBody>
      </p:sp>
      <p:sp>
        <p:nvSpPr>
          <p:cNvPr id="20" name="Text 18"/>
          <p:cNvSpPr/>
          <p:nvPr/>
        </p:nvSpPr>
        <p:spPr>
          <a:xfrm>
            <a:off x="853321" y="4871561"/>
            <a:ext cx="238125" cy="297656"/>
          </a:xfrm>
          <a:prstGeom prst="rect">
            <a:avLst/>
          </a:prstGeom>
          <a:noFill/>
          <a:ln/>
        </p:spPr>
        <p:txBody>
          <a:bodyPr wrap="none" lIns="0" tIns="0" rIns="0" bIns="0" rtlCol="0" anchor="t"/>
          <a:lstStyle/>
          <a:p>
            <a:pPr marL="0" indent="0" algn="ctr">
              <a:lnSpc>
                <a:spcPts val="1850"/>
              </a:lnSpc>
              <a:buNone/>
            </a:pPr>
            <a:r>
              <a:rPr lang="en-US" sz="1850" b="1" dirty="0">
                <a:solidFill>
                  <a:srgbClr val="C2C4B5"/>
                </a:solidFill>
                <a:latin typeface="Outfit Bold" pitchFamily="34" charset="0"/>
                <a:ea typeface="Outfit Bold" pitchFamily="34" charset="-122"/>
                <a:cs typeface="Outfit Bold" pitchFamily="34" charset="-120"/>
              </a:rPr>
              <a:t>5</a:t>
            </a:r>
            <a:endParaRPr lang="en-US" sz="1850" dirty="0"/>
          </a:p>
        </p:txBody>
      </p:sp>
      <p:sp>
        <p:nvSpPr>
          <p:cNvPr id="21" name="Text 19"/>
          <p:cNvSpPr/>
          <p:nvPr/>
        </p:nvSpPr>
        <p:spPr>
          <a:xfrm>
            <a:off x="1277898" y="4896326"/>
            <a:ext cx="3084314" cy="248007"/>
          </a:xfrm>
          <a:prstGeom prst="rect">
            <a:avLst/>
          </a:prstGeom>
          <a:noFill/>
          <a:ln/>
        </p:spPr>
        <p:txBody>
          <a:bodyPr wrap="none" lIns="0" tIns="0" rIns="0" bIns="0" rtlCol="0" anchor="t"/>
          <a:lstStyle/>
          <a:p>
            <a:pPr marL="0" indent="0" algn="l">
              <a:lnSpc>
                <a:spcPts val="1950"/>
              </a:lnSpc>
              <a:buNone/>
            </a:pPr>
            <a:r>
              <a:rPr lang="en-US" sz="1550" b="1" dirty="0">
                <a:solidFill>
                  <a:srgbClr val="C2C4B5"/>
                </a:solidFill>
                <a:latin typeface="Outfit Bold" pitchFamily="34" charset="0"/>
                <a:ea typeface="Outfit Bold" pitchFamily="34" charset="-122"/>
                <a:cs typeface="Outfit Bold" pitchFamily="34" charset="-120"/>
              </a:rPr>
              <a:t>Missing nodes cause Pending pods</a:t>
            </a:r>
            <a:endParaRPr lang="en-US" sz="1550" dirty="0"/>
          </a:p>
        </p:txBody>
      </p:sp>
      <p:sp>
        <p:nvSpPr>
          <p:cNvPr id="22" name="Text 20"/>
          <p:cNvSpPr/>
          <p:nvPr/>
        </p:nvSpPr>
        <p:spPr>
          <a:xfrm>
            <a:off x="1277898" y="5220533"/>
            <a:ext cx="12558713" cy="243840"/>
          </a:xfrm>
          <a:prstGeom prst="rect">
            <a:avLst/>
          </a:prstGeom>
          <a:noFill/>
          <a:ln/>
        </p:spPr>
        <p:txBody>
          <a:bodyPr wrap="none" lIns="0" tIns="0" rIns="0" bIns="0" rtlCol="0" anchor="t"/>
          <a:lstStyle/>
          <a:p>
            <a:pPr marL="0" indent="0" algn="l">
              <a:lnSpc>
                <a:spcPts val="1800"/>
              </a:lnSpc>
              <a:buNone/>
            </a:pPr>
            <a:r>
              <a:rPr lang="en-US" sz="1250" dirty="0">
                <a:solidFill>
                  <a:srgbClr val="C2C4B5"/>
                </a:solidFill>
                <a:latin typeface="Bitter" pitchFamily="34" charset="0"/>
                <a:ea typeface="Bitter" pitchFamily="34" charset="-122"/>
                <a:cs typeface="Bitter" pitchFamily="34" charset="-120"/>
              </a:rPr>
              <a:t>If no nodes match, pods remain Pending indefinitely—verify with </a:t>
            </a:r>
            <a:r>
              <a:rPr lang="en-US" sz="1250" dirty="0">
                <a:solidFill>
                  <a:srgbClr val="C2C4B5"/>
                </a:solidFill>
                <a:highlight>
                  <a:srgbClr val="292A2C"/>
                </a:highlight>
                <a:latin typeface="Consolas" pitchFamily="34" charset="0"/>
                <a:ea typeface="Consolas" pitchFamily="34" charset="-122"/>
                <a:cs typeface="Consolas" pitchFamily="34" charset="-120"/>
              </a:rPr>
              <a:t>kubectl describe pod</a:t>
            </a:r>
            <a:endParaRPr lang="en-US" sz="1250" dirty="0"/>
          </a:p>
        </p:txBody>
      </p:sp>
      <p:sp>
        <p:nvSpPr>
          <p:cNvPr id="23" name="Shape 21"/>
          <p:cNvSpPr/>
          <p:nvPr/>
        </p:nvSpPr>
        <p:spPr>
          <a:xfrm>
            <a:off x="793790" y="5718334"/>
            <a:ext cx="357188" cy="357188"/>
          </a:xfrm>
          <a:prstGeom prst="roundRect">
            <a:avLst>
              <a:gd name="adj" fmla="val 6668"/>
            </a:avLst>
          </a:prstGeom>
          <a:solidFill>
            <a:srgbClr val="3B3C3E"/>
          </a:solidFill>
          <a:ln/>
        </p:spPr>
        <p:txBody>
          <a:bodyPr/>
          <a:lstStyle/>
          <a:p>
            <a:endParaRPr lang="en-IN"/>
          </a:p>
        </p:txBody>
      </p:sp>
      <p:sp>
        <p:nvSpPr>
          <p:cNvPr id="24" name="Text 22"/>
          <p:cNvSpPr/>
          <p:nvPr/>
        </p:nvSpPr>
        <p:spPr>
          <a:xfrm>
            <a:off x="853321" y="5748099"/>
            <a:ext cx="238125" cy="297656"/>
          </a:xfrm>
          <a:prstGeom prst="rect">
            <a:avLst/>
          </a:prstGeom>
          <a:noFill/>
          <a:ln/>
        </p:spPr>
        <p:txBody>
          <a:bodyPr wrap="none" lIns="0" tIns="0" rIns="0" bIns="0" rtlCol="0" anchor="t"/>
          <a:lstStyle/>
          <a:p>
            <a:pPr marL="0" indent="0" algn="ctr">
              <a:lnSpc>
                <a:spcPts val="1850"/>
              </a:lnSpc>
              <a:buNone/>
            </a:pPr>
            <a:r>
              <a:rPr lang="en-US" sz="1850" b="1" dirty="0">
                <a:solidFill>
                  <a:srgbClr val="C2C4B5"/>
                </a:solidFill>
                <a:latin typeface="Outfit Bold" pitchFamily="34" charset="0"/>
                <a:ea typeface="Outfit Bold" pitchFamily="34" charset="-122"/>
                <a:cs typeface="Outfit Bold" pitchFamily="34" charset="-120"/>
              </a:rPr>
              <a:t>6</a:t>
            </a:r>
            <a:endParaRPr lang="en-US" sz="1850" dirty="0"/>
          </a:p>
        </p:txBody>
      </p:sp>
      <p:sp>
        <p:nvSpPr>
          <p:cNvPr id="25" name="Text 23"/>
          <p:cNvSpPr/>
          <p:nvPr/>
        </p:nvSpPr>
        <p:spPr>
          <a:xfrm>
            <a:off x="1277898" y="5772864"/>
            <a:ext cx="3310057" cy="248007"/>
          </a:xfrm>
          <a:prstGeom prst="rect">
            <a:avLst/>
          </a:prstGeom>
          <a:noFill/>
          <a:ln/>
        </p:spPr>
        <p:txBody>
          <a:bodyPr wrap="none" lIns="0" tIns="0" rIns="0" bIns="0" rtlCol="0" anchor="t"/>
          <a:lstStyle/>
          <a:p>
            <a:pPr marL="0" indent="0" algn="l">
              <a:lnSpc>
                <a:spcPts val="1950"/>
              </a:lnSpc>
              <a:buNone/>
            </a:pPr>
            <a:r>
              <a:rPr lang="en-US" sz="1550" b="1" dirty="0">
                <a:solidFill>
                  <a:srgbClr val="C2C4B5"/>
                </a:solidFill>
                <a:latin typeface="Outfit Bold" pitchFamily="34" charset="0"/>
                <a:ea typeface="Outfit Bold" pitchFamily="34" charset="-122"/>
                <a:cs typeface="Outfit Bold" pitchFamily="34" charset="-120"/>
              </a:rPr>
              <a:t>Node affinity handles complex cases</a:t>
            </a:r>
            <a:endParaRPr lang="en-US" sz="1550" dirty="0"/>
          </a:p>
        </p:txBody>
      </p:sp>
      <p:sp>
        <p:nvSpPr>
          <p:cNvPr id="26" name="Text 24"/>
          <p:cNvSpPr/>
          <p:nvPr/>
        </p:nvSpPr>
        <p:spPr>
          <a:xfrm>
            <a:off x="1277898" y="6097072"/>
            <a:ext cx="12558713" cy="228600"/>
          </a:xfrm>
          <a:prstGeom prst="rect">
            <a:avLst/>
          </a:prstGeom>
          <a:noFill/>
          <a:ln/>
        </p:spPr>
        <p:txBody>
          <a:bodyPr wrap="none" lIns="0" tIns="0" rIns="0" bIns="0" rtlCol="0" anchor="t"/>
          <a:lstStyle/>
          <a:p>
            <a:pPr marL="0" indent="0" algn="l">
              <a:lnSpc>
                <a:spcPts val="1800"/>
              </a:lnSpc>
              <a:buNone/>
            </a:pPr>
            <a:r>
              <a:rPr lang="en-US" sz="1250" dirty="0">
                <a:solidFill>
                  <a:srgbClr val="C2C4B5"/>
                </a:solidFill>
                <a:latin typeface="Bitter" pitchFamily="34" charset="0"/>
                <a:ea typeface="Bitter" pitchFamily="34" charset="-122"/>
                <a:cs typeface="Bitter" pitchFamily="34" charset="-120"/>
              </a:rPr>
              <a:t>For OR logic, preferences, or anti-affinity, learn node affinity syntax</a:t>
            </a:r>
            <a:endParaRPr lang="en-US" sz="1250" dirty="0"/>
          </a:p>
        </p:txBody>
      </p:sp>
      <p:sp>
        <p:nvSpPr>
          <p:cNvPr id="27" name="Text 25"/>
          <p:cNvSpPr/>
          <p:nvPr/>
        </p:nvSpPr>
        <p:spPr>
          <a:xfrm>
            <a:off x="1031915" y="6611422"/>
            <a:ext cx="12804696" cy="228600"/>
          </a:xfrm>
          <a:prstGeom prst="rect">
            <a:avLst/>
          </a:prstGeom>
          <a:noFill/>
          <a:ln/>
        </p:spPr>
        <p:txBody>
          <a:bodyPr wrap="none" lIns="0" tIns="0" rIns="0" bIns="0" rtlCol="0" anchor="t"/>
          <a:lstStyle/>
          <a:p>
            <a:pPr marL="0" indent="0" algn="l">
              <a:lnSpc>
                <a:spcPts val="1800"/>
              </a:lnSpc>
              <a:buNone/>
            </a:pPr>
            <a:r>
              <a:rPr lang="en-US" sz="1250" i="1" dirty="0">
                <a:solidFill>
                  <a:srgbClr val="C2C4B5"/>
                </a:solidFill>
                <a:latin typeface="Bitter" pitchFamily="34" charset="0"/>
                <a:ea typeface="Bitter" pitchFamily="34" charset="-122"/>
                <a:cs typeface="Bitter" pitchFamily="34" charset="-120"/>
              </a:rPr>
              <a:t>"Node selectors are your first tool for pod placement control—master them before moving to advanced affinity rules."</a:t>
            </a:r>
            <a:endParaRPr lang="en-US" sz="1250" dirty="0"/>
          </a:p>
        </p:txBody>
      </p:sp>
      <p:sp>
        <p:nvSpPr>
          <p:cNvPr id="28" name="Shape 26"/>
          <p:cNvSpPr/>
          <p:nvPr/>
        </p:nvSpPr>
        <p:spPr>
          <a:xfrm>
            <a:off x="793790" y="6468547"/>
            <a:ext cx="22860" cy="514350"/>
          </a:xfrm>
          <a:prstGeom prst="rect">
            <a:avLst/>
          </a:prstGeom>
          <a:solidFill>
            <a:srgbClr val="9FA582"/>
          </a:solidFill>
          <a:ln/>
        </p:spPr>
        <p:txBody>
          <a:bodyPr/>
          <a:lstStyle/>
          <a:p>
            <a:endParaRPr lang="en-IN"/>
          </a:p>
        </p:txBody>
      </p:sp>
      <p:sp>
        <p:nvSpPr>
          <p:cNvPr id="29" name="Text 27"/>
          <p:cNvSpPr/>
          <p:nvPr/>
        </p:nvSpPr>
        <p:spPr>
          <a:xfrm>
            <a:off x="793790" y="7125772"/>
            <a:ext cx="13042821" cy="472440"/>
          </a:xfrm>
          <a:prstGeom prst="rect">
            <a:avLst/>
          </a:prstGeom>
          <a:noFill/>
          <a:ln/>
        </p:spPr>
        <p:txBody>
          <a:bodyPr wrap="square" lIns="0" tIns="0" rIns="0" bIns="0" rtlCol="0" anchor="t"/>
          <a:lstStyle/>
          <a:p>
            <a:pPr marL="0" indent="0" algn="l">
              <a:lnSpc>
                <a:spcPts val="1800"/>
              </a:lnSpc>
              <a:buNone/>
            </a:pPr>
            <a:r>
              <a:rPr lang="en-US" sz="1250" b="1" dirty="0">
                <a:solidFill>
                  <a:srgbClr val="C2C4B5"/>
                </a:solidFill>
                <a:latin typeface="Bitter" pitchFamily="34" charset="0"/>
                <a:ea typeface="Bitter" pitchFamily="34" charset="-122"/>
                <a:cs typeface="Bitter" pitchFamily="34" charset="-120"/>
              </a:rPr>
              <a:t>Next Steps:</a:t>
            </a:r>
            <a:r>
              <a:rPr lang="en-US" sz="1250" dirty="0">
                <a:solidFill>
                  <a:srgbClr val="C2C4B5"/>
                </a:solidFill>
                <a:latin typeface="Bitter" pitchFamily="34" charset="0"/>
                <a:ea typeface="Bitter" pitchFamily="34" charset="-122"/>
                <a:cs typeface="Bitter" pitchFamily="34" charset="-120"/>
              </a:rPr>
              <a:t> Practice creating nodes with labels, then deploy pods with various selectors. Break things deliberately—create selectors that don't match any nodes—then debug using </a:t>
            </a:r>
            <a:r>
              <a:rPr lang="en-US" sz="1250" dirty="0">
                <a:solidFill>
                  <a:srgbClr val="C2C4B5"/>
                </a:solidFill>
                <a:highlight>
                  <a:srgbClr val="292A2C"/>
                </a:highlight>
                <a:latin typeface="Consolas" pitchFamily="34" charset="0"/>
                <a:ea typeface="Consolas" pitchFamily="34" charset="-122"/>
                <a:cs typeface="Consolas" pitchFamily="34" charset="-120"/>
              </a:rPr>
              <a:t>kubectl describe</a:t>
            </a:r>
            <a:r>
              <a:rPr lang="en-US" sz="1250" dirty="0">
                <a:solidFill>
                  <a:srgbClr val="C2C4B5"/>
                </a:solidFill>
                <a:latin typeface="Bitter" pitchFamily="34" charset="0"/>
                <a:ea typeface="Bitter" pitchFamily="34" charset="-122"/>
                <a:cs typeface="Bitter" pitchFamily="34" charset="-120"/>
              </a:rPr>
              <a:t>. This hands-on experience is invaluable for both real-world administration and the CKA exam.</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1283</Words>
  <Application>Microsoft Office PowerPoint</Application>
  <PresentationFormat>Custom</PresentationFormat>
  <Paragraphs>127</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Outfit Bold</vt:lpstr>
      <vt:lpstr>Consolas</vt:lpstr>
      <vt:lpstr>Arial</vt:lpstr>
      <vt:lpstr>Bitter</vt:lpstr>
      <vt:lpstr>Outfit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Revanth Kondabathula(UST,IN)</cp:lastModifiedBy>
  <cp:revision>3</cp:revision>
  <dcterms:created xsi:type="dcterms:W3CDTF">2026-03-25T04:06:30Z</dcterms:created>
  <dcterms:modified xsi:type="dcterms:W3CDTF">2026-03-25T04:52:30Z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2026-03-25T04:41:12Z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c63e1d55-22ba-47b8-a783-b654032ee4a0</vt:lpwstr>
  </property>
  <property fmtid="{D5CDD505-2E9C-101B-9397-08002B2CF9AE}" pid="8" name="MSIP_Label_15ffddfa-74ad-4c1f-9757-a38a11902f1c_ContentBits">
    <vt:lpwstr>0</vt:lpwstr>
  </property>
  <property fmtid="{D5CDD505-2E9C-101B-9397-08002B2CF9AE}" pid="9" name="MSIP_Label_15ffddfa-74ad-4c1f-9757-a38a11902f1c_Tag">
    <vt:lpwstr>10, 3, 0, 1</vt:lpwstr>
  </property>
</Properties>
</file>