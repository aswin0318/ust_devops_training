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4630400" cy="8229600"/>
  <p:notesSz cx="8229600" cy="14630400"/>
  <p:embeddedFontLst>
    <p:embeddedFont>
      <p:font typeface="Bitter" panose="020B0604020202020204" charset="0"/>
      <p:regular r:id="rId18"/>
      <p:bold r:id="rId19"/>
      <p:italic r:id="rId20"/>
      <p:boldItalic r:id="rId21"/>
    </p:embeddedFont>
    <p:embeddedFont>
      <p:font typeface="Consolas" panose="020B0609020204030204" pitchFamily="49" charset="0"/>
      <p:regular r:id="rId22"/>
      <p:bold r:id="rId23"/>
      <p:italic r:id="rId24"/>
      <p:boldItalic r:id="rId25"/>
    </p:embeddedFont>
    <p:embeddedFont>
      <p:font typeface="Outfit" panose="020B0604020202020204" charset="0"/>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NvscS8LfufAdUHwfG8hqoVKZ08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9" d="100"/>
          <a:sy n="4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822950" y="6949425"/>
            <a:ext cx="6583675" cy="6583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 name="Google Shape;5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0" name="Google Shape;6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 name="Google Shape;67;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8" name="Google Shape;68;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d2590b0ab5_2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g3d2590b0ab5_2_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g3d2590b0ab5_2_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d2590b0ab5_2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g3d2590b0ab5_2_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g3d2590b0ab5_2_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9" name="Google Shape;11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 name="Google Shape;143;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44" name="Google Shape;144;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 name="Google Shape;16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0" name="Google Shape;17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5" name="Google Shape;185;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6" name="Google Shape;186;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0" name="Google Shape;230;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7" name="Google Shape;257;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9: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9:notes"/>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0: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10: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1: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11: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3" name="Google Shape;323;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4" name="Google Shape;324;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6"/>
        <p:cNvGrpSpPr/>
        <p:nvPr/>
      </p:nvGrpSpPr>
      <p:grpSpPr>
        <a:xfrm>
          <a:off x="0" y="0"/>
          <a:ext cx="0" cy="0"/>
          <a:chOff x="0" y="0"/>
          <a:chExt cx="0" cy="0"/>
        </a:xfrm>
      </p:grpSpPr>
      <p:sp>
        <p:nvSpPr>
          <p:cNvPr id="7" name="Google Shape;7;p15"/>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5"/>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15"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bg>
      <p:bgPr>
        <a:solidFill>
          <a:srgbClr val="000000"/>
        </a:solidFill>
        <a:effectLst/>
      </p:bgPr>
    </p:bg>
    <p:spTree>
      <p:nvGrpSpPr>
        <p:cNvPr id="1" name="Shape 10"/>
        <p:cNvGrpSpPr/>
        <p:nvPr/>
      </p:nvGrpSpPr>
      <p:grpSpPr>
        <a:xfrm>
          <a:off x="0" y="0"/>
          <a:ext cx="0" cy="0"/>
          <a:chOff x="0" y="0"/>
          <a:chExt cx="0" cy="0"/>
        </a:xfrm>
      </p:grpSpPr>
      <p:sp>
        <p:nvSpPr>
          <p:cNvPr id="11" name="Google Shape;11;p16"/>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6"/>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16"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bg>
      <p:bgPr>
        <a:solidFill>
          <a:srgbClr val="000000"/>
        </a:solidFill>
        <a:effectLst/>
      </p:bgPr>
    </p:bg>
    <p:spTree>
      <p:nvGrpSpPr>
        <p:cNvPr id="1" name="Shape 14"/>
        <p:cNvGrpSpPr/>
        <p:nvPr/>
      </p:nvGrpSpPr>
      <p:grpSpPr>
        <a:xfrm>
          <a:off x="0" y="0"/>
          <a:ext cx="0" cy="0"/>
          <a:chOff x="0" y="0"/>
          <a:chExt cx="0" cy="0"/>
        </a:xfrm>
      </p:grpSpPr>
      <p:sp>
        <p:nvSpPr>
          <p:cNvPr id="15" name="Google Shape;15;p17"/>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7"/>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17;p17"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bg>
      <p:bgPr>
        <a:solidFill>
          <a:srgbClr val="000000"/>
        </a:solidFill>
        <a:effectLst/>
      </p:bgPr>
    </p:bg>
    <p:spTree>
      <p:nvGrpSpPr>
        <p:cNvPr id="1" name="Shape 18"/>
        <p:cNvGrpSpPr/>
        <p:nvPr/>
      </p:nvGrpSpPr>
      <p:grpSpPr>
        <a:xfrm>
          <a:off x="0" y="0"/>
          <a:ext cx="0" cy="0"/>
          <a:chOff x="0" y="0"/>
          <a:chExt cx="0" cy="0"/>
        </a:xfrm>
      </p:grpSpPr>
      <p:sp>
        <p:nvSpPr>
          <p:cNvPr id="19" name="Google Shape;19;p18"/>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8"/>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21;p18"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bg>
      <p:bgPr>
        <a:solidFill>
          <a:srgbClr val="000000"/>
        </a:solidFill>
        <a:effectLst/>
      </p:bgPr>
    </p:bg>
    <p:spTree>
      <p:nvGrpSpPr>
        <p:cNvPr id="1" name="Shape 22"/>
        <p:cNvGrpSpPr/>
        <p:nvPr/>
      </p:nvGrpSpPr>
      <p:grpSpPr>
        <a:xfrm>
          <a:off x="0" y="0"/>
          <a:ext cx="0" cy="0"/>
          <a:chOff x="0" y="0"/>
          <a:chExt cx="0" cy="0"/>
        </a:xfrm>
      </p:grpSpPr>
      <p:sp>
        <p:nvSpPr>
          <p:cNvPr id="23" name="Google Shape;23;p19"/>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19"/>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 name="Google Shape;25;p19"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bg>
      <p:bgPr>
        <a:solidFill>
          <a:srgbClr val="000000"/>
        </a:solidFill>
        <a:effectLst/>
      </p:bgPr>
    </p:bg>
    <p:spTree>
      <p:nvGrpSpPr>
        <p:cNvPr id="1" name="Shape 26"/>
        <p:cNvGrpSpPr/>
        <p:nvPr/>
      </p:nvGrpSpPr>
      <p:grpSpPr>
        <a:xfrm>
          <a:off x="0" y="0"/>
          <a:ext cx="0" cy="0"/>
          <a:chOff x="0" y="0"/>
          <a:chExt cx="0" cy="0"/>
        </a:xfrm>
      </p:grpSpPr>
      <p:sp>
        <p:nvSpPr>
          <p:cNvPr id="27" name="Google Shape;27;p20"/>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0"/>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Google Shape;29;p20"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bg>
      <p:bgPr>
        <a:solidFill>
          <a:srgbClr val="000000"/>
        </a:solidFill>
        <a:effectLst/>
      </p:bgPr>
    </p:bg>
    <p:spTree>
      <p:nvGrpSpPr>
        <p:cNvPr id="1" name="Shape 30"/>
        <p:cNvGrpSpPr/>
        <p:nvPr/>
      </p:nvGrpSpPr>
      <p:grpSpPr>
        <a:xfrm>
          <a:off x="0" y="0"/>
          <a:ext cx="0" cy="0"/>
          <a:chOff x="0" y="0"/>
          <a:chExt cx="0" cy="0"/>
        </a:xfrm>
      </p:grpSpPr>
      <p:sp>
        <p:nvSpPr>
          <p:cNvPr id="31" name="Google Shape;31;p21"/>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1"/>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 name="Google Shape;33;p21"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bg>
      <p:bgPr>
        <a:solidFill>
          <a:srgbClr val="000000"/>
        </a:solidFill>
        <a:effectLst/>
      </p:bgPr>
    </p:bg>
    <p:spTree>
      <p:nvGrpSpPr>
        <p:cNvPr id="1" name="Shape 34"/>
        <p:cNvGrpSpPr/>
        <p:nvPr/>
      </p:nvGrpSpPr>
      <p:grpSpPr>
        <a:xfrm>
          <a:off x="0" y="0"/>
          <a:ext cx="0" cy="0"/>
          <a:chOff x="0" y="0"/>
          <a:chExt cx="0" cy="0"/>
        </a:xfrm>
      </p:grpSpPr>
      <p:sp>
        <p:nvSpPr>
          <p:cNvPr id="35" name="Google Shape;35;p22"/>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2"/>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22"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master">
  <p:cSld name="Slide 9 master">
    <p:bg>
      <p:bgPr>
        <a:solidFill>
          <a:srgbClr val="000000"/>
        </a:solidFill>
        <a:effectLst/>
      </p:bgPr>
    </p:bg>
    <p:spTree>
      <p:nvGrpSpPr>
        <p:cNvPr id="1" name="Shape 38"/>
        <p:cNvGrpSpPr/>
        <p:nvPr/>
      </p:nvGrpSpPr>
      <p:grpSpPr>
        <a:xfrm>
          <a:off x="0" y="0"/>
          <a:ext cx="0" cy="0"/>
          <a:chOff x="0" y="0"/>
          <a:chExt cx="0" cy="0"/>
        </a:xfrm>
      </p:grpSpPr>
      <p:sp>
        <p:nvSpPr>
          <p:cNvPr id="39" name="Google Shape;39;p23"/>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3"/>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 name="Google Shape;41;p23"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0 master">
  <p:cSld name="Slide 10 master">
    <p:bg>
      <p:bgPr>
        <a:solidFill>
          <a:srgbClr val="000000"/>
        </a:solidFill>
        <a:effectLst/>
      </p:bgPr>
    </p:bg>
    <p:spTree>
      <p:nvGrpSpPr>
        <p:cNvPr id="1" name="Shape 42"/>
        <p:cNvGrpSpPr/>
        <p:nvPr/>
      </p:nvGrpSpPr>
      <p:grpSpPr>
        <a:xfrm>
          <a:off x="0" y="0"/>
          <a:ext cx="0" cy="0"/>
          <a:chOff x="0" y="0"/>
          <a:chExt cx="0" cy="0"/>
        </a:xfrm>
      </p:grpSpPr>
      <p:sp>
        <p:nvSpPr>
          <p:cNvPr id="43" name="Google Shape;43;p24"/>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4"/>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 name="Google Shape;45;p24"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4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48"/>
        <p:cNvGrpSpPr/>
        <p:nvPr/>
      </p:nvGrpSpPr>
      <p:grpSpPr>
        <a:xfrm>
          <a:off x="0" y="0"/>
          <a:ext cx="0" cy="0"/>
          <a:chOff x="0" y="0"/>
          <a:chExt cx="0" cy="0"/>
        </a:xfrm>
      </p:grpSpPr>
      <p:sp>
        <p:nvSpPr>
          <p:cNvPr id="49" name="Google Shape;49;g3d2590b0ab5_2_1"/>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g3d2590b0ab5_2_1"/>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 name="Google Shape;51;g3d2590b0ab5_2_1"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52"/>
        <p:cNvGrpSpPr/>
        <p:nvPr/>
      </p:nvGrpSpPr>
      <p:grpSpPr>
        <a:xfrm>
          <a:off x="0" y="0"/>
          <a:ext cx="0" cy="0"/>
          <a:chOff x="0" y="0"/>
          <a:chExt cx="0" cy="0"/>
        </a:xfrm>
      </p:grpSpPr>
      <p:sp>
        <p:nvSpPr>
          <p:cNvPr id="53" name="Google Shape;53;g3d2590b0ab5_2_5"/>
          <p:cNvSpPr/>
          <p:nvPr/>
        </p:nvSpPr>
        <p:spPr>
          <a:xfrm>
            <a:off x="0" y="0"/>
            <a:ext cx="14630400" cy="8229600"/>
          </a:xfrm>
          <a:prstGeom prst="rect">
            <a:avLst/>
          </a:prstGeom>
          <a:solidFill>
            <a:srgbClr val="0B101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g3d2590b0ab5_2_5"/>
          <p:cNvSpPr/>
          <p:nvPr/>
        </p:nvSpPr>
        <p:spPr>
          <a:xfrm>
            <a:off x="0" y="0"/>
            <a:ext cx="14630400" cy="8229600"/>
          </a:xfrm>
          <a:prstGeom prst="rect">
            <a:avLst/>
          </a:prstGeom>
          <a:solidFill>
            <a:srgbClr val="1C1D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 name="Google Shape;55;g3d2590b0ab5_2_5"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4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 descr="preencoded.png"/>
          <p:cNvPicPr preferRelativeResize="0"/>
          <p:nvPr/>
        </p:nvPicPr>
        <p:blipFill rotWithShape="1">
          <a:blip r:embed="rId3">
            <a:alphaModFix/>
          </a:blip>
          <a:srcRect/>
          <a:stretch/>
        </p:blipFill>
        <p:spPr>
          <a:xfrm>
            <a:off x="8869680" y="0"/>
            <a:ext cx="5760720" cy="8229600"/>
          </a:xfrm>
          <a:prstGeom prst="rect">
            <a:avLst/>
          </a:prstGeom>
          <a:noFill/>
          <a:ln>
            <a:noFill/>
          </a:ln>
        </p:spPr>
      </p:pic>
      <p:sp>
        <p:nvSpPr>
          <p:cNvPr id="63" name="Google Shape;63;p1"/>
          <p:cNvSpPr/>
          <p:nvPr/>
        </p:nvSpPr>
        <p:spPr>
          <a:xfrm>
            <a:off x="793790" y="3497104"/>
            <a:ext cx="6612850"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E1E5CD"/>
              </a:buClr>
              <a:buSzPts val="3900"/>
              <a:buFont typeface="Outfit"/>
              <a:buNone/>
            </a:pPr>
            <a:r>
              <a:rPr lang="en-US" sz="3900" b="1" i="0" u="none" strike="noStrike" cap="none" dirty="0">
                <a:solidFill>
                  <a:srgbClr val="E1E5CD"/>
                </a:solidFill>
                <a:latin typeface="Outfit"/>
                <a:ea typeface="Outfit"/>
                <a:cs typeface="Outfit"/>
                <a:sym typeface="Outfit"/>
              </a:rPr>
              <a:t>Kubernetes Node Affinity</a:t>
            </a:r>
            <a:endParaRPr sz="3900" b="0" i="0" u="none" strike="noStrike" cap="none" dirty="0">
              <a:solidFill>
                <a:schemeClr val="dk1"/>
              </a:solidFill>
              <a:latin typeface="Calibri"/>
              <a:ea typeface="Calibri"/>
              <a:cs typeface="Calibri"/>
              <a:sym typeface="Calibri"/>
            </a:endParaRPr>
          </a:p>
        </p:txBody>
      </p:sp>
      <p:sp>
        <p:nvSpPr>
          <p:cNvPr id="64" name="Google Shape;64;p1"/>
          <p:cNvSpPr/>
          <p:nvPr/>
        </p:nvSpPr>
        <p:spPr>
          <a:xfrm>
            <a:off x="793790" y="4414838"/>
            <a:ext cx="7556421" cy="31754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b="0" i="0" u="none" strike="noStrike" cap="none">
                <a:solidFill>
                  <a:srgbClr val="C2C4B5"/>
                </a:solidFill>
                <a:latin typeface="Bitter"/>
                <a:ea typeface="Bitter"/>
                <a:cs typeface="Bitter"/>
                <a:sym typeface="Bitter"/>
              </a:rPr>
              <a:t>A Comprehensive Guide for CKA Certification and Production Usage</a:t>
            </a:r>
            <a:endParaRPr sz="155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2"/>
          <p:cNvSpPr/>
          <p:nvPr/>
        </p:nvSpPr>
        <p:spPr>
          <a:xfrm>
            <a:off x="793789" y="546735"/>
            <a:ext cx="12321319" cy="589121"/>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E1E5CD"/>
              </a:buClr>
              <a:buSzPts val="3700"/>
              <a:buFont typeface="Outfit"/>
              <a:buNone/>
            </a:pPr>
            <a:r>
              <a:rPr lang="en-US" sz="3700" b="1" dirty="0">
                <a:solidFill>
                  <a:srgbClr val="E1E5CD"/>
                </a:solidFill>
                <a:latin typeface="Outfit"/>
                <a:ea typeface="Outfit"/>
                <a:cs typeface="Outfit"/>
                <a:sym typeface="Outfit"/>
              </a:rPr>
              <a:t>Why Node Affinity Exists: Limitations of Node Selector</a:t>
            </a:r>
            <a:endParaRPr sz="3700" dirty="0">
              <a:solidFill>
                <a:schemeClr val="dk1"/>
              </a:solidFill>
              <a:latin typeface="Calibri"/>
              <a:ea typeface="Calibri"/>
              <a:cs typeface="Calibri"/>
              <a:sym typeface="Calibri"/>
            </a:endParaRPr>
          </a:p>
        </p:txBody>
      </p:sp>
      <p:sp>
        <p:nvSpPr>
          <p:cNvPr id="71" name="Google Shape;71;p2"/>
          <p:cNvSpPr/>
          <p:nvPr/>
        </p:nvSpPr>
        <p:spPr>
          <a:xfrm>
            <a:off x="793790" y="1565672"/>
            <a:ext cx="7641669" cy="890230"/>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C2C4B5"/>
              </a:buClr>
              <a:buSzPts val="1450"/>
              <a:buFont typeface="Bitter"/>
              <a:buNone/>
            </a:pPr>
            <a:r>
              <a:rPr lang="en-US" sz="1450">
                <a:solidFill>
                  <a:srgbClr val="C2C4B5"/>
                </a:solidFill>
                <a:latin typeface="Bitter"/>
                <a:ea typeface="Bitter"/>
                <a:cs typeface="Bitter"/>
                <a:sym typeface="Bitter"/>
              </a:rPr>
              <a:t>In the early days of Kubernetes, the </a:t>
            </a:r>
            <a:r>
              <a:rPr lang="en-US" sz="1450">
                <a:solidFill>
                  <a:srgbClr val="C2C4B5"/>
                </a:solidFill>
                <a:highlight>
                  <a:srgbClr val="292A2C"/>
                </a:highlight>
                <a:latin typeface="Consolas"/>
                <a:ea typeface="Consolas"/>
                <a:cs typeface="Consolas"/>
                <a:sym typeface="Consolas"/>
              </a:rPr>
              <a:t>nodeSelector</a:t>
            </a:r>
            <a:r>
              <a:rPr lang="en-US" sz="1450">
                <a:solidFill>
                  <a:srgbClr val="C2C4B5"/>
                </a:solidFill>
                <a:latin typeface="Bitter"/>
                <a:ea typeface="Bitter"/>
                <a:cs typeface="Bitter"/>
                <a:sym typeface="Bitter"/>
              </a:rPr>
              <a:t> field provided a simple way to constrain pods to specific nodes. However, this basic mechanism quickly revealed its limitations in complex production environments.</a:t>
            </a:r>
            <a:endParaRPr sz="1450">
              <a:solidFill>
                <a:schemeClr val="dk1"/>
              </a:solidFill>
              <a:latin typeface="Calibri"/>
              <a:ea typeface="Calibri"/>
              <a:cs typeface="Calibri"/>
              <a:sym typeface="Calibri"/>
            </a:endParaRPr>
          </a:p>
        </p:txBody>
      </p:sp>
      <p:sp>
        <p:nvSpPr>
          <p:cNvPr id="72" name="Google Shape;72;p2"/>
          <p:cNvSpPr/>
          <p:nvPr/>
        </p:nvSpPr>
        <p:spPr>
          <a:xfrm>
            <a:off x="793790" y="2634972"/>
            <a:ext cx="3752084" cy="250746"/>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E1E5CD"/>
              </a:buClr>
              <a:buSzPts val="1850"/>
              <a:buFont typeface="Outfit"/>
              <a:buNone/>
            </a:pPr>
            <a:r>
              <a:rPr lang="en-US" sz="1850" b="1" dirty="0">
                <a:solidFill>
                  <a:srgbClr val="E1E5CD"/>
                </a:solidFill>
                <a:latin typeface="Outfit"/>
                <a:ea typeface="Outfit"/>
                <a:cs typeface="Outfit"/>
                <a:sym typeface="Outfit"/>
              </a:rPr>
              <a:t>Key Limitations of </a:t>
            </a:r>
            <a:r>
              <a:rPr lang="en-US" sz="1850" b="1" dirty="0" err="1">
                <a:solidFill>
                  <a:srgbClr val="E1E5CD"/>
                </a:solidFill>
                <a:latin typeface="Outfit"/>
                <a:ea typeface="Outfit"/>
                <a:cs typeface="Outfit"/>
                <a:sym typeface="Outfit"/>
              </a:rPr>
              <a:t>nodeSelector</a:t>
            </a:r>
            <a:endParaRPr sz="1850" dirty="0">
              <a:solidFill>
                <a:schemeClr val="dk1"/>
              </a:solidFill>
              <a:latin typeface="Calibri"/>
              <a:ea typeface="Calibri"/>
              <a:cs typeface="Calibri"/>
              <a:sym typeface="Calibri"/>
            </a:endParaRPr>
          </a:p>
        </p:txBody>
      </p:sp>
      <p:sp>
        <p:nvSpPr>
          <p:cNvPr id="73" name="Google Shape;73;p2"/>
          <p:cNvSpPr/>
          <p:nvPr/>
        </p:nvSpPr>
        <p:spPr>
          <a:xfrm>
            <a:off x="793790" y="3108722"/>
            <a:ext cx="7641669" cy="2015728"/>
          </a:xfrm>
          <a:prstGeom prst="rect">
            <a:avLst/>
          </a:prstGeom>
          <a:noFill/>
          <a:ln>
            <a:noFill/>
          </a:ln>
        </p:spPr>
        <p:txBody>
          <a:bodyPr spcFirstLastPara="1" wrap="square" lIns="0" tIns="0" rIns="0" bIns="0" anchor="t" anchorCtr="0">
            <a:noAutofit/>
          </a:bodyPr>
          <a:lstStyle/>
          <a:p>
            <a:pPr marL="342900" marR="0" lvl="0" indent="-342900" algn="l" rtl="0">
              <a:lnSpc>
                <a:spcPct val="158620"/>
              </a:lnSpc>
              <a:spcBef>
                <a:spcPts val="0"/>
              </a:spcBef>
              <a:spcAft>
                <a:spcPts val="0"/>
              </a:spcAft>
              <a:buClr>
                <a:srgbClr val="C2C4B5"/>
              </a:buClr>
              <a:buSzPts val="1450"/>
              <a:buFont typeface="Bitter"/>
              <a:buChar char="•"/>
            </a:pPr>
            <a:r>
              <a:rPr lang="en-US" sz="1450">
                <a:solidFill>
                  <a:srgbClr val="C2C4B5"/>
                </a:solidFill>
                <a:latin typeface="Bitter"/>
                <a:ea typeface="Bitter"/>
                <a:cs typeface="Bitter"/>
                <a:sym typeface="Bitter"/>
              </a:rPr>
              <a:t>Only supports exact equality matching - you can't express ranges or more complex conditions</a:t>
            </a:r>
            <a:endParaRPr sz="1450">
              <a:solidFill>
                <a:schemeClr val="dk1"/>
              </a:solidFill>
              <a:latin typeface="Calibri"/>
              <a:ea typeface="Calibri"/>
              <a:cs typeface="Calibri"/>
              <a:sym typeface="Calibri"/>
            </a:endParaRPr>
          </a:p>
          <a:p>
            <a:pPr marL="342900" marR="0" lvl="0" indent="-342900" algn="l" rtl="0">
              <a:lnSpc>
                <a:spcPct val="158620"/>
              </a:lnSpc>
              <a:spcBef>
                <a:spcPts val="0"/>
              </a:spcBef>
              <a:spcAft>
                <a:spcPts val="0"/>
              </a:spcAft>
              <a:buClr>
                <a:srgbClr val="C2C4B5"/>
              </a:buClr>
              <a:buSzPts val="1450"/>
              <a:buFont typeface="Bitter"/>
              <a:buChar char="•"/>
            </a:pPr>
            <a:r>
              <a:rPr lang="en-US" sz="1450">
                <a:solidFill>
                  <a:srgbClr val="C2C4B5"/>
                </a:solidFill>
                <a:latin typeface="Bitter"/>
                <a:ea typeface="Bitter"/>
                <a:cs typeface="Bitter"/>
                <a:sym typeface="Bitter"/>
              </a:rPr>
              <a:t>No support for logical operators like AND/OR combinations</a:t>
            </a:r>
            <a:endParaRPr sz="1450">
              <a:solidFill>
                <a:schemeClr val="dk1"/>
              </a:solidFill>
              <a:latin typeface="Calibri"/>
              <a:ea typeface="Calibri"/>
              <a:cs typeface="Calibri"/>
              <a:sym typeface="Calibri"/>
            </a:endParaRPr>
          </a:p>
          <a:p>
            <a:pPr marL="342900" marR="0" lvl="0" indent="-342900" algn="l" rtl="0">
              <a:lnSpc>
                <a:spcPct val="158620"/>
              </a:lnSpc>
              <a:spcBef>
                <a:spcPts val="0"/>
              </a:spcBef>
              <a:spcAft>
                <a:spcPts val="0"/>
              </a:spcAft>
              <a:buClr>
                <a:srgbClr val="C2C4B5"/>
              </a:buClr>
              <a:buSzPts val="1450"/>
              <a:buFont typeface="Bitter"/>
              <a:buChar char="•"/>
            </a:pPr>
            <a:r>
              <a:rPr lang="en-US" sz="1450">
                <a:solidFill>
                  <a:srgbClr val="C2C4B5"/>
                </a:solidFill>
                <a:latin typeface="Bitter"/>
                <a:ea typeface="Bitter"/>
                <a:cs typeface="Bitter"/>
                <a:sym typeface="Bitter"/>
              </a:rPr>
              <a:t>Cannot express preferences, only hard requirements</a:t>
            </a:r>
            <a:endParaRPr sz="1450">
              <a:solidFill>
                <a:schemeClr val="dk1"/>
              </a:solidFill>
              <a:latin typeface="Calibri"/>
              <a:ea typeface="Calibri"/>
              <a:cs typeface="Calibri"/>
              <a:sym typeface="Calibri"/>
            </a:endParaRPr>
          </a:p>
          <a:p>
            <a:pPr marL="342900" marR="0" lvl="0" indent="-342900" algn="l" rtl="0">
              <a:lnSpc>
                <a:spcPct val="158620"/>
              </a:lnSpc>
              <a:spcBef>
                <a:spcPts val="0"/>
              </a:spcBef>
              <a:spcAft>
                <a:spcPts val="0"/>
              </a:spcAft>
              <a:buClr>
                <a:srgbClr val="C2C4B5"/>
              </a:buClr>
              <a:buSzPts val="1450"/>
              <a:buFont typeface="Bitter"/>
              <a:buChar char="•"/>
            </a:pPr>
            <a:r>
              <a:rPr lang="en-US" sz="1450">
                <a:solidFill>
                  <a:srgbClr val="C2C4B5"/>
                </a:solidFill>
                <a:latin typeface="Bitter"/>
                <a:ea typeface="Bitter"/>
                <a:cs typeface="Bitter"/>
                <a:sym typeface="Bitter"/>
              </a:rPr>
              <a:t>Doesn't support set-based matching operations</a:t>
            </a:r>
            <a:endParaRPr sz="1450">
              <a:solidFill>
                <a:schemeClr val="dk1"/>
              </a:solidFill>
              <a:latin typeface="Calibri"/>
              <a:ea typeface="Calibri"/>
              <a:cs typeface="Calibri"/>
              <a:sym typeface="Calibri"/>
            </a:endParaRPr>
          </a:p>
          <a:p>
            <a:pPr marL="342900" marR="0" lvl="0" indent="-342900" algn="l" rtl="0">
              <a:lnSpc>
                <a:spcPct val="158620"/>
              </a:lnSpc>
              <a:spcBef>
                <a:spcPts val="0"/>
              </a:spcBef>
              <a:spcAft>
                <a:spcPts val="0"/>
              </a:spcAft>
              <a:buClr>
                <a:srgbClr val="C2C4B5"/>
              </a:buClr>
              <a:buSzPts val="1450"/>
              <a:buFont typeface="Bitter"/>
              <a:buChar char="•"/>
            </a:pPr>
            <a:r>
              <a:rPr lang="en-US" sz="1450">
                <a:solidFill>
                  <a:srgbClr val="C2C4B5"/>
                </a:solidFill>
                <a:latin typeface="Bitter"/>
                <a:ea typeface="Bitter"/>
                <a:cs typeface="Bitter"/>
                <a:sym typeface="Bitter"/>
              </a:rPr>
              <a:t>No fine-grained control over scheduling behavior</a:t>
            </a:r>
            <a:endParaRPr sz="1450">
              <a:solidFill>
                <a:schemeClr val="dk1"/>
              </a:solidFill>
              <a:latin typeface="Calibri"/>
              <a:ea typeface="Calibri"/>
              <a:cs typeface="Calibri"/>
              <a:sym typeface="Calibri"/>
            </a:endParaRPr>
          </a:p>
        </p:txBody>
      </p:sp>
      <p:sp>
        <p:nvSpPr>
          <p:cNvPr id="74" name="Google Shape;74;p2"/>
          <p:cNvSpPr/>
          <p:nvPr/>
        </p:nvSpPr>
        <p:spPr>
          <a:xfrm>
            <a:off x="793790" y="5285661"/>
            <a:ext cx="7641669" cy="1184434"/>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C2C4B5"/>
              </a:buClr>
              <a:buSzPts val="1450"/>
              <a:buFont typeface="Bitter"/>
              <a:buNone/>
            </a:pPr>
            <a:r>
              <a:rPr lang="en-US" sz="1450">
                <a:solidFill>
                  <a:srgbClr val="C2C4B5"/>
                </a:solidFill>
                <a:latin typeface="Bitter"/>
                <a:ea typeface="Bitter"/>
                <a:cs typeface="Bitter"/>
                <a:sym typeface="Bitter"/>
              </a:rPr>
              <a:t>These constraints meant that </a:t>
            </a:r>
            <a:r>
              <a:rPr lang="en-US" sz="1450">
                <a:solidFill>
                  <a:srgbClr val="C2C4B5"/>
                </a:solidFill>
                <a:highlight>
                  <a:srgbClr val="292A2C"/>
                </a:highlight>
                <a:latin typeface="Consolas"/>
                <a:ea typeface="Consolas"/>
                <a:cs typeface="Consolas"/>
                <a:sym typeface="Consolas"/>
              </a:rPr>
              <a:t>nodeSelector</a:t>
            </a:r>
            <a:r>
              <a:rPr lang="en-US" sz="1450">
                <a:solidFill>
                  <a:srgbClr val="C2C4B5"/>
                </a:solidFill>
                <a:latin typeface="Bitter"/>
                <a:ea typeface="Bitter"/>
                <a:cs typeface="Bitter"/>
                <a:sym typeface="Bitter"/>
              </a:rPr>
              <a:t> was insufficient for sophisticated scheduling requirements. For example, you couldn't express "schedule this pod on nodes with SSD storage OR nodes with high CPU capacity" or "prefer nodes in availability zone A but fall back to zone B if necessary".</a:t>
            </a:r>
            <a:endParaRPr sz="1450">
              <a:solidFill>
                <a:schemeClr val="dk1"/>
              </a:solidFill>
              <a:latin typeface="Calibri"/>
              <a:ea typeface="Calibri"/>
              <a:cs typeface="Calibri"/>
              <a:sym typeface="Calibri"/>
            </a:endParaRPr>
          </a:p>
        </p:txBody>
      </p:sp>
      <p:sp>
        <p:nvSpPr>
          <p:cNvPr id="75" name="Google Shape;75;p2"/>
          <p:cNvSpPr/>
          <p:nvPr/>
        </p:nvSpPr>
        <p:spPr>
          <a:xfrm>
            <a:off x="793790" y="6631305"/>
            <a:ext cx="7641669" cy="890230"/>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9FA582"/>
              </a:buClr>
              <a:buSzPts val="1450"/>
              <a:buFont typeface="Bitter"/>
              <a:buNone/>
            </a:pPr>
            <a:r>
              <a:rPr lang="en-US" sz="1450" b="1">
                <a:solidFill>
                  <a:srgbClr val="9FA582"/>
                </a:solidFill>
                <a:latin typeface="Bitter"/>
                <a:ea typeface="Bitter"/>
                <a:cs typeface="Bitter"/>
                <a:sym typeface="Bitter"/>
              </a:rPr>
              <a:t>Node Affinity was introduced to overcome these limitations</a:t>
            </a:r>
            <a:r>
              <a:rPr lang="en-US" sz="1450">
                <a:solidFill>
                  <a:srgbClr val="C2C4B5"/>
                </a:solidFill>
                <a:latin typeface="Bitter"/>
                <a:ea typeface="Bitter"/>
                <a:cs typeface="Bitter"/>
                <a:sym typeface="Bitter"/>
              </a:rPr>
              <a:t>, providing flexible, powerful scheduling constraints that can handle real-world complexity while maintaining backward compatibility with existing </a:t>
            </a:r>
            <a:r>
              <a:rPr lang="en-US" sz="1450">
                <a:solidFill>
                  <a:srgbClr val="C2C4B5"/>
                </a:solidFill>
                <a:highlight>
                  <a:srgbClr val="292A2C"/>
                </a:highlight>
                <a:latin typeface="Consolas"/>
                <a:ea typeface="Consolas"/>
                <a:cs typeface="Consolas"/>
                <a:sym typeface="Consolas"/>
              </a:rPr>
              <a:t>nodeSelector</a:t>
            </a:r>
            <a:r>
              <a:rPr lang="en-US" sz="1450">
                <a:solidFill>
                  <a:srgbClr val="C2C4B5"/>
                </a:solidFill>
                <a:latin typeface="Bitter"/>
                <a:ea typeface="Bitter"/>
                <a:cs typeface="Bitter"/>
                <a:sym typeface="Bitter"/>
              </a:rPr>
              <a:t> configurations.</a:t>
            </a:r>
            <a:endParaRPr sz="1450">
              <a:solidFill>
                <a:schemeClr val="dk1"/>
              </a:solidFill>
              <a:latin typeface="Calibri"/>
              <a:ea typeface="Calibri"/>
              <a:cs typeface="Calibri"/>
              <a:sym typeface="Calibri"/>
            </a:endParaRPr>
          </a:p>
        </p:txBody>
      </p:sp>
      <p:sp>
        <p:nvSpPr>
          <p:cNvPr id="76" name="Google Shape;76;p2"/>
          <p:cNvSpPr/>
          <p:nvPr/>
        </p:nvSpPr>
        <p:spPr>
          <a:xfrm>
            <a:off x="8767286" y="1404461"/>
            <a:ext cx="5212794" cy="6278285"/>
          </a:xfrm>
          <a:prstGeom prst="roundRect">
            <a:avLst>
              <a:gd name="adj" fmla="val 543"/>
            </a:avLst>
          </a:prstGeom>
          <a:solidFill>
            <a:srgbClr val="9F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8955761" y="1583531"/>
            <a:ext cx="3584581" cy="29752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000000"/>
              </a:buClr>
              <a:buSzPts val="1850"/>
              <a:buFont typeface="Outfit"/>
              <a:buNone/>
            </a:pPr>
            <a:r>
              <a:rPr lang="en-US" sz="1850" b="1" dirty="0">
                <a:solidFill>
                  <a:srgbClr val="000000"/>
                </a:solidFill>
                <a:latin typeface="Outfit"/>
                <a:ea typeface="Outfit"/>
                <a:cs typeface="Outfit"/>
                <a:sym typeface="Outfit"/>
              </a:rPr>
              <a:t>When </a:t>
            </a:r>
            <a:r>
              <a:rPr lang="en-US" sz="1850" b="1" dirty="0" err="1">
                <a:solidFill>
                  <a:srgbClr val="000000"/>
                </a:solidFill>
                <a:latin typeface="Outfit"/>
                <a:ea typeface="Outfit"/>
                <a:cs typeface="Outfit"/>
                <a:sym typeface="Outfit"/>
              </a:rPr>
              <a:t>nodeSelector</a:t>
            </a:r>
            <a:r>
              <a:rPr lang="en-US" sz="1850" b="1" dirty="0">
                <a:solidFill>
                  <a:srgbClr val="000000"/>
                </a:solidFill>
                <a:latin typeface="Outfit"/>
                <a:ea typeface="Outfit"/>
                <a:cs typeface="Outfit"/>
                <a:sym typeface="Outfit"/>
              </a:rPr>
              <a:t> Falls Short</a:t>
            </a:r>
            <a:endParaRPr sz="1850" dirty="0">
              <a:solidFill>
                <a:schemeClr val="dk1"/>
              </a:solidFill>
              <a:latin typeface="Calibri"/>
              <a:ea typeface="Calibri"/>
              <a:cs typeface="Calibri"/>
              <a:sym typeface="Calibri"/>
            </a:endParaRPr>
          </a:p>
        </p:txBody>
      </p:sp>
      <p:sp>
        <p:nvSpPr>
          <p:cNvPr id="78" name="Google Shape;78;p2"/>
          <p:cNvSpPr/>
          <p:nvPr/>
        </p:nvSpPr>
        <p:spPr>
          <a:xfrm>
            <a:off x="8955762" y="2057281"/>
            <a:ext cx="4835843" cy="588407"/>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000000"/>
              </a:buClr>
              <a:buSzPts val="1450"/>
              <a:buFont typeface="Bitter"/>
              <a:buNone/>
            </a:pPr>
            <a:r>
              <a:rPr lang="en-US" sz="1450">
                <a:solidFill>
                  <a:srgbClr val="000000"/>
                </a:solidFill>
                <a:latin typeface="Bitter"/>
                <a:ea typeface="Bitter"/>
                <a:cs typeface="Bitter"/>
                <a:sym typeface="Bitter"/>
              </a:rPr>
              <a:t>Need complex logic? Node Affinity provides the flexibility</a:t>
            </a:r>
            <a:endParaRPr sz="14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g3d2590b0ab5_2_10" descr="preencoded.png"/>
          <p:cNvPicPr preferRelativeResize="0"/>
          <p:nvPr/>
        </p:nvPicPr>
        <p:blipFill rotWithShape="1">
          <a:blip r:embed="rId3">
            <a:alphaModFix/>
          </a:blip>
          <a:srcRect/>
          <a:stretch/>
        </p:blipFill>
        <p:spPr>
          <a:xfrm>
            <a:off x="0" y="0"/>
            <a:ext cx="5760720" cy="8229600"/>
          </a:xfrm>
          <a:prstGeom prst="rect">
            <a:avLst/>
          </a:prstGeom>
          <a:noFill/>
          <a:ln>
            <a:noFill/>
          </a:ln>
        </p:spPr>
      </p:pic>
      <p:sp>
        <p:nvSpPr>
          <p:cNvPr id="85" name="Google Shape;85;g3d2590b0ab5_2_10"/>
          <p:cNvSpPr/>
          <p:nvPr/>
        </p:nvSpPr>
        <p:spPr>
          <a:xfrm>
            <a:off x="6052304" y="1186101"/>
            <a:ext cx="4683323" cy="505182"/>
          </a:xfrm>
          <a:prstGeom prst="rect">
            <a:avLst/>
          </a:prstGeom>
          <a:noFill/>
          <a:ln>
            <a:noFill/>
          </a:ln>
        </p:spPr>
        <p:txBody>
          <a:bodyPr spcFirstLastPara="1" wrap="square" lIns="0" tIns="0" rIns="0" bIns="0" anchor="t" anchorCtr="0">
            <a:noAutofit/>
          </a:bodyPr>
          <a:lstStyle/>
          <a:p>
            <a:pPr marL="0" marR="0" lvl="0" indent="0" algn="l" rtl="0">
              <a:lnSpc>
                <a:spcPct val="125396"/>
              </a:lnSpc>
              <a:spcBef>
                <a:spcPts val="0"/>
              </a:spcBef>
              <a:spcAft>
                <a:spcPts val="0"/>
              </a:spcAft>
              <a:buClr>
                <a:srgbClr val="E1E5CD"/>
              </a:buClr>
              <a:buSzPts val="3150"/>
              <a:buFont typeface="Outfit"/>
              <a:buNone/>
            </a:pPr>
            <a:r>
              <a:rPr lang="en-US" sz="3150" b="1" i="0" u="none" strike="noStrike" cap="none">
                <a:solidFill>
                  <a:srgbClr val="E1E5CD"/>
                </a:solidFill>
                <a:latin typeface="Outfit"/>
                <a:ea typeface="Outfit"/>
                <a:cs typeface="Outfit"/>
                <a:sym typeface="Outfit"/>
              </a:rPr>
              <a:t>Equality-Based Matching</a:t>
            </a:r>
            <a:endParaRPr sz="3150" b="0" i="0" u="none" strike="noStrike" cap="none"/>
          </a:p>
        </p:txBody>
      </p:sp>
      <p:sp>
        <p:nvSpPr>
          <p:cNvPr id="86" name="Google Shape;86;g3d2590b0ab5_2_10"/>
          <p:cNvSpPr/>
          <p:nvPr/>
        </p:nvSpPr>
        <p:spPr>
          <a:xfrm>
            <a:off x="6052304" y="1864162"/>
            <a:ext cx="8012192" cy="221456"/>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C2C4B5"/>
              </a:buClr>
              <a:buSzPts val="1250"/>
              <a:buFont typeface="Bitter"/>
              <a:buNone/>
            </a:pPr>
            <a:r>
              <a:rPr lang="en-US" sz="1250" b="0" i="0" u="none" strike="noStrike" cap="none">
                <a:solidFill>
                  <a:srgbClr val="C2C4B5"/>
                </a:solidFill>
                <a:latin typeface="Bitter"/>
                <a:ea typeface="Bitter"/>
                <a:cs typeface="Bitter"/>
                <a:sym typeface="Bitter"/>
              </a:rPr>
              <a:t>A pod is scheduled only when a node's label value matches the requested value exactly.</a:t>
            </a:r>
            <a:endParaRPr sz="1250" b="0" i="0" u="none" strike="noStrike" cap="none"/>
          </a:p>
        </p:txBody>
      </p:sp>
      <p:sp>
        <p:nvSpPr>
          <p:cNvPr id="87" name="Google Shape;87;g3d2590b0ab5_2_10"/>
          <p:cNvSpPr/>
          <p:nvPr/>
        </p:nvSpPr>
        <p:spPr>
          <a:xfrm>
            <a:off x="6052304" y="2215277"/>
            <a:ext cx="8012192" cy="664369"/>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C2C4B5"/>
              </a:buClr>
              <a:buSzPts val="1250"/>
              <a:buFont typeface="Bitter"/>
              <a:buNone/>
            </a:pPr>
            <a:r>
              <a:rPr lang="en-US" sz="1250" b="0" i="0" u="none" strike="noStrike" cap="none">
                <a:solidFill>
                  <a:srgbClr val="C2C4B5"/>
                </a:solidFill>
                <a:latin typeface="Bitter"/>
                <a:ea typeface="Bitter"/>
                <a:cs typeface="Bitter"/>
                <a:sym typeface="Bitter"/>
              </a:rPr>
              <a:t>Equality-based matching is used to place workloads on nodes with a precise label value, so scheduling decisions stay narrow and intentional. This makes it useful when you need strict placement rules rather than flexible selection.</a:t>
            </a:r>
            <a:endParaRPr sz="1250" b="0" i="0" u="none" strike="noStrike" cap="none"/>
          </a:p>
        </p:txBody>
      </p:sp>
      <p:sp>
        <p:nvSpPr>
          <p:cNvPr id="88" name="Google Shape;88;g3d2590b0ab5_2_10"/>
          <p:cNvSpPr/>
          <p:nvPr/>
        </p:nvSpPr>
        <p:spPr>
          <a:xfrm>
            <a:off x="6052304" y="3052524"/>
            <a:ext cx="3233976" cy="404217"/>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E1E5CD"/>
              </a:buClr>
              <a:buSzPts val="2500"/>
              <a:buFont typeface="Outfit"/>
              <a:buNone/>
            </a:pPr>
            <a:r>
              <a:rPr lang="en-US" sz="2500" b="1" i="0" u="none" strike="noStrike" cap="none">
                <a:solidFill>
                  <a:srgbClr val="E1E5CD"/>
                </a:solidFill>
                <a:latin typeface="Outfit"/>
                <a:ea typeface="Outfit"/>
                <a:cs typeface="Outfit"/>
                <a:sym typeface="Outfit"/>
              </a:rPr>
              <a:t>Operators used</a:t>
            </a:r>
            <a:endParaRPr sz="2500" b="0" i="0" u="none" strike="noStrike" cap="none"/>
          </a:p>
        </p:txBody>
      </p:sp>
      <p:sp>
        <p:nvSpPr>
          <p:cNvPr id="89" name="Google Shape;89;g3d2590b0ab5_2_10"/>
          <p:cNvSpPr/>
          <p:nvPr/>
        </p:nvSpPr>
        <p:spPr>
          <a:xfrm>
            <a:off x="6052304" y="3629620"/>
            <a:ext cx="8012192" cy="483156"/>
          </a:xfrm>
          <a:prstGeom prst="rect">
            <a:avLst/>
          </a:prstGeom>
          <a:noFill/>
          <a:ln>
            <a:noFill/>
          </a:ln>
        </p:spPr>
        <p:txBody>
          <a:bodyPr spcFirstLastPara="1" wrap="square" lIns="0" tIns="0" rIns="0" bIns="0" anchor="t" anchorCtr="0">
            <a:noAutofit/>
          </a:bodyPr>
          <a:lstStyle/>
          <a:p>
            <a:pPr marL="342900" marR="0" lvl="0" indent="-342900" algn="l" rtl="0">
              <a:lnSpc>
                <a:spcPct val="136000"/>
              </a:lnSpc>
              <a:spcBef>
                <a:spcPts val="0"/>
              </a:spcBef>
              <a:spcAft>
                <a:spcPts val="0"/>
              </a:spcAft>
              <a:buClr>
                <a:srgbClr val="C2C4B5"/>
              </a:buClr>
              <a:buSzPts val="1250"/>
              <a:buFont typeface="Bitter"/>
              <a:buChar char="•"/>
            </a:pPr>
            <a:r>
              <a:rPr lang="en-US" sz="1250" b="0" i="0" u="none" strike="noStrike" cap="none">
                <a:solidFill>
                  <a:srgbClr val="C2C4B5"/>
                </a:solidFill>
                <a:latin typeface="Bitter"/>
                <a:ea typeface="Bitter"/>
                <a:cs typeface="Bitter"/>
                <a:sym typeface="Bitter"/>
              </a:rPr>
              <a:t>In</a:t>
            </a:r>
            <a:endParaRPr sz="1250" b="0" i="0" u="none" strike="noStrike" cap="none"/>
          </a:p>
          <a:p>
            <a:pPr marL="342900" marR="0" lvl="0" indent="-342900" algn="l" rtl="0">
              <a:lnSpc>
                <a:spcPct val="136000"/>
              </a:lnSpc>
              <a:spcBef>
                <a:spcPts val="0"/>
              </a:spcBef>
              <a:spcAft>
                <a:spcPts val="0"/>
              </a:spcAft>
              <a:buClr>
                <a:srgbClr val="C2C4B5"/>
              </a:buClr>
              <a:buSzPts val="1250"/>
              <a:buFont typeface="Bitter"/>
              <a:buChar char="•"/>
            </a:pPr>
            <a:r>
              <a:rPr lang="en-US" sz="1250" b="0" i="0" u="none" strike="noStrike" cap="none">
                <a:solidFill>
                  <a:srgbClr val="C2C4B5"/>
                </a:solidFill>
                <a:latin typeface="Bitter"/>
                <a:ea typeface="Bitter"/>
                <a:cs typeface="Bitter"/>
                <a:sym typeface="Bitter"/>
              </a:rPr>
              <a:t>NotIn</a:t>
            </a:r>
            <a:endParaRPr sz="1250" b="0" i="0" u="none" strike="noStrike" cap="none"/>
          </a:p>
        </p:txBody>
      </p:sp>
      <p:sp>
        <p:nvSpPr>
          <p:cNvPr id="90" name="Google Shape;90;g3d2590b0ab5_2_10"/>
          <p:cNvSpPr/>
          <p:nvPr/>
        </p:nvSpPr>
        <p:spPr>
          <a:xfrm>
            <a:off x="6052304" y="4285655"/>
            <a:ext cx="3233976" cy="404217"/>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E1E5CD"/>
              </a:buClr>
              <a:buSzPts val="2500"/>
              <a:buFont typeface="Outfit"/>
              <a:buNone/>
            </a:pPr>
            <a:r>
              <a:rPr lang="en-US" sz="2500" b="1" i="0" u="none" strike="noStrike" cap="none">
                <a:solidFill>
                  <a:srgbClr val="E1E5CD"/>
                </a:solidFill>
                <a:latin typeface="Outfit"/>
                <a:ea typeface="Outfit"/>
                <a:cs typeface="Outfit"/>
                <a:sym typeface="Outfit"/>
              </a:rPr>
              <a:t>Example</a:t>
            </a:r>
            <a:endParaRPr sz="2500" b="0" i="0" u="none" strike="noStrike" cap="none"/>
          </a:p>
        </p:txBody>
      </p:sp>
      <p:sp>
        <p:nvSpPr>
          <p:cNvPr id="91" name="Google Shape;91;g3d2590b0ab5_2_10"/>
          <p:cNvSpPr/>
          <p:nvPr/>
        </p:nvSpPr>
        <p:spPr>
          <a:xfrm>
            <a:off x="6052304" y="4862751"/>
            <a:ext cx="8012192" cy="1209199"/>
          </a:xfrm>
          <a:prstGeom prst="roundRect">
            <a:avLst>
              <a:gd name="adj" fmla="val 2006"/>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g3d2590b0ab5_2_10"/>
          <p:cNvSpPr/>
          <p:nvPr/>
        </p:nvSpPr>
        <p:spPr>
          <a:xfrm>
            <a:off x="6044327" y="4862751"/>
            <a:ext cx="8028146" cy="1209199"/>
          </a:xfrm>
          <a:prstGeom prst="roundRect">
            <a:avLst>
              <a:gd name="adj" fmla="val 2006"/>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g3d2590b0ab5_2_10"/>
          <p:cNvSpPr/>
          <p:nvPr/>
        </p:nvSpPr>
        <p:spPr>
          <a:xfrm>
            <a:off x="6246376" y="5024438"/>
            <a:ext cx="7624048" cy="885825"/>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F2CC60"/>
              </a:buClr>
              <a:buSzPts val="1250"/>
              <a:buFont typeface="Consolas"/>
              <a:buNone/>
            </a:pPr>
            <a:r>
              <a:rPr lang="en-US" sz="1250" b="0" i="0" u="none" strike="noStrike" cap="none">
                <a:solidFill>
                  <a:srgbClr val="F2CC60"/>
                </a:solidFill>
                <a:highlight>
                  <a:srgbClr val="292A2C"/>
                </a:highlight>
                <a:latin typeface="Consolas"/>
                <a:ea typeface="Consolas"/>
                <a:cs typeface="Consolas"/>
                <a:sym typeface="Consolas"/>
              </a:rPr>
              <a:t>- key: disktype</a:t>
            </a:r>
            <a:endParaRPr sz="1250" b="0" i="0" u="none" strike="noStrike" cap="none"/>
          </a:p>
          <a:p>
            <a:pPr marL="0" marR="0" lvl="0" indent="0" algn="l" rtl="0">
              <a:lnSpc>
                <a:spcPct val="136000"/>
              </a:lnSpc>
              <a:spcBef>
                <a:spcPts val="0"/>
              </a:spcBef>
              <a:spcAft>
                <a:spcPts val="0"/>
              </a:spcAft>
              <a:buClr>
                <a:srgbClr val="F2CC60"/>
              </a:buClr>
              <a:buSzPts val="1250"/>
              <a:buFont typeface="Consolas"/>
              <a:buNone/>
            </a:pPr>
            <a:r>
              <a:rPr lang="en-US" sz="1250" b="0" i="0" u="none" strike="noStrike" cap="none">
                <a:solidFill>
                  <a:srgbClr val="F2CC60"/>
                </a:solidFill>
                <a:highlight>
                  <a:srgbClr val="292A2C"/>
                </a:highlight>
                <a:latin typeface="Consolas"/>
                <a:ea typeface="Consolas"/>
                <a:cs typeface="Consolas"/>
                <a:sym typeface="Consolas"/>
              </a:rPr>
              <a:t>  operator: In</a:t>
            </a:r>
            <a:endParaRPr sz="1250" b="0" i="0" u="none" strike="noStrike" cap="none"/>
          </a:p>
          <a:p>
            <a:pPr marL="0" marR="0" lvl="0" indent="0" algn="l" rtl="0">
              <a:lnSpc>
                <a:spcPct val="136000"/>
              </a:lnSpc>
              <a:spcBef>
                <a:spcPts val="0"/>
              </a:spcBef>
              <a:spcAft>
                <a:spcPts val="0"/>
              </a:spcAft>
              <a:buClr>
                <a:srgbClr val="F2CC60"/>
              </a:buClr>
              <a:buSzPts val="1250"/>
              <a:buFont typeface="Consolas"/>
              <a:buNone/>
            </a:pPr>
            <a:r>
              <a:rPr lang="en-US" sz="1250" b="0" i="0" u="none" strike="noStrike" cap="none">
                <a:solidFill>
                  <a:srgbClr val="F2CC60"/>
                </a:solidFill>
                <a:highlight>
                  <a:srgbClr val="292A2C"/>
                </a:highlight>
                <a:latin typeface="Consolas"/>
                <a:ea typeface="Consolas"/>
                <a:cs typeface="Consolas"/>
                <a:sym typeface="Consolas"/>
              </a:rPr>
              <a:t>  values:</a:t>
            </a:r>
            <a:endParaRPr sz="1250" b="0" i="0" u="none" strike="noStrike" cap="none"/>
          </a:p>
          <a:p>
            <a:pPr marL="0" marR="0" lvl="0" indent="0" algn="l" rtl="0">
              <a:lnSpc>
                <a:spcPct val="136000"/>
              </a:lnSpc>
              <a:spcBef>
                <a:spcPts val="0"/>
              </a:spcBef>
              <a:spcAft>
                <a:spcPts val="0"/>
              </a:spcAft>
              <a:buClr>
                <a:srgbClr val="F2CC60"/>
              </a:buClr>
              <a:buSzPts val="1250"/>
              <a:buFont typeface="Consolas"/>
              <a:buNone/>
            </a:pPr>
            <a:r>
              <a:rPr lang="en-US" sz="1250" b="0" i="0" u="none" strike="noStrike" cap="none">
                <a:solidFill>
                  <a:srgbClr val="F2CC60"/>
                </a:solidFill>
                <a:highlight>
                  <a:srgbClr val="292A2C"/>
                </a:highlight>
                <a:latin typeface="Consolas"/>
                <a:ea typeface="Consolas"/>
                <a:cs typeface="Consolas"/>
                <a:sym typeface="Consolas"/>
              </a:rPr>
              <a:t>  - ssd</a:t>
            </a:r>
            <a:endParaRPr sz="1250" b="0" i="0" u="none" strike="noStrike" cap="none"/>
          </a:p>
        </p:txBody>
      </p:sp>
      <p:sp>
        <p:nvSpPr>
          <p:cNvPr id="94" name="Google Shape;94;g3d2590b0ab5_2_10"/>
          <p:cNvSpPr/>
          <p:nvPr/>
        </p:nvSpPr>
        <p:spPr>
          <a:xfrm>
            <a:off x="6052304" y="6244828"/>
            <a:ext cx="3233976" cy="404217"/>
          </a:xfrm>
          <a:prstGeom prst="rect">
            <a:avLst/>
          </a:prstGeom>
          <a:noFill/>
          <a:ln>
            <a:noFill/>
          </a:ln>
        </p:spPr>
        <p:txBody>
          <a:bodyPr spcFirstLastPara="1" wrap="square" lIns="0" tIns="0" rIns="0" bIns="0" anchor="t" anchorCtr="0">
            <a:noAutofit/>
          </a:bodyPr>
          <a:lstStyle/>
          <a:p>
            <a:pPr marL="0" marR="0" lvl="0" indent="0" algn="l" rtl="0">
              <a:lnSpc>
                <a:spcPct val="126000"/>
              </a:lnSpc>
              <a:spcBef>
                <a:spcPts val="0"/>
              </a:spcBef>
              <a:spcAft>
                <a:spcPts val="0"/>
              </a:spcAft>
              <a:buClr>
                <a:srgbClr val="E1E5CD"/>
              </a:buClr>
              <a:buSzPts val="2500"/>
              <a:buFont typeface="Outfit"/>
              <a:buNone/>
            </a:pPr>
            <a:r>
              <a:rPr lang="en-US" sz="2500" b="1" i="0" u="none" strike="noStrike" cap="none">
                <a:solidFill>
                  <a:srgbClr val="E1E5CD"/>
                </a:solidFill>
                <a:latin typeface="Outfit"/>
                <a:ea typeface="Outfit"/>
                <a:cs typeface="Outfit"/>
                <a:sym typeface="Outfit"/>
              </a:rPr>
              <a:t>Meaning</a:t>
            </a:r>
            <a:endParaRPr sz="2500" b="0" i="0" u="none" strike="noStrike" cap="none"/>
          </a:p>
        </p:txBody>
      </p:sp>
      <p:sp>
        <p:nvSpPr>
          <p:cNvPr id="95" name="Google Shape;95;g3d2590b0ab5_2_10"/>
          <p:cNvSpPr/>
          <p:nvPr/>
        </p:nvSpPr>
        <p:spPr>
          <a:xfrm>
            <a:off x="6052304" y="6821924"/>
            <a:ext cx="8012192" cy="221456"/>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C2C4B5"/>
              </a:buClr>
              <a:buSzPts val="1250"/>
              <a:buFont typeface="Bitter"/>
              <a:buNone/>
            </a:pPr>
            <a:r>
              <a:rPr lang="en-US" sz="1250" b="0" i="0" u="none" strike="noStrike" cap="none">
                <a:solidFill>
                  <a:srgbClr val="C2C4B5"/>
                </a:solidFill>
                <a:latin typeface="Bitter"/>
                <a:ea typeface="Bitter"/>
                <a:cs typeface="Bitter"/>
                <a:sym typeface="Bitter"/>
              </a:rPr>
              <a:t>Pod runs only on nodes where disktype = ssd</a:t>
            </a:r>
            <a:endParaRPr sz="1250" b="0" i="0" u="none" strike="noStrike" cap="non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g3d2590b0ab5_2_27"/>
          <p:cNvSpPr/>
          <p:nvPr/>
        </p:nvSpPr>
        <p:spPr>
          <a:xfrm>
            <a:off x="3147774" y="1298496"/>
            <a:ext cx="3019782" cy="377428"/>
          </a:xfrm>
          <a:prstGeom prst="rect">
            <a:avLst/>
          </a:prstGeom>
          <a:noFill/>
          <a:ln>
            <a:noFill/>
          </a:ln>
        </p:spPr>
        <p:txBody>
          <a:bodyPr spcFirstLastPara="1" wrap="square" lIns="0" tIns="0" rIns="0" bIns="0" anchor="t" anchorCtr="0">
            <a:noAutofit/>
          </a:bodyPr>
          <a:lstStyle/>
          <a:p>
            <a:pPr marL="0" marR="0" lvl="0" indent="0" algn="l" rtl="0">
              <a:lnSpc>
                <a:spcPct val="125531"/>
              </a:lnSpc>
              <a:spcBef>
                <a:spcPts val="0"/>
              </a:spcBef>
              <a:spcAft>
                <a:spcPts val="0"/>
              </a:spcAft>
              <a:buClr>
                <a:srgbClr val="E1E5CD"/>
              </a:buClr>
              <a:buSzPts val="2350"/>
              <a:buFont typeface="Outfit"/>
              <a:buNone/>
            </a:pPr>
            <a:r>
              <a:rPr lang="en-US" sz="2350" b="1" i="0" u="none" strike="noStrike" cap="none">
                <a:solidFill>
                  <a:srgbClr val="E1E5CD"/>
                </a:solidFill>
                <a:latin typeface="Outfit"/>
                <a:ea typeface="Outfit"/>
                <a:cs typeface="Outfit"/>
                <a:sym typeface="Outfit"/>
              </a:rPr>
              <a:t>Set-Based Matching</a:t>
            </a:r>
            <a:endParaRPr sz="2350" b="0" i="0" u="none" strike="noStrike" cap="none"/>
          </a:p>
        </p:txBody>
      </p:sp>
      <p:sp>
        <p:nvSpPr>
          <p:cNvPr id="102" name="Google Shape;102;g3d2590b0ab5_2_27"/>
          <p:cNvSpPr/>
          <p:nvPr/>
        </p:nvSpPr>
        <p:spPr>
          <a:xfrm>
            <a:off x="3147774" y="1804511"/>
            <a:ext cx="8334851" cy="296228"/>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C2C4B5"/>
              </a:buClr>
              <a:buSzPts val="950"/>
              <a:buFont typeface="Bitter"/>
              <a:buNone/>
            </a:pPr>
            <a:r>
              <a:rPr lang="en-US" sz="950" b="0" i="0" u="none" strike="noStrike" cap="none">
                <a:solidFill>
                  <a:srgbClr val="C2C4B5"/>
                </a:solidFill>
                <a:latin typeface="Bitter"/>
                <a:ea typeface="Bitter"/>
                <a:cs typeface="Bitter"/>
                <a:sym typeface="Bitter"/>
              </a:rPr>
              <a:t>Set-based matching lets you schedule pods using a group of acceptable values, a presence check, or a numeric condition instead of one exact label value. It is more flexible than equality-based matching and is useful for practical placement rules. </a:t>
            </a:r>
            <a:endParaRPr sz="950" b="0" i="0" u="none" strike="noStrike" cap="none"/>
          </a:p>
        </p:txBody>
      </p:sp>
      <p:sp>
        <p:nvSpPr>
          <p:cNvPr id="103" name="Google Shape;103;g3d2590b0ab5_2_27"/>
          <p:cNvSpPr/>
          <p:nvPr/>
        </p:nvSpPr>
        <p:spPr>
          <a:xfrm>
            <a:off x="3147774" y="2173010"/>
            <a:ext cx="8334851" cy="444341"/>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C2C4B5"/>
              </a:buClr>
              <a:buSzPts val="950"/>
              <a:buFont typeface="Bitter"/>
              <a:buNone/>
            </a:pPr>
            <a:r>
              <a:rPr lang="en-US" sz="950" b="0" i="0" u="none" strike="noStrike" cap="none">
                <a:solidFill>
                  <a:srgbClr val="C2C4B5"/>
                </a:solidFill>
                <a:latin typeface="Bitter"/>
                <a:ea typeface="Bitter"/>
                <a:cs typeface="Bitter"/>
                <a:sym typeface="Bitter"/>
              </a:rPr>
              <a:t>Each operator category serves a different purpose. </a:t>
            </a:r>
            <a:r>
              <a:rPr lang="en-US" sz="950" b="0" i="0" u="none" strike="noStrike" cap="none">
                <a:solidFill>
                  <a:srgbClr val="C2C4B5"/>
                </a:solidFill>
                <a:highlight>
                  <a:srgbClr val="292A2C"/>
                </a:highlight>
                <a:latin typeface="Consolas"/>
                <a:ea typeface="Consolas"/>
                <a:cs typeface="Consolas"/>
                <a:sym typeface="Consolas"/>
              </a:rPr>
              <a:t>In</a:t>
            </a:r>
            <a:r>
              <a:rPr lang="en-US" sz="950" b="0" i="0" u="none" strike="noStrike" cap="none">
                <a:solidFill>
                  <a:srgbClr val="C2C4B5"/>
                </a:solidFill>
                <a:latin typeface="Bitter"/>
                <a:ea typeface="Bitter"/>
                <a:cs typeface="Bitter"/>
                <a:sym typeface="Bitter"/>
              </a:rPr>
              <a:t> and </a:t>
            </a:r>
            <a:r>
              <a:rPr lang="en-US" sz="950" b="0" i="0" u="none" strike="noStrike" cap="none">
                <a:solidFill>
                  <a:srgbClr val="C2C4B5"/>
                </a:solidFill>
                <a:highlight>
                  <a:srgbClr val="292A2C"/>
                </a:highlight>
                <a:latin typeface="Consolas"/>
                <a:ea typeface="Consolas"/>
                <a:cs typeface="Consolas"/>
                <a:sym typeface="Consolas"/>
              </a:rPr>
              <a:t>NotIn</a:t>
            </a:r>
            <a:r>
              <a:rPr lang="en-US" sz="950" b="0" i="0" u="none" strike="noStrike" cap="none">
                <a:solidFill>
                  <a:srgbClr val="C2C4B5"/>
                </a:solidFill>
                <a:latin typeface="Bitter"/>
                <a:ea typeface="Bitter"/>
                <a:cs typeface="Bitter"/>
                <a:sym typeface="Bitter"/>
              </a:rPr>
              <a:t> compare label values against an allowed or excluded set. </a:t>
            </a:r>
            <a:r>
              <a:rPr lang="en-US" sz="950" b="0" i="0" u="none" strike="noStrike" cap="none">
                <a:solidFill>
                  <a:srgbClr val="C2C4B5"/>
                </a:solidFill>
                <a:highlight>
                  <a:srgbClr val="292A2C"/>
                </a:highlight>
                <a:latin typeface="Consolas"/>
                <a:ea typeface="Consolas"/>
                <a:cs typeface="Consolas"/>
                <a:sym typeface="Consolas"/>
              </a:rPr>
              <a:t>Exists</a:t>
            </a:r>
            <a:r>
              <a:rPr lang="en-US" sz="950" b="0" i="0" u="none" strike="noStrike" cap="none">
                <a:solidFill>
                  <a:srgbClr val="C2C4B5"/>
                </a:solidFill>
                <a:latin typeface="Bitter"/>
                <a:ea typeface="Bitter"/>
                <a:cs typeface="Bitter"/>
                <a:sym typeface="Bitter"/>
              </a:rPr>
              <a:t> and </a:t>
            </a:r>
            <a:r>
              <a:rPr lang="en-US" sz="950" b="0" i="0" u="none" strike="noStrike" cap="none">
                <a:solidFill>
                  <a:srgbClr val="C2C4B5"/>
                </a:solidFill>
                <a:highlight>
                  <a:srgbClr val="292A2C"/>
                </a:highlight>
                <a:latin typeface="Consolas"/>
                <a:ea typeface="Consolas"/>
                <a:cs typeface="Consolas"/>
                <a:sym typeface="Consolas"/>
              </a:rPr>
              <a:t>DoesNotExist</a:t>
            </a:r>
            <a:r>
              <a:rPr lang="en-US" sz="950" b="0" i="0" u="none" strike="noStrike" cap="none">
                <a:solidFill>
                  <a:srgbClr val="C2C4B5"/>
                </a:solidFill>
                <a:latin typeface="Bitter"/>
                <a:ea typeface="Bitter"/>
                <a:cs typeface="Bitter"/>
                <a:sym typeface="Bitter"/>
              </a:rPr>
              <a:t> check whether a label is present at all, regardless of its value. </a:t>
            </a:r>
            <a:r>
              <a:rPr lang="en-US" sz="950" b="0" i="0" u="none" strike="noStrike" cap="none">
                <a:solidFill>
                  <a:srgbClr val="C2C4B5"/>
                </a:solidFill>
                <a:highlight>
                  <a:srgbClr val="292A2C"/>
                </a:highlight>
                <a:latin typeface="Consolas"/>
                <a:ea typeface="Consolas"/>
                <a:cs typeface="Consolas"/>
                <a:sym typeface="Consolas"/>
              </a:rPr>
              <a:t>Gt</a:t>
            </a:r>
            <a:r>
              <a:rPr lang="en-US" sz="950" b="0" i="0" u="none" strike="noStrike" cap="none">
                <a:solidFill>
                  <a:srgbClr val="C2C4B5"/>
                </a:solidFill>
                <a:latin typeface="Bitter"/>
                <a:ea typeface="Bitter"/>
                <a:cs typeface="Bitter"/>
                <a:sym typeface="Bitter"/>
              </a:rPr>
              <a:t> and </a:t>
            </a:r>
            <a:r>
              <a:rPr lang="en-US" sz="950" b="0" i="0" u="none" strike="noStrike" cap="none">
                <a:solidFill>
                  <a:srgbClr val="C2C4B5"/>
                </a:solidFill>
                <a:highlight>
                  <a:srgbClr val="292A2C"/>
                </a:highlight>
                <a:latin typeface="Consolas"/>
                <a:ea typeface="Consolas"/>
                <a:cs typeface="Consolas"/>
                <a:sym typeface="Consolas"/>
              </a:rPr>
              <a:t>Lt</a:t>
            </a:r>
            <a:r>
              <a:rPr lang="en-US" sz="950" b="0" i="0" u="none" strike="noStrike" cap="none">
                <a:solidFill>
                  <a:srgbClr val="C2C4B5"/>
                </a:solidFill>
                <a:latin typeface="Bitter"/>
                <a:ea typeface="Bitter"/>
                <a:cs typeface="Bitter"/>
                <a:sym typeface="Bitter"/>
              </a:rPr>
              <a:t> compare numeric label values and are useful when labels represent measurable quantities such as CPU count or disk size.</a:t>
            </a:r>
            <a:endParaRPr sz="950" b="0" i="0" u="none" strike="noStrike" cap="none"/>
          </a:p>
        </p:txBody>
      </p:sp>
      <p:sp>
        <p:nvSpPr>
          <p:cNvPr id="104" name="Google Shape;104;g3d2590b0ab5_2_27"/>
          <p:cNvSpPr/>
          <p:nvPr/>
        </p:nvSpPr>
        <p:spPr>
          <a:xfrm>
            <a:off x="3147774" y="2713792"/>
            <a:ext cx="1509832" cy="18871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E1E5CD"/>
              </a:buClr>
              <a:buSzPts val="1150"/>
              <a:buFont typeface="Outfit"/>
              <a:buNone/>
            </a:pPr>
            <a:r>
              <a:rPr lang="en-US" sz="1150" b="1" i="0" u="none" strike="noStrike" cap="none">
                <a:solidFill>
                  <a:srgbClr val="E1E5CD"/>
                </a:solidFill>
                <a:latin typeface="Outfit"/>
                <a:ea typeface="Outfit"/>
                <a:cs typeface="Outfit"/>
                <a:sym typeface="Outfit"/>
              </a:rPr>
              <a:t>Operators used</a:t>
            </a:r>
            <a:endParaRPr sz="1150" b="0" i="0" u="none" strike="noStrike" cap="none"/>
          </a:p>
        </p:txBody>
      </p:sp>
      <p:sp>
        <p:nvSpPr>
          <p:cNvPr id="105" name="Google Shape;105;g3d2590b0ab5_2_27"/>
          <p:cNvSpPr/>
          <p:nvPr/>
        </p:nvSpPr>
        <p:spPr>
          <a:xfrm>
            <a:off x="3147774" y="2998946"/>
            <a:ext cx="8334851" cy="1001197"/>
          </a:xfrm>
          <a:prstGeom prst="rect">
            <a:avLst/>
          </a:prstGeom>
          <a:noFill/>
          <a:ln>
            <a:noFill/>
          </a:ln>
        </p:spPr>
        <p:txBody>
          <a:bodyPr spcFirstLastPara="1" wrap="square" lIns="0" tIns="0" rIns="0" bIns="0" anchor="t" anchorCtr="0">
            <a:noAutofit/>
          </a:bodyPr>
          <a:lstStyle/>
          <a:p>
            <a:pPr marL="342900" marR="0" lvl="0" indent="-342900" algn="l" rtl="0">
              <a:lnSpc>
                <a:spcPct val="121052"/>
              </a:lnSpc>
              <a:spcBef>
                <a:spcPts val="0"/>
              </a:spcBef>
              <a:spcAft>
                <a:spcPts val="0"/>
              </a:spcAft>
              <a:buClr>
                <a:srgbClr val="C2C4B5"/>
              </a:buClr>
              <a:buSzPts val="950"/>
              <a:buFont typeface="Bitter"/>
              <a:buChar char="•"/>
            </a:pPr>
            <a:r>
              <a:rPr lang="en-US" sz="950" b="0" i="0" u="none" strike="noStrike" cap="none">
                <a:solidFill>
                  <a:srgbClr val="C2C4B5"/>
                </a:solidFill>
                <a:latin typeface="Bitter"/>
                <a:ea typeface="Bitter"/>
                <a:cs typeface="Bitter"/>
                <a:sym typeface="Bitter"/>
              </a:rPr>
              <a:t>In</a:t>
            </a:r>
            <a:endParaRPr sz="950" b="0" i="0" u="none" strike="noStrike" cap="none"/>
          </a:p>
          <a:p>
            <a:pPr marL="342900" marR="0" lvl="0" indent="-342900" algn="l" rtl="0">
              <a:lnSpc>
                <a:spcPct val="121052"/>
              </a:lnSpc>
              <a:spcBef>
                <a:spcPts val="0"/>
              </a:spcBef>
              <a:spcAft>
                <a:spcPts val="0"/>
              </a:spcAft>
              <a:buClr>
                <a:srgbClr val="C2C4B5"/>
              </a:buClr>
              <a:buSzPts val="950"/>
              <a:buFont typeface="Bitter"/>
              <a:buChar char="•"/>
            </a:pPr>
            <a:r>
              <a:rPr lang="en-US" sz="950" b="0" i="0" u="none" strike="noStrike" cap="none">
                <a:solidFill>
                  <a:srgbClr val="C2C4B5"/>
                </a:solidFill>
                <a:latin typeface="Bitter"/>
                <a:ea typeface="Bitter"/>
                <a:cs typeface="Bitter"/>
                <a:sym typeface="Bitter"/>
              </a:rPr>
              <a:t>NotIn</a:t>
            </a:r>
            <a:endParaRPr sz="950" b="0" i="0" u="none" strike="noStrike" cap="none"/>
          </a:p>
          <a:p>
            <a:pPr marL="342900" marR="0" lvl="0" indent="-342900" algn="l" rtl="0">
              <a:lnSpc>
                <a:spcPct val="121052"/>
              </a:lnSpc>
              <a:spcBef>
                <a:spcPts val="0"/>
              </a:spcBef>
              <a:spcAft>
                <a:spcPts val="0"/>
              </a:spcAft>
              <a:buClr>
                <a:srgbClr val="C2C4B5"/>
              </a:buClr>
              <a:buSzPts val="950"/>
              <a:buFont typeface="Bitter"/>
              <a:buChar char="•"/>
            </a:pPr>
            <a:r>
              <a:rPr lang="en-US" sz="950" b="0" i="0" u="none" strike="noStrike" cap="none">
                <a:solidFill>
                  <a:srgbClr val="C2C4B5"/>
                </a:solidFill>
                <a:latin typeface="Bitter"/>
                <a:ea typeface="Bitter"/>
                <a:cs typeface="Bitter"/>
                <a:sym typeface="Bitter"/>
              </a:rPr>
              <a:t>Exists</a:t>
            </a:r>
            <a:endParaRPr sz="950" b="0" i="0" u="none" strike="noStrike" cap="none"/>
          </a:p>
          <a:p>
            <a:pPr marL="342900" marR="0" lvl="0" indent="-342900" algn="l" rtl="0">
              <a:lnSpc>
                <a:spcPct val="121052"/>
              </a:lnSpc>
              <a:spcBef>
                <a:spcPts val="0"/>
              </a:spcBef>
              <a:spcAft>
                <a:spcPts val="0"/>
              </a:spcAft>
              <a:buClr>
                <a:srgbClr val="C2C4B5"/>
              </a:buClr>
              <a:buSzPts val="950"/>
              <a:buFont typeface="Bitter"/>
              <a:buChar char="•"/>
            </a:pPr>
            <a:r>
              <a:rPr lang="en-US" sz="950" b="0" i="0" u="none" strike="noStrike" cap="none">
                <a:solidFill>
                  <a:srgbClr val="C2C4B5"/>
                </a:solidFill>
                <a:latin typeface="Bitter"/>
                <a:ea typeface="Bitter"/>
                <a:cs typeface="Bitter"/>
                <a:sym typeface="Bitter"/>
              </a:rPr>
              <a:t>DoesNotExist</a:t>
            </a:r>
            <a:endParaRPr sz="950" b="0" i="0" u="none" strike="noStrike" cap="none"/>
          </a:p>
          <a:p>
            <a:pPr marL="342900" marR="0" lvl="0" indent="-342900" algn="l" rtl="0">
              <a:lnSpc>
                <a:spcPct val="121052"/>
              </a:lnSpc>
              <a:spcBef>
                <a:spcPts val="0"/>
              </a:spcBef>
              <a:spcAft>
                <a:spcPts val="0"/>
              </a:spcAft>
              <a:buClr>
                <a:srgbClr val="C2C4B5"/>
              </a:buClr>
              <a:buSzPts val="950"/>
              <a:buFont typeface="Bitter"/>
              <a:buChar char="•"/>
            </a:pPr>
            <a:r>
              <a:rPr lang="en-US" sz="950" b="0" i="0" u="none" strike="noStrike" cap="none">
                <a:solidFill>
                  <a:srgbClr val="C2C4B5"/>
                </a:solidFill>
                <a:latin typeface="Bitter"/>
                <a:ea typeface="Bitter"/>
                <a:cs typeface="Bitter"/>
                <a:sym typeface="Bitter"/>
              </a:rPr>
              <a:t>Gt</a:t>
            </a:r>
            <a:endParaRPr sz="950" b="0" i="0" u="none" strike="noStrike" cap="none"/>
          </a:p>
          <a:p>
            <a:pPr marL="342900" marR="0" lvl="0" indent="-342900" algn="l" rtl="0">
              <a:lnSpc>
                <a:spcPct val="121052"/>
              </a:lnSpc>
              <a:spcBef>
                <a:spcPts val="0"/>
              </a:spcBef>
              <a:spcAft>
                <a:spcPts val="0"/>
              </a:spcAft>
              <a:buClr>
                <a:srgbClr val="C2C4B5"/>
              </a:buClr>
              <a:buSzPts val="950"/>
              <a:buFont typeface="Bitter"/>
              <a:buChar char="•"/>
            </a:pPr>
            <a:r>
              <a:rPr lang="en-US" sz="950" b="0" i="0" u="none" strike="noStrike" cap="none">
                <a:solidFill>
                  <a:srgbClr val="C2C4B5"/>
                </a:solidFill>
                <a:latin typeface="Bitter"/>
                <a:ea typeface="Bitter"/>
                <a:cs typeface="Bitter"/>
                <a:sym typeface="Bitter"/>
              </a:rPr>
              <a:t>Lt</a:t>
            </a:r>
            <a:endParaRPr sz="950" b="0" i="0" u="none" strike="noStrike" cap="none"/>
          </a:p>
        </p:txBody>
      </p:sp>
      <p:sp>
        <p:nvSpPr>
          <p:cNvPr id="106" name="Google Shape;106;g3d2590b0ab5_2_27"/>
          <p:cNvSpPr/>
          <p:nvPr/>
        </p:nvSpPr>
        <p:spPr>
          <a:xfrm>
            <a:off x="3147774" y="4096583"/>
            <a:ext cx="2075974" cy="18871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E1E5CD"/>
              </a:buClr>
              <a:buSzPts val="1150"/>
              <a:buFont typeface="Outfit"/>
              <a:buNone/>
            </a:pPr>
            <a:r>
              <a:rPr lang="en-US" sz="1150" b="1" i="0" u="none" strike="noStrike" cap="none">
                <a:solidFill>
                  <a:srgbClr val="E1E5CD"/>
                </a:solidFill>
                <a:latin typeface="Outfit"/>
                <a:ea typeface="Outfit"/>
                <a:cs typeface="Outfit"/>
                <a:sym typeface="Outfit"/>
              </a:rPr>
              <a:t>Set Matching Example (Exists)</a:t>
            </a:r>
            <a:endParaRPr sz="1150" b="0" i="0" u="none" strike="noStrike" cap="none"/>
          </a:p>
        </p:txBody>
      </p:sp>
      <p:sp>
        <p:nvSpPr>
          <p:cNvPr id="107" name="Google Shape;107;g3d2590b0ab5_2_27"/>
          <p:cNvSpPr/>
          <p:nvPr/>
        </p:nvSpPr>
        <p:spPr>
          <a:xfrm>
            <a:off x="3147774" y="4381738"/>
            <a:ext cx="8334851" cy="982028"/>
          </a:xfrm>
          <a:prstGeom prst="roundRect">
            <a:avLst>
              <a:gd name="adj" fmla="val 1845"/>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g3d2590b0ab5_2_27"/>
          <p:cNvSpPr/>
          <p:nvPr/>
        </p:nvSpPr>
        <p:spPr>
          <a:xfrm>
            <a:off x="3141821" y="4381738"/>
            <a:ext cx="8346758" cy="982028"/>
          </a:xfrm>
          <a:prstGeom prst="roundRect">
            <a:avLst>
              <a:gd name="adj" fmla="val 1845"/>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g3d2590b0ab5_2_27"/>
          <p:cNvSpPr/>
          <p:nvPr/>
        </p:nvSpPr>
        <p:spPr>
          <a:xfrm>
            <a:off x="3292793" y="4502468"/>
            <a:ext cx="8044815" cy="740569"/>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F2CC60"/>
              </a:buClr>
              <a:buSzPts val="950"/>
              <a:buFont typeface="Consolas"/>
              <a:buNone/>
            </a:pPr>
            <a:r>
              <a:rPr lang="en-US" sz="950" b="0" i="0" u="none" strike="noStrike" cap="none">
                <a:solidFill>
                  <a:srgbClr val="F2CC60"/>
                </a:solidFill>
                <a:highlight>
                  <a:srgbClr val="292A2C"/>
                </a:highlight>
                <a:latin typeface="Consolas"/>
                <a:ea typeface="Consolas"/>
                <a:cs typeface="Consolas"/>
                <a:sym typeface="Consolas"/>
              </a:rPr>
              <a:t>- key: zone</a:t>
            </a:r>
            <a:endParaRPr sz="950" b="0" i="0" u="none" strike="noStrike" cap="none"/>
          </a:p>
          <a:p>
            <a:pPr marL="0" marR="0" lvl="0" indent="0" algn="l" rtl="0">
              <a:lnSpc>
                <a:spcPct val="121052"/>
              </a:lnSpc>
              <a:spcBef>
                <a:spcPts val="0"/>
              </a:spcBef>
              <a:spcAft>
                <a:spcPts val="0"/>
              </a:spcAft>
              <a:buClr>
                <a:srgbClr val="F2CC60"/>
              </a:buClr>
              <a:buSzPts val="950"/>
              <a:buFont typeface="Consolas"/>
              <a:buNone/>
            </a:pPr>
            <a:r>
              <a:rPr lang="en-US" sz="950" b="0" i="0" u="none" strike="noStrike" cap="none">
                <a:solidFill>
                  <a:srgbClr val="F2CC60"/>
                </a:solidFill>
                <a:highlight>
                  <a:srgbClr val="292A2C"/>
                </a:highlight>
                <a:latin typeface="Consolas"/>
                <a:ea typeface="Consolas"/>
                <a:cs typeface="Consolas"/>
                <a:sym typeface="Consolas"/>
              </a:rPr>
              <a:t>  operator: In</a:t>
            </a:r>
            <a:endParaRPr sz="950" b="0" i="0" u="none" strike="noStrike" cap="none"/>
          </a:p>
          <a:p>
            <a:pPr marL="0" marR="0" lvl="0" indent="0" algn="l" rtl="0">
              <a:lnSpc>
                <a:spcPct val="121052"/>
              </a:lnSpc>
              <a:spcBef>
                <a:spcPts val="0"/>
              </a:spcBef>
              <a:spcAft>
                <a:spcPts val="0"/>
              </a:spcAft>
              <a:buClr>
                <a:srgbClr val="F2CC60"/>
              </a:buClr>
              <a:buSzPts val="950"/>
              <a:buFont typeface="Consolas"/>
              <a:buNone/>
            </a:pPr>
            <a:r>
              <a:rPr lang="en-US" sz="950" b="0" i="0" u="none" strike="noStrike" cap="none">
                <a:solidFill>
                  <a:srgbClr val="F2CC60"/>
                </a:solidFill>
                <a:highlight>
                  <a:srgbClr val="292A2C"/>
                </a:highlight>
                <a:latin typeface="Consolas"/>
                <a:ea typeface="Consolas"/>
                <a:cs typeface="Consolas"/>
                <a:sym typeface="Consolas"/>
              </a:rPr>
              <a:t>  values:</a:t>
            </a:r>
            <a:endParaRPr sz="950" b="0" i="0" u="none" strike="noStrike" cap="none"/>
          </a:p>
          <a:p>
            <a:pPr marL="0" marR="0" lvl="0" indent="0" algn="l" rtl="0">
              <a:lnSpc>
                <a:spcPct val="121052"/>
              </a:lnSpc>
              <a:spcBef>
                <a:spcPts val="0"/>
              </a:spcBef>
              <a:spcAft>
                <a:spcPts val="0"/>
              </a:spcAft>
              <a:buClr>
                <a:srgbClr val="F2CC60"/>
              </a:buClr>
              <a:buSzPts val="950"/>
              <a:buFont typeface="Consolas"/>
              <a:buNone/>
            </a:pPr>
            <a:r>
              <a:rPr lang="en-US" sz="950" b="0" i="0" u="none" strike="noStrike" cap="none">
                <a:solidFill>
                  <a:srgbClr val="F2CC60"/>
                </a:solidFill>
                <a:highlight>
                  <a:srgbClr val="292A2C"/>
                </a:highlight>
                <a:latin typeface="Consolas"/>
                <a:ea typeface="Consolas"/>
                <a:cs typeface="Consolas"/>
                <a:sym typeface="Consolas"/>
              </a:rPr>
              <a:t>  - east</a:t>
            </a:r>
            <a:endParaRPr sz="950" b="0" i="0" u="none" strike="noStrike" cap="none"/>
          </a:p>
          <a:p>
            <a:pPr marL="0" marR="0" lvl="0" indent="0" algn="l" rtl="0">
              <a:lnSpc>
                <a:spcPct val="121052"/>
              </a:lnSpc>
              <a:spcBef>
                <a:spcPts val="0"/>
              </a:spcBef>
              <a:spcAft>
                <a:spcPts val="0"/>
              </a:spcAft>
              <a:buClr>
                <a:srgbClr val="F2CC60"/>
              </a:buClr>
              <a:buSzPts val="950"/>
              <a:buFont typeface="Consolas"/>
              <a:buNone/>
            </a:pPr>
            <a:r>
              <a:rPr lang="en-US" sz="950" b="0" i="0" u="none" strike="noStrike" cap="none">
                <a:solidFill>
                  <a:srgbClr val="F2CC60"/>
                </a:solidFill>
                <a:highlight>
                  <a:srgbClr val="292A2C"/>
                </a:highlight>
                <a:latin typeface="Consolas"/>
                <a:ea typeface="Consolas"/>
                <a:cs typeface="Consolas"/>
                <a:sym typeface="Consolas"/>
              </a:rPr>
              <a:t>  - west</a:t>
            </a:r>
            <a:endParaRPr sz="950" b="0" i="0" u="none" strike="noStrike" cap="none"/>
          </a:p>
        </p:txBody>
      </p:sp>
      <p:sp>
        <p:nvSpPr>
          <p:cNvPr id="110" name="Google Shape;110;g3d2590b0ab5_2_27"/>
          <p:cNvSpPr/>
          <p:nvPr/>
        </p:nvSpPr>
        <p:spPr>
          <a:xfrm>
            <a:off x="3147774" y="5436037"/>
            <a:ext cx="8334851" cy="148114"/>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C2C4B5"/>
              </a:buClr>
              <a:buSzPts val="950"/>
              <a:buFont typeface="Bitter"/>
              <a:buNone/>
            </a:pPr>
            <a:r>
              <a:rPr lang="en-US" sz="950" b="0" i="0" u="none" strike="noStrike" cap="none">
                <a:solidFill>
                  <a:srgbClr val="C2C4B5"/>
                </a:solidFill>
                <a:latin typeface="Bitter"/>
                <a:ea typeface="Bitter"/>
                <a:cs typeface="Bitter"/>
                <a:sym typeface="Bitter"/>
              </a:rPr>
              <a:t>Meaning: Meaning Pod can run on nodes where zone = east OR zone = west</a:t>
            </a:r>
            <a:endParaRPr sz="950" b="0" i="0" u="none" strike="noStrike" cap="none"/>
          </a:p>
        </p:txBody>
      </p:sp>
      <p:sp>
        <p:nvSpPr>
          <p:cNvPr id="111" name="Google Shape;111;g3d2590b0ab5_2_27"/>
          <p:cNvSpPr/>
          <p:nvPr/>
        </p:nvSpPr>
        <p:spPr>
          <a:xfrm>
            <a:off x="3147774" y="5656421"/>
            <a:ext cx="8334851" cy="148114"/>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C2C4B5"/>
              </a:buClr>
              <a:buSzPts val="950"/>
              <a:buFont typeface="Bitter"/>
              <a:buNone/>
            </a:pPr>
            <a:r>
              <a:rPr lang="en-US" sz="950" b="0" i="0" u="none" strike="noStrike" cap="none">
                <a:solidFill>
                  <a:srgbClr val="C2C4B5"/>
                </a:solidFill>
                <a:latin typeface="Bitter"/>
                <a:ea typeface="Bitter"/>
                <a:cs typeface="Bitter"/>
                <a:sym typeface="Bitter"/>
              </a:rPr>
              <a:t>Set Matching Example (Numeric Condition)</a:t>
            </a:r>
            <a:endParaRPr sz="950" b="0" i="0" u="none" strike="noStrike" cap="none"/>
          </a:p>
        </p:txBody>
      </p:sp>
      <p:sp>
        <p:nvSpPr>
          <p:cNvPr id="112" name="Google Shape;112;g3d2590b0ab5_2_27"/>
          <p:cNvSpPr/>
          <p:nvPr/>
        </p:nvSpPr>
        <p:spPr>
          <a:xfrm>
            <a:off x="3147774" y="5876806"/>
            <a:ext cx="8334851" cy="833914"/>
          </a:xfrm>
          <a:prstGeom prst="roundRect">
            <a:avLst>
              <a:gd name="adj" fmla="val 2173"/>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g3d2590b0ab5_2_27"/>
          <p:cNvSpPr/>
          <p:nvPr/>
        </p:nvSpPr>
        <p:spPr>
          <a:xfrm>
            <a:off x="3141821" y="5876806"/>
            <a:ext cx="8346758" cy="833914"/>
          </a:xfrm>
          <a:prstGeom prst="roundRect">
            <a:avLst>
              <a:gd name="adj" fmla="val 2173"/>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g3d2590b0ab5_2_27"/>
          <p:cNvSpPr/>
          <p:nvPr/>
        </p:nvSpPr>
        <p:spPr>
          <a:xfrm>
            <a:off x="3292793" y="5997535"/>
            <a:ext cx="8044815" cy="592455"/>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F2CC60"/>
              </a:buClr>
              <a:buSzPts val="950"/>
              <a:buFont typeface="Consolas"/>
              <a:buNone/>
            </a:pPr>
            <a:r>
              <a:rPr lang="en-US" sz="950" b="0" i="0" u="none" strike="noStrike" cap="none">
                <a:solidFill>
                  <a:srgbClr val="F2CC60"/>
                </a:solidFill>
                <a:highlight>
                  <a:srgbClr val="292A2C"/>
                </a:highlight>
                <a:latin typeface="Consolas"/>
                <a:ea typeface="Consolas"/>
                <a:cs typeface="Consolas"/>
                <a:sym typeface="Consolas"/>
              </a:rPr>
              <a:t>- key: cpu-count</a:t>
            </a:r>
            <a:endParaRPr sz="950" b="0" i="0" u="none" strike="noStrike" cap="none"/>
          </a:p>
          <a:p>
            <a:pPr marL="0" marR="0" lvl="0" indent="0" algn="l" rtl="0">
              <a:lnSpc>
                <a:spcPct val="121052"/>
              </a:lnSpc>
              <a:spcBef>
                <a:spcPts val="0"/>
              </a:spcBef>
              <a:spcAft>
                <a:spcPts val="0"/>
              </a:spcAft>
              <a:buClr>
                <a:srgbClr val="F2CC60"/>
              </a:buClr>
              <a:buSzPts val="950"/>
              <a:buFont typeface="Consolas"/>
              <a:buNone/>
            </a:pPr>
            <a:r>
              <a:rPr lang="en-US" sz="950" b="0" i="0" u="none" strike="noStrike" cap="none">
                <a:solidFill>
                  <a:srgbClr val="F2CC60"/>
                </a:solidFill>
                <a:highlight>
                  <a:srgbClr val="292A2C"/>
                </a:highlight>
                <a:latin typeface="Consolas"/>
                <a:ea typeface="Consolas"/>
                <a:cs typeface="Consolas"/>
                <a:sym typeface="Consolas"/>
              </a:rPr>
              <a:t>  operator: Gt</a:t>
            </a:r>
            <a:endParaRPr sz="950" b="0" i="0" u="none" strike="noStrike" cap="none"/>
          </a:p>
          <a:p>
            <a:pPr marL="0" marR="0" lvl="0" indent="0" algn="l" rtl="0">
              <a:lnSpc>
                <a:spcPct val="121052"/>
              </a:lnSpc>
              <a:spcBef>
                <a:spcPts val="0"/>
              </a:spcBef>
              <a:spcAft>
                <a:spcPts val="0"/>
              </a:spcAft>
              <a:buClr>
                <a:srgbClr val="F2CC60"/>
              </a:buClr>
              <a:buSzPts val="950"/>
              <a:buFont typeface="Consolas"/>
              <a:buNone/>
            </a:pPr>
            <a:r>
              <a:rPr lang="en-US" sz="950" b="0" i="0" u="none" strike="noStrike" cap="none">
                <a:solidFill>
                  <a:srgbClr val="F2CC60"/>
                </a:solidFill>
                <a:highlight>
                  <a:srgbClr val="292A2C"/>
                </a:highlight>
                <a:latin typeface="Consolas"/>
                <a:ea typeface="Consolas"/>
                <a:cs typeface="Consolas"/>
                <a:sym typeface="Consolas"/>
              </a:rPr>
              <a:t>  values:</a:t>
            </a:r>
            <a:endParaRPr sz="950" b="0" i="0" u="none" strike="noStrike" cap="none"/>
          </a:p>
          <a:p>
            <a:pPr marL="0" marR="0" lvl="0" indent="0" algn="l" rtl="0">
              <a:lnSpc>
                <a:spcPct val="121052"/>
              </a:lnSpc>
              <a:spcBef>
                <a:spcPts val="0"/>
              </a:spcBef>
              <a:spcAft>
                <a:spcPts val="0"/>
              </a:spcAft>
              <a:buClr>
                <a:srgbClr val="F2CC60"/>
              </a:buClr>
              <a:buSzPts val="950"/>
              <a:buFont typeface="Consolas"/>
              <a:buNone/>
            </a:pPr>
            <a:r>
              <a:rPr lang="en-US" sz="950" b="0" i="0" u="none" strike="noStrike" cap="none">
                <a:solidFill>
                  <a:srgbClr val="F2CC60"/>
                </a:solidFill>
                <a:highlight>
                  <a:srgbClr val="292A2C"/>
                </a:highlight>
                <a:latin typeface="Consolas"/>
                <a:ea typeface="Consolas"/>
                <a:cs typeface="Consolas"/>
                <a:sym typeface="Consolas"/>
              </a:rPr>
              <a:t>  - "4"</a:t>
            </a:r>
            <a:endParaRPr sz="950" b="0" i="0" u="none" strike="noStrike" cap="none"/>
          </a:p>
        </p:txBody>
      </p:sp>
      <p:sp>
        <p:nvSpPr>
          <p:cNvPr id="115" name="Google Shape;115;g3d2590b0ab5_2_27"/>
          <p:cNvSpPr/>
          <p:nvPr/>
        </p:nvSpPr>
        <p:spPr>
          <a:xfrm>
            <a:off x="3147774" y="6782991"/>
            <a:ext cx="8334851" cy="148114"/>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C2C4B5"/>
              </a:buClr>
              <a:buSzPts val="950"/>
              <a:buFont typeface="Bitter"/>
              <a:buNone/>
            </a:pPr>
            <a:r>
              <a:rPr lang="en-US" sz="950" b="0" i="0" u="none" strike="noStrike" cap="none">
                <a:solidFill>
                  <a:srgbClr val="C2C4B5"/>
                </a:solidFill>
                <a:latin typeface="Bitter"/>
                <a:ea typeface="Bitter"/>
                <a:cs typeface="Bitter"/>
                <a:sym typeface="Bitter"/>
              </a:rPr>
              <a:t>Meaning: Pod runs only on nodes where </a:t>
            </a:r>
            <a:r>
              <a:rPr lang="en-US" sz="950" b="0" i="0" u="none" strike="noStrike" cap="none">
                <a:solidFill>
                  <a:srgbClr val="C2C4B5"/>
                </a:solidFill>
                <a:highlight>
                  <a:srgbClr val="292A2C"/>
                </a:highlight>
                <a:latin typeface="Consolas"/>
                <a:ea typeface="Consolas"/>
                <a:cs typeface="Consolas"/>
                <a:sym typeface="Consolas"/>
              </a:rPr>
              <a:t>cpu-count &gt; 4</a:t>
            </a:r>
            <a:r>
              <a:rPr lang="en-US" sz="950" b="0" i="0" u="none" strike="noStrike" cap="none">
                <a:solidFill>
                  <a:srgbClr val="C2C4B5"/>
                </a:solidFill>
                <a:latin typeface="Bitter"/>
                <a:ea typeface="Bitter"/>
                <a:cs typeface="Bitter"/>
                <a:sym typeface="Bitter"/>
              </a:rPr>
              <a:t>.</a:t>
            </a:r>
            <a:endParaRPr sz="950" b="0" i="0" u="none" strike="noStrike" cap="non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3"/>
          <p:cNvSpPr/>
          <p:nvPr/>
        </p:nvSpPr>
        <p:spPr>
          <a:xfrm>
            <a:off x="793790" y="711160"/>
            <a:ext cx="5267376" cy="589121"/>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E1E5CD"/>
              </a:buClr>
              <a:buSzPts val="3700"/>
              <a:buFont typeface="Outfit"/>
              <a:buNone/>
            </a:pPr>
            <a:r>
              <a:rPr lang="en-US" sz="3700" b="1" dirty="0">
                <a:solidFill>
                  <a:srgbClr val="E1E5CD"/>
                </a:solidFill>
                <a:latin typeface="Outfit"/>
                <a:ea typeface="Outfit"/>
                <a:cs typeface="Outfit"/>
                <a:sym typeface="Outfit"/>
              </a:rPr>
              <a:t>What is Node Affinity?</a:t>
            </a:r>
            <a:endParaRPr sz="3700" dirty="0">
              <a:solidFill>
                <a:schemeClr val="dk1"/>
              </a:solidFill>
              <a:latin typeface="Calibri"/>
              <a:ea typeface="Calibri"/>
              <a:cs typeface="Calibri"/>
              <a:sym typeface="Calibri"/>
            </a:endParaRPr>
          </a:p>
        </p:txBody>
      </p:sp>
      <p:sp>
        <p:nvSpPr>
          <p:cNvPr id="122" name="Google Shape;122;p3"/>
          <p:cNvSpPr/>
          <p:nvPr/>
        </p:nvSpPr>
        <p:spPr>
          <a:xfrm>
            <a:off x="793790" y="1658422"/>
            <a:ext cx="13042821" cy="588407"/>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C2C4B5"/>
              </a:buClr>
              <a:buSzPts val="1450"/>
              <a:buFont typeface="Bitter"/>
              <a:buNone/>
            </a:pPr>
            <a:r>
              <a:rPr lang="en-US" sz="1450">
                <a:solidFill>
                  <a:srgbClr val="C2C4B5"/>
                </a:solidFill>
                <a:latin typeface="Bitter"/>
                <a:ea typeface="Bitter"/>
                <a:cs typeface="Bitter"/>
                <a:sym typeface="Bitter"/>
              </a:rPr>
              <a:t>Node Affinity is a powerful scheduling mechanism that allows you to control which nodes your pods can be scheduled on, based on node labels and sophisticated matching rules.</a:t>
            </a:r>
            <a:endParaRPr sz="1450">
              <a:solidFill>
                <a:schemeClr val="dk1"/>
              </a:solidFill>
              <a:latin typeface="Calibri"/>
              <a:ea typeface="Calibri"/>
              <a:cs typeface="Calibri"/>
              <a:sym typeface="Calibri"/>
            </a:endParaRPr>
          </a:p>
        </p:txBody>
      </p:sp>
      <p:sp>
        <p:nvSpPr>
          <p:cNvPr id="123" name="Google Shape;123;p3"/>
          <p:cNvSpPr/>
          <p:nvPr/>
        </p:nvSpPr>
        <p:spPr>
          <a:xfrm>
            <a:off x="793790" y="2448282"/>
            <a:ext cx="4228148" cy="2406253"/>
          </a:xfrm>
          <a:prstGeom prst="roundRect">
            <a:avLst>
              <a:gd name="adj" fmla="val 1175"/>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982266" y="2636758"/>
            <a:ext cx="565547" cy="565547"/>
          </a:xfrm>
          <a:prstGeom prst="roundRect">
            <a:avLst>
              <a:gd name="adj" fmla="val 16166801"/>
            </a:avLst>
          </a:prstGeom>
          <a:solidFill>
            <a:srgbClr val="9F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5" name="Google Shape;125;p3" descr="preencoded.png"/>
          <p:cNvPicPr preferRelativeResize="0"/>
          <p:nvPr/>
        </p:nvPicPr>
        <p:blipFill rotWithShape="1">
          <a:blip r:embed="rId3">
            <a:alphaModFix/>
          </a:blip>
          <a:srcRect/>
          <a:stretch/>
        </p:blipFill>
        <p:spPr>
          <a:xfrm>
            <a:off x="1137761" y="2792254"/>
            <a:ext cx="254437" cy="254437"/>
          </a:xfrm>
          <a:prstGeom prst="rect">
            <a:avLst/>
          </a:prstGeom>
          <a:noFill/>
          <a:ln>
            <a:noFill/>
          </a:ln>
        </p:spPr>
      </p:pic>
      <p:sp>
        <p:nvSpPr>
          <p:cNvPr id="126" name="Google Shape;126;p3"/>
          <p:cNvSpPr/>
          <p:nvPr/>
        </p:nvSpPr>
        <p:spPr>
          <a:xfrm>
            <a:off x="982266" y="3381375"/>
            <a:ext cx="2356842" cy="2946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C2C4B5"/>
              </a:buClr>
              <a:buSzPts val="1850"/>
              <a:buFont typeface="Outfit"/>
              <a:buNone/>
            </a:pPr>
            <a:r>
              <a:rPr lang="en-US" sz="1850" b="1">
                <a:solidFill>
                  <a:srgbClr val="C2C4B5"/>
                </a:solidFill>
                <a:latin typeface="Outfit"/>
                <a:ea typeface="Outfit"/>
                <a:cs typeface="Outfit"/>
                <a:sym typeface="Outfit"/>
              </a:rPr>
              <a:t>Targeted Scheduling</a:t>
            </a:r>
            <a:endParaRPr sz="1850">
              <a:solidFill>
                <a:schemeClr val="dk1"/>
              </a:solidFill>
              <a:latin typeface="Calibri"/>
              <a:ea typeface="Calibri"/>
              <a:cs typeface="Calibri"/>
              <a:sym typeface="Calibri"/>
            </a:endParaRPr>
          </a:p>
        </p:txBody>
      </p:sp>
      <p:sp>
        <p:nvSpPr>
          <p:cNvPr id="127" name="Google Shape;127;p3"/>
          <p:cNvSpPr/>
          <p:nvPr/>
        </p:nvSpPr>
        <p:spPr>
          <a:xfrm>
            <a:off x="982266" y="3783449"/>
            <a:ext cx="3851196" cy="882610"/>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C2C4B5"/>
              </a:buClr>
              <a:buSzPts val="1450"/>
              <a:buFont typeface="Bitter"/>
              <a:buNone/>
            </a:pPr>
            <a:r>
              <a:rPr lang="en-US" sz="1450">
                <a:solidFill>
                  <a:srgbClr val="C2C4B5"/>
                </a:solidFill>
                <a:latin typeface="Bitter"/>
                <a:ea typeface="Bitter"/>
                <a:cs typeface="Bitter"/>
                <a:sym typeface="Bitter"/>
              </a:rPr>
              <a:t>Direct pods to specific nodes based on labels like region, zone, hardware type, or custom attributes</a:t>
            </a:r>
            <a:endParaRPr sz="1450">
              <a:solidFill>
                <a:schemeClr val="dk1"/>
              </a:solidFill>
              <a:latin typeface="Calibri"/>
              <a:ea typeface="Calibri"/>
              <a:cs typeface="Calibri"/>
              <a:sym typeface="Calibri"/>
            </a:endParaRPr>
          </a:p>
        </p:txBody>
      </p:sp>
      <p:sp>
        <p:nvSpPr>
          <p:cNvPr id="128" name="Google Shape;128;p3"/>
          <p:cNvSpPr/>
          <p:nvPr/>
        </p:nvSpPr>
        <p:spPr>
          <a:xfrm>
            <a:off x="5201007" y="2448282"/>
            <a:ext cx="4228267" cy="2406253"/>
          </a:xfrm>
          <a:prstGeom prst="roundRect">
            <a:avLst>
              <a:gd name="adj" fmla="val 1175"/>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5389483" y="2636758"/>
            <a:ext cx="565547" cy="565547"/>
          </a:xfrm>
          <a:prstGeom prst="roundRect">
            <a:avLst>
              <a:gd name="adj" fmla="val 16166801"/>
            </a:avLst>
          </a:prstGeom>
          <a:solidFill>
            <a:srgbClr val="9F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0" name="Google Shape;130;p3" descr="preencoded.png"/>
          <p:cNvPicPr preferRelativeResize="0"/>
          <p:nvPr/>
        </p:nvPicPr>
        <p:blipFill rotWithShape="1">
          <a:blip r:embed="rId4">
            <a:alphaModFix/>
          </a:blip>
          <a:srcRect/>
          <a:stretch/>
        </p:blipFill>
        <p:spPr>
          <a:xfrm>
            <a:off x="5544979" y="2792254"/>
            <a:ext cx="254437" cy="254437"/>
          </a:xfrm>
          <a:prstGeom prst="rect">
            <a:avLst/>
          </a:prstGeom>
          <a:noFill/>
          <a:ln>
            <a:noFill/>
          </a:ln>
        </p:spPr>
      </p:pic>
      <p:sp>
        <p:nvSpPr>
          <p:cNvPr id="131" name="Google Shape;131;p3"/>
          <p:cNvSpPr/>
          <p:nvPr/>
        </p:nvSpPr>
        <p:spPr>
          <a:xfrm>
            <a:off x="5389483" y="3381375"/>
            <a:ext cx="2356842" cy="2946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C2C4B5"/>
              </a:buClr>
              <a:buSzPts val="1850"/>
              <a:buFont typeface="Outfit"/>
              <a:buNone/>
            </a:pPr>
            <a:r>
              <a:rPr lang="en-US" sz="1850" b="1">
                <a:solidFill>
                  <a:srgbClr val="C2C4B5"/>
                </a:solidFill>
                <a:latin typeface="Outfit"/>
                <a:ea typeface="Outfit"/>
                <a:cs typeface="Outfit"/>
                <a:sym typeface="Outfit"/>
              </a:rPr>
              <a:t>Flexible Constraints</a:t>
            </a:r>
            <a:endParaRPr sz="1850">
              <a:solidFill>
                <a:schemeClr val="dk1"/>
              </a:solidFill>
              <a:latin typeface="Calibri"/>
              <a:ea typeface="Calibri"/>
              <a:cs typeface="Calibri"/>
              <a:sym typeface="Calibri"/>
            </a:endParaRPr>
          </a:p>
        </p:txBody>
      </p:sp>
      <p:sp>
        <p:nvSpPr>
          <p:cNvPr id="132" name="Google Shape;132;p3"/>
          <p:cNvSpPr/>
          <p:nvPr/>
        </p:nvSpPr>
        <p:spPr>
          <a:xfrm>
            <a:off x="5389483" y="3783449"/>
            <a:ext cx="3851315" cy="882610"/>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C2C4B5"/>
              </a:buClr>
              <a:buSzPts val="1450"/>
              <a:buFont typeface="Bitter"/>
              <a:buNone/>
            </a:pPr>
            <a:r>
              <a:rPr lang="en-US" sz="1450">
                <a:solidFill>
                  <a:srgbClr val="C2C4B5"/>
                </a:solidFill>
                <a:latin typeface="Bitter"/>
                <a:ea typeface="Bitter"/>
                <a:cs typeface="Bitter"/>
                <a:sym typeface="Bitter"/>
              </a:rPr>
              <a:t>Define both hard requirements (must match) and soft preferences (should match when possible)</a:t>
            </a:r>
            <a:endParaRPr sz="1450">
              <a:solidFill>
                <a:schemeClr val="dk1"/>
              </a:solidFill>
              <a:latin typeface="Calibri"/>
              <a:ea typeface="Calibri"/>
              <a:cs typeface="Calibri"/>
              <a:sym typeface="Calibri"/>
            </a:endParaRPr>
          </a:p>
        </p:txBody>
      </p:sp>
      <p:sp>
        <p:nvSpPr>
          <p:cNvPr id="133" name="Google Shape;133;p3"/>
          <p:cNvSpPr/>
          <p:nvPr/>
        </p:nvSpPr>
        <p:spPr>
          <a:xfrm>
            <a:off x="9608344" y="2448282"/>
            <a:ext cx="4228148" cy="2406253"/>
          </a:xfrm>
          <a:prstGeom prst="roundRect">
            <a:avLst>
              <a:gd name="adj" fmla="val 1175"/>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9796820" y="2636758"/>
            <a:ext cx="565547" cy="565547"/>
          </a:xfrm>
          <a:prstGeom prst="roundRect">
            <a:avLst>
              <a:gd name="adj" fmla="val 16166801"/>
            </a:avLst>
          </a:prstGeom>
          <a:solidFill>
            <a:srgbClr val="9F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 name="Google Shape;135;p3" descr="preencoded.png"/>
          <p:cNvPicPr preferRelativeResize="0"/>
          <p:nvPr/>
        </p:nvPicPr>
        <p:blipFill rotWithShape="1">
          <a:blip r:embed="rId5">
            <a:alphaModFix/>
          </a:blip>
          <a:srcRect/>
          <a:stretch/>
        </p:blipFill>
        <p:spPr>
          <a:xfrm>
            <a:off x="9952315" y="2792254"/>
            <a:ext cx="254437" cy="254437"/>
          </a:xfrm>
          <a:prstGeom prst="rect">
            <a:avLst/>
          </a:prstGeom>
          <a:noFill/>
          <a:ln>
            <a:noFill/>
          </a:ln>
        </p:spPr>
      </p:pic>
      <p:sp>
        <p:nvSpPr>
          <p:cNvPr id="136" name="Google Shape;136;p3"/>
          <p:cNvSpPr/>
          <p:nvPr/>
        </p:nvSpPr>
        <p:spPr>
          <a:xfrm>
            <a:off x="9796820" y="3381375"/>
            <a:ext cx="2356842" cy="294680"/>
          </a:xfrm>
          <a:prstGeom prst="rect">
            <a:avLst/>
          </a:prstGeom>
          <a:noFill/>
          <a:ln>
            <a:noFill/>
          </a:ln>
        </p:spPr>
        <p:txBody>
          <a:bodyPr spcFirstLastPara="1" wrap="square" lIns="0" tIns="0" rIns="0" bIns="0" anchor="t" anchorCtr="0">
            <a:noAutofit/>
          </a:bodyPr>
          <a:lstStyle/>
          <a:p>
            <a:pPr marL="0" marR="0" lvl="0" indent="0" algn="l" rtl="0">
              <a:lnSpc>
                <a:spcPct val="124324"/>
              </a:lnSpc>
              <a:spcBef>
                <a:spcPts val="0"/>
              </a:spcBef>
              <a:spcAft>
                <a:spcPts val="0"/>
              </a:spcAft>
              <a:buClr>
                <a:srgbClr val="C2C4B5"/>
              </a:buClr>
              <a:buSzPts val="1850"/>
              <a:buFont typeface="Outfit"/>
              <a:buNone/>
            </a:pPr>
            <a:r>
              <a:rPr lang="en-US" sz="1850" b="1">
                <a:solidFill>
                  <a:srgbClr val="C2C4B5"/>
                </a:solidFill>
                <a:latin typeface="Outfit"/>
                <a:ea typeface="Outfit"/>
                <a:cs typeface="Outfit"/>
                <a:sym typeface="Outfit"/>
              </a:rPr>
              <a:t>Runtime Control</a:t>
            </a:r>
            <a:endParaRPr sz="1850">
              <a:solidFill>
                <a:schemeClr val="dk1"/>
              </a:solidFill>
              <a:latin typeface="Calibri"/>
              <a:ea typeface="Calibri"/>
              <a:cs typeface="Calibri"/>
              <a:sym typeface="Calibri"/>
            </a:endParaRPr>
          </a:p>
        </p:txBody>
      </p:sp>
      <p:sp>
        <p:nvSpPr>
          <p:cNvPr id="137" name="Google Shape;137;p3"/>
          <p:cNvSpPr/>
          <p:nvPr/>
        </p:nvSpPr>
        <p:spPr>
          <a:xfrm>
            <a:off x="9796820" y="3783449"/>
            <a:ext cx="3851196" cy="882610"/>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C2C4B5"/>
              </a:buClr>
              <a:buSzPts val="1450"/>
              <a:buFont typeface="Bitter"/>
              <a:buNone/>
            </a:pPr>
            <a:r>
              <a:rPr lang="en-US" sz="1450">
                <a:solidFill>
                  <a:srgbClr val="C2C4B5"/>
                </a:solidFill>
                <a:latin typeface="Bitter"/>
                <a:ea typeface="Bitter"/>
                <a:cs typeface="Bitter"/>
                <a:sym typeface="Bitter"/>
              </a:rPr>
              <a:t>Rules are evaluated during scheduling, with options for how changes affect running pods</a:t>
            </a:r>
            <a:endParaRPr sz="1450">
              <a:solidFill>
                <a:schemeClr val="dk1"/>
              </a:solidFill>
              <a:latin typeface="Calibri"/>
              <a:ea typeface="Calibri"/>
              <a:cs typeface="Calibri"/>
              <a:sym typeface="Calibri"/>
            </a:endParaRPr>
          </a:p>
        </p:txBody>
      </p:sp>
      <p:sp>
        <p:nvSpPr>
          <p:cNvPr id="138" name="Google Shape;138;p3"/>
          <p:cNvSpPr/>
          <p:nvPr/>
        </p:nvSpPr>
        <p:spPr>
          <a:xfrm>
            <a:off x="793790" y="5055989"/>
            <a:ext cx="13042821" cy="588407"/>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C2C4B5"/>
              </a:buClr>
              <a:buSzPts val="1450"/>
              <a:buFont typeface="Bitter"/>
              <a:buNone/>
            </a:pPr>
            <a:r>
              <a:rPr lang="en-US" sz="1450">
                <a:solidFill>
                  <a:srgbClr val="C2C4B5"/>
                </a:solidFill>
                <a:latin typeface="Bitter"/>
                <a:ea typeface="Bitter"/>
                <a:cs typeface="Bitter"/>
                <a:sym typeface="Bitter"/>
              </a:rPr>
              <a:t>Think of Node Affinity as an intelligent traffic director for your pods. Instead of letting the scheduler place pods anywhere, you provide detailed instructions about preferred or required destinations based on node characteristics.</a:t>
            </a:r>
            <a:endParaRPr sz="1450">
              <a:solidFill>
                <a:schemeClr val="dk1"/>
              </a:solidFill>
              <a:latin typeface="Calibri"/>
              <a:ea typeface="Calibri"/>
              <a:cs typeface="Calibri"/>
              <a:sym typeface="Calibri"/>
            </a:endParaRPr>
          </a:p>
        </p:txBody>
      </p:sp>
      <p:sp>
        <p:nvSpPr>
          <p:cNvPr id="139" name="Google Shape;139;p3"/>
          <p:cNvSpPr/>
          <p:nvPr/>
        </p:nvSpPr>
        <p:spPr>
          <a:xfrm>
            <a:off x="793790" y="5845850"/>
            <a:ext cx="13042821" cy="882610"/>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C2C4B5"/>
              </a:buClr>
              <a:buSzPts val="1450"/>
              <a:buFont typeface="Bitter"/>
              <a:buNone/>
            </a:pPr>
            <a:r>
              <a:rPr lang="en-US" sz="1450">
                <a:solidFill>
                  <a:srgbClr val="C2C4B5"/>
                </a:solidFill>
                <a:latin typeface="Bitter"/>
                <a:ea typeface="Bitter"/>
                <a:cs typeface="Bitter"/>
                <a:sym typeface="Bitter"/>
              </a:rPr>
              <a:t>The beauty of Node Affinity lies in its </a:t>
            </a:r>
            <a:r>
              <a:rPr lang="en-US" sz="1450" b="1">
                <a:solidFill>
                  <a:srgbClr val="9FA582"/>
                </a:solidFill>
                <a:latin typeface="Bitter"/>
                <a:ea typeface="Bitter"/>
                <a:cs typeface="Bitter"/>
                <a:sym typeface="Bitter"/>
              </a:rPr>
              <a:t>two-tiered approach</a:t>
            </a:r>
            <a:r>
              <a:rPr lang="en-US" sz="1450">
                <a:solidFill>
                  <a:srgbClr val="C2C4B5"/>
                </a:solidFill>
                <a:latin typeface="Bitter"/>
                <a:ea typeface="Bitter"/>
                <a:cs typeface="Bitter"/>
                <a:sym typeface="Bitter"/>
              </a:rPr>
              <a:t>: you can specify mandatory rules that must be satisfied (pod won't schedule otherwise), and optional preferences that the scheduler should honor when possible but can ignore if necessary. This flexibility is crucial for production systems where availability and resource constraints often require trade-offs.</a:t>
            </a:r>
            <a:endParaRPr sz="1450">
              <a:solidFill>
                <a:schemeClr val="dk1"/>
              </a:solidFill>
              <a:latin typeface="Calibri"/>
              <a:ea typeface="Calibri"/>
              <a:cs typeface="Calibri"/>
              <a:sym typeface="Calibri"/>
            </a:endParaRPr>
          </a:p>
        </p:txBody>
      </p:sp>
      <p:sp>
        <p:nvSpPr>
          <p:cNvPr id="140" name="Google Shape;140;p3"/>
          <p:cNvSpPr/>
          <p:nvPr/>
        </p:nvSpPr>
        <p:spPr>
          <a:xfrm>
            <a:off x="793790" y="6929914"/>
            <a:ext cx="13042821" cy="588407"/>
          </a:xfrm>
          <a:prstGeom prst="rect">
            <a:avLst/>
          </a:prstGeom>
          <a:noFill/>
          <a:ln>
            <a:noFill/>
          </a:ln>
        </p:spPr>
        <p:txBody>
          <a:bodyPr spcFirstLastPara="1" wrap="square" lIns="0" tIns="0" rIns="0" bIns="0" anchor="t" anchorCtr="0">
            <a:noAutofit/>
          </a:bodyPr>
          <a:lstStyle/>
          <a:p>
            <a:pPr marL="0" marR="0" lvl="0" indent="0" algn="l" rtl="0">
              <a:lnSpc>
                <a:spcPct val="158620"/>
              </a:lnSpc>
              <a:spcBef>
                <a:spcPts val="0"/>
              </a:spcBef>
              <a:spcAft>
                <a:spcPts val="0"/>
              </a:spcAft>
              <a:buClr>
                <a:srgbClr val="C2C4B5"/>
              </a:buClr>
              <a:buSzPts val="1450"/>
              <a:buFont typeface="Bitter"/>
              <a:buNone/>
            </a:pPr>
            <a:r>
              <a:rPr lang="en-US" sz="1450">
                <a:solidFill>
                  <a:srgbClr val="C2C4B5"/>
                </a:solidFill>
                <a:latin typeface="Bitter"/>
                <a:ea typeface="Bitter"/>
                <a:cs typeface="Bitter"/>
                <a:sym typeface="Bitter"/>
              </a:rPr>
              <a:t>Node Affinity works by evaluating node labels against your defined rules. Every node in a Kubernetes cluster can have multiple labels attached, creating a rich metadata system that Affinity rules can leverage to make intelligent scheduling decisions.</a:t>
            </a:r>
            <a:endParaRPr sz="14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4"/>
          <p:cNvSpPr/>
          <p:nvPr/>
        </p:nvSpPr>
        <p:spPr>
          <a:xfrm>
            <a:off x="793789" y="642699"/>
            <a:ext cx="5567821" cy="527090"/>
          </a:xfrm>
          <a:prstGeom prst="rect">
            <a:avLst/>
          </a:prstGeom>
          <a:noFill/>
          <a:ln>
            <a:noFill/>
          </a:ln>
        </p:spPr>
        <p:txBody>
          <a:bodyPr spcFirstLastPara="1" wrap="square" lIns="0" tIns="0" rIns="0" bIns="0" anchor="t" anchorCtr="0">
            <a:noAutofit/>
          </a:bodyPr>
          <a:lstStyle/>
          <a:p>
            <a:pPr marL="0" marR="0" lvl="0" indent="0" algn="l" rtl="0">
              <a:lnSpc>
                <a:spcPct val="125757"/>
              </a:lnSpc>
              <a:spcBef>
                <a:spcPts val="0"/>
              </a:spcBef>
              <a:spcAft>
                <a:spcPts val="0"/>
              </a:spcAft>
              <a:buClr>
                <a:srgbClr val="E1E5CD"/>
              </a:buClr>
              <a:buSzPts val="3300"/>
              <a:buFont typeface="Outfit"/>
              <a:buNone/>
            </a:pPr>
            <a:r>
              <a:rPr lang="en-US" sz="3300" b="1" dirty="0">
                <a:solidFill>
                  <a:srgbClr val="E1E5CD"/>
                </a:solidFill>
                <a:latin typeface="Outfit"/>
                <a:ea typeface="Outfit"/>
                <a:cs typeface="Outfit"/>
                <a:sym typeface="Outfit"/>
              </a:rPr>
              <a:t>Two Types of Node Affinity</a:t>
            </a:r>
            <a:endParaRPr sz="3300" dirty="0">
              <a:solidFill>
                <a:schemeClr val="dk1"/>
              </a:solidFill>
              <a:latin typeface="Calibri"/>
              <a:ea typeface="Calibri"/>
              <a:cs typeface="Calibri"/>
              <a:sym typeface="Calibri"/>
            </a:endParaRPr>
          </a:p>
        </p:txBody>
      </p:sp>
      <p:sp>
        <p:nvSpPr>
          <p:cNvPr id="147" name="Google Shape;147;p4"/>
          <p:cNvSpPr/>
          <p:nvPr/>
        </p:nvSpPr>
        <p:spPr>
          <a:xfrm>
            <a:off x="793790" y="1456492"/>
            <a:ext cx="13042821" cy="249674"/>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C2C4B5"/>
              </a:buClr>
              <a:buSzPts val="1300"/>
              <a:buFont typeface="Bitter"/>
              <a:buNone/>
            </a:pPr>
            <a:r>
              <a:rPr lang="en-US" sz="1300">
                <a:solidFill>
                  <a:srgbClr val="C2C4B5"/>
                </a:solidFill>
                <a:latin typeface="Bitter"/>
                <a:ea typeface="Bitter"/>
                <a:cs typeface="Bitter"/>
                <a:sym typeface="Bitter"/>
              </a:rPr>
              <a:t>Kubernetes provides two distinct affinity types, each serving different use cases and offering different guarantees about pod scheduling behavior.</a:t>
            </a:r>
            <a:endParaRPr sz="1300">
              <a:solidFill>
                <a:schemeClr val="dk1"/>
              </a:solidFill>
              <a:latin typeface="Calibri"/>
              <a:ea typeface="Calibri"/>
              <a:cs typeface="Calibri"/>
              <a:sym typeface="Calibri"/>
            </a:endParaRPr>
          </a:p>
        </p:txBody>
      </p:sp>
      <p:sp>
        <p:nvSpPr>
          <p:cNvPr id="148" name="Google Shape;148;p4"/>
          <p:cNvSpPr/>
          <p:nvPr/>
        </p:nvSpPr>
        <p:spPr>
          <a:xfrm>
            <a:off x="793790" y="1867376"/>
            <a:ext cx="6449735" cy="5058847"/>
          </a:xfrm>
          <a:prstGeom prst="roundRect">
            <a:avLst>
              <a:gd name="adj" fmla="val 2169"/>
            </a:avLst>
          </a:prstGeom>
          <a:solidFill>
            <a:srgbClr val="1C1D1F"/>
          </a:solidFill>
          <a:ln w="22850" cap="flat" cmpd="sng">
            <a:solidFill>
              <a:srgbClr val="9FA58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4"/>
          <p:cNvSpPr/>
          <p:nvPr/>
        </p:nvSpPr>
        <p:spPr>
          <a:xfrm>
            <a:off x="770930" y="1867376"/>
            <a:ext cx="91440" cy="5058847"/>
          </a:xfrm>
          <a:prstGeom prst="roundRect">
            <a:avLst>
              <a:gd name="adj" fmla="val 27674"/>
            </a:avLst>
          </a:prstGeom>
          <a:solidFill>
            <a:srgbClr val="9F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1053822" y="2058829"/>
            <a:ext cx="5998250" cy="632460"/>
          </a:xfrm>
          <a:prstGeom prst="rect">
            <a:avLst/>
          </a:prstGeom>
          <a:noFill/>
          <a:ln>
            <a:noFill/>
          </a:ln>
        </p:spPr>
        <p:txBody>
          <a:bodyPr spcFirstLastPara="1" wrap="square" lIns="0" tIns="0" rIns="0" bIns="0" anchor="t" anchorCtr="0">
            <a:noAutofit/>
          </a:bodyPr>
          <a:lstStyle/>
          <a:p>
            <a:pPr marL="0" marR="0" lvl="0" indent="0" algn="l" rtl="0">
              <a:lnSpc>
                <a:spcPct val="125641"/>
              </a:lnSpc>
              <a:spcBef>
                <a:spcPts val="0"/>
              </a:spcBef>
              <a:spcAft>
                <a:spcPts val="0"/>
              </a:spcAft>
              <a:buClr>
                <a:srgbClr val="C2C4B5"/>
              </a:buClr>
              <a:buSzPts val="1950"/>
              <a:buFont typeface="Outfit"/>
              <a:buNone/>
            </a:pPr>
            <a:r>
              <a:rPr lang="en-US" sz="1950" b="1">
                <a:solidFill>
                  <a:srgbClr val="C2C4B5"/>
                </a:solidFill>
                <a:latin typeface="Outfit"/>
                <a:ea typeface="Outfit"/>
                <a:cs typeface="Outfit"/>
                <a:sym typeface="Outfit"/>
              </a:rPr>
              <a:t>Required During Scheduling Ignored During Execution</a:t>
            </a:r>
            <a:endParaRPr sz="1950">
              <a:solidFill>
                <a:schemeClr val="dk1"/>
              </a:solidFill>
              <a:latin typeface="Calibri"/>
              <a:ea typeface="Calibri"/>
              <a:cs typeface="Calibri"/>
              <a:sym typeface="Calibri"/>
            </a:endParaRPr>
          </a:p>
        </p:txBody>
      </p:sp>
      <p:sp>
        <p:nvSpPr>
          <p:cNvPr id="151" name="Google Shape;151;p4"/>
          <p:cNvSpPr/>
          <p:nvPr/>
        </p:nvSpPr>
        <p:spPr>
          <a:xfrm>
            <a:off x="1053822" y="2777252"/>
            <a:ext cx="5998250" cy="764262"/>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C2C4B5"/>
              </a:buClr>
              <a:buSzPts val="1300"/>
              <a:buFont typeface="Bitter"/>
              <a:buNone/>
            </a:pPr>
            <a:r>
              <a:rPr lang="en-US" sz="1300" b="1">
                <a:solidFill>
                  <a:srgbClr val="C2C4B5"/>
                </a:solidFill>
                <a:latin typeface="Bitter"/>
                <a:ea typeface="Bitter"/>
                <a:cs typeface="Bitter"/>
                <a:sym typeface="Bitter"/>
              </a:rPr>
              <a:t>Hard requirement</a:t>
            </a:r>
            <a:r>
              <a:rPr lang="en-US" sz="1300">
                <a:solidFill>
                  <a:srgbClr val="C2C4B5"/>
                </a:solidFill>
                <a:latin typeface="Bitter"/>
                <a:ea typeface="Bitter"/>
                <a:cs typeface="Bitter"/>
                <a:sym typeface="Bitter"/>
              </a:rPr>
              <a:t> - the pod will only be scheduled if the node matches the specified rules. If no matching nodes are available, the pod remains in a </a:t>
            </a:r>
            <a:r>
              <a:rPr lang="en-US" sz="1300">
                <a:solidFill>
                  <a:srgbClr val="C2C4B5"/>
                </a:solidFill>
                <a:highlight>
                  <a:srgbClr val="292A2C"/>
                </a:highlight>
                <a:latin typeface="Consolas"/>
                <a:ea typeface="Consolas"/>
                <a:cs typeface="Consolas"/>
                <a:sym typeface="Consolas"/>
              </a:rPr>
              <a:t>Pending</a:t>
            </a:r>
            <a:r>
              <a:rPr lang="en-US" sz="1300">
                <a:solidFill>
                  <a:srgbClr val="C2C4B5"/>
                </a:solidFill>
                <a:latin typeface="Bitter"/>
                <a:ea typeface="Bitter"/>
                <a:cs typeface="Bitter"/>
                <a:sym typeface="Bitter"/>
              </a:rPr>
              <a:t> state.</a:t>
            </a:r>
            <a:endParaRPr sz="1300">
              <a:solidFill>
                <a:schemeClr val="dk1"/>
              </a:solidFill>
              <a:latin typeface="Calibri"/>
              <a:ea typeface="Calibri"/>
              <a:cs typeface="Calibri"/>
              <a:sym typeface="Calibri"/>
            </a:endParaRPr>
          </a:p>
        </p:txBody>
      </p:sp>
      <p:sp>
        <p:nvSpPr>
          <p:cNvPr id="152" name="Google Shape;152;p4"/>
          <p:cNvSpPr/>
          <p:nvPr/>
        </p:nvSpPr>
        <p:spPr>
          <a:xfrm>
            <a:off x="1053822" y="3627477"/>
            <a:ext cx="2108716" cy="263485"/>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C2C4B5"/>
              </a:buClr>
              <a:buSzPts val="1650"/>
              <a:buFont typeface="Outfit"/>
              <a:buNone/>
            </a:pPr>
            <a:r>
              <a:rPr lang="en-US" sz="1650" b="1">
                <a:solidFill>
                  <a:srgbClr val="C2C4B5"/>
                </a:solidFill>
                <a:latin typeface="Outfit"/>
                <a:ea typeface="Outfit"/>
                <a:cs typeface="Outfit"/>
                <a:sym typeface="Outfit"/>
              </a:rPr>
              <a:t>Characteristics</a:t>
            </a:r>
            <a:endParaRPr sz="1650">
              <a:solidFill>
                <a:schemeClr val="dk1"/>
              </a:solidFill>
              <a:latin typeface="Calibri"/>
              <a:ea typeface="Calibri"/>
              <a:cs typeface="Calibri"/>
              <a:sym typeface="Calibri"/>
            </a:endParaRPr>
          </a:p>
        </p:txBody>
      </p:sp>
      <p:sp>
        <p:nvSpPr>
          <p:cNvPr id="153" name="Google Shape;153;p4"/>
          <p:cNvSpPr/>
          <p:nvPr/>
        </p:nvSpPr>
        <p:spPr>
          <a:xfrm>
            <a:off x="1053822" y="3976926"/>
            <a:ext cx="5998250" cy="1448872"/>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C2C4B5"/>
              </a:buClr>
              <a:buSzPts val="1300"/>
              <a:buFont typeface="Bitter"/>
              <a:buChar char="•"/>
            </a:pPr>
            <a:r>
              <a:rPr lang="en-US" sz="1300">
                <a:solidFill>
                  <a:srgbClr val="C2C4B5"/>
                </a:solidFill>
                <a:latin typeface="Bitter"/>
                <a:ea typeface="Bitter"/>
                <a:cs typeface="Bitter"/>
                <a:sym typeface="Bitter"/>
              </a:rPr>
              <a:t>Evaluated during initial pod scheduling</a:t>
            </a:r>
            <a:endParaRPr sz="13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rgbClr val="C2C4B5"/>
              </a:buClr>
              <a:buSzPts val="1300"/>
              <a:buFont typeface="Bitter"/>
              <a:buChar char="•"/>
            </a:pPr>
            <a:r>
              <a:rPr lang="en-US" sz="1300">
                <a:solidFill>
                  <a:srgbClr val="C2C4B5"/>
                </a:solidFill>
                <a:latin typeface="Bitter"/>
                <a:ea typeface="Bitter"/>
                <a:cs typeface="Bitter"/>
                <a:sym typeface="Bitter"/>
              </a:rPr>
              <a:t>Must be satisfied or pod won't schedule</a:t>
            </a:r>
            <a:endParaRPr sz="13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rgbClr val="C2C4B5"/>
              </a:buClr>
              <a:buSzPts val="1300"/>
              <a:buFont typeface="Bitter"/>
              <a:buChar char="•"/>
            </a:pPr>
            <a:r>
              <a:rPr lang="en-US" sz="1300">
                <a:solidFill>
                  <a:srgbClr val="C2C4B5"/>
                </a:solidFill>
                <a:latin typeface="Bitter"/>
                <a:ea typeface="Bitter"/>
                <a:cs typeface="Bitter"/>
                <a:sym typeface="Bitter"/>
              </a:rPr>
              <a:t>Node label changes after scheduling are ignored</a:t>
            </a:r>
            <a:endParaRPr sz="13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rgbClr val="C2C4B5"/>
              </a:buClr>
              <a:buSzPts val="1300"/>
              <a:buFont typeface="Bitter"/>
              <a:buChar char="•"/>
            </a:pPr>
            <a:r>
              <a:rPr lang="en-US" sz="1300">
                <a:solidFill>
                  <a:srgbClr val="C2C4B5"/>
                </a:solidFill>
                <a:latin typeface="Bitter"/>
                <a:ea typeface="Bitter"/>
                <a:cs typeface="Bitter"/>
                <a:sym typeface="Bitter"/>
              </a:rPr>
              <a:t>Running pods continue even if node labels change</a:t>
            </a:r>
            <a:endParaRPr sz="13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rgbClr val="C2C4B5"/>
              </a:buClr>
              <a:buSzPts val="1300"/>
              <a:buFont typeface="Bitter"/>
              <a:buChar char="•"/>
            </a:pPr>
            <a:r>
              <a:rPr lang="en-US" sz="1300">
                <a:solidFill>
                  <a:srgbClr val="C2C4B5"/>
                </a:solidFill>
                <a:latin typeface="Bitter"/>
                <a:ea typeface="Bitter"/>
                <a:cs typeface="Bitter"/>
                <a:sym typeface="Bitter"/>
              </a:rPr>
              <a:t>Use for critical infrastructure requirements</a:t>
            </a:r>
            <a:endParaRPr sz="1300">
              <a:solidFill>
                <a:schemeClr val="dk1"/>
              </a:solidFill>
              <a:latin typeface="Calibri"/>
              <a:ea typeface="Calibri"/>
              <a:cs typeface="Calibri"/>
              <a:sym typeface="Calibri"/>
            </a:endParaRPr>
          </a:p>
        </p:txBody>
      </p:sp>
      <p:sp>
        <p:nvSpPr>
          <p:cNvPr id="154" name="Google Shape;154;p4"/>
          <p:cNvSpPr/>
          <p:nvPr/>
        </p:nvSpPr>
        <p:spPr>
          <a:xfrm>
            <a:off x="1053822" y="5587008"/>
            <a:ext cx="5998250" cy="1147763"/>
          </a:xfrm>
          <a:prstGeom prst="roundRect">
            <a:avLst>
              <a:gd name="adj" fmla="val 2205"/>
            </a:avLst>
          </a:prstGeom>
          <a:solidFill>
            <a:srgbClr val="2A2C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5" name="Google Shape;155;p4" descr="preencoded.png"/>
          <p:cNvPicPr preferRelativeResize="0"/>
          <p:nvPr/>
        </p:nvPicPr>
        <p:blipFill rotWithShape="1">
          <a:blip r:embed="rId3">
            <a:alphaModFix/>
          </a:blip>
          <a:srcRect/>
          <a:stretch/>
        </p:blipFill>
        <p:spPr>
          <a:xfrm>
            <a:off x="1222415" y="5825490"/>
            <a:ext cx="210860" cy="168593"/>
          </a:xfrm>
          <a:prstGeom prst="rect">
            <a:avLst/>
          </a:prstGeom>
          <a:noFill/>
          <a:ln>
            <a:noFill/>
          </a:ln>
        </p:spPr>
      </p:pic>
      <p:sp>
        <p:nvSpPr>
          <p:cNvPr id="156" name="Google Shape;156;p4"/>
          <p:cNvSpPr/>
          <p:nvPr/>
        </p:nvSpPr>
        <p:spPr>
          <a:xfrm>
            <a:off x="1601867" y="5772507"/>
            <a:ext cx="5281612" cy="749022"/>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FFFFFF"/>
              </a:buClr>
              <a:buSzPts val="1300"/>
              <a:buFont typeface="Bitter"/>
              <a:buNone/>
            </a:pPr>
            <a:r>
              <a:rPr lang="en-US" sz="1300" b="1">
                <a:solidFill>
                  <a:srgbClr val="FFFFFF"/>
                </a:solidFill>
                <a:latin typeface="Bitter"/>
                <a:ea typeface="Bitter"/>
                <a:cs typeface="Bitter"/>
                <a:sym typeface="Bitter"/>
              </a:rPr>
              <a:t>Common Use Cases:</a:t>
            </a:r>
            <a:r>
              <a:rPr lang="en-US" sz="1300">
                <a:solidFill>
                  <a:srgbClr val="FFFFFF"/>
                </a:solidFill>
                <a:latin typeface="Bitter"/>
                <a:ea typeface="Bitter"/>
                <a:cs typeface="Bitter"/>
                <a:sym typeface="Bitter"/>
              </a:rPr>
              <a:t> Database pods requiring SSD storage, GPU workloads needing specialized hardware, compliance requirements for specific regions</a:t>
            </a:r>
            <a:endParaRPr sz="1300">
              <a:solidFill>
                <a:schemeClr val="dk1"/>
              </a:solidFill>
              <a:latin typeface="Calibri"/>
              <a:ea typeface="Calibri"/>
              <a:cs typeface="Calibri"/>
              <a:sym typeface="Calibri"/>
            </a:endParaRPr>
          </a:p>
        </p:txBody>
      </p:sp>
      <p:sp>
        <p:nvSpPr>
          <p:cNvPr id="157" name="Google Shape;157;p4"/>
          <p:cNvSpPr/>
          <p:nvPr/>
        </p:nvSpPr>
        <p:spPr>
          <a:xfrm>
            <a:off x="7386876" y="1867376"/>
            <a:ext cx="6449735" cy="5058847"/>
          </a:xfrm>
          <a:prstGeom prst="roundRect">
            <a:avLst>
              <a:gd name="adj" fmla="val 2169"/>
            </a:avLst>
          </a:prstGeom>
          <a:solidFill>
            <a:srgbClr val="1C1D1F"/>
          </a:solidFill>
          <a:ln w="22850" cap="flat" cmpd="sng">
            <a:solidFill>
              <a:srgbClr val="4042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
          <p:cNvSpPr/>
          <p:nvPr/>
        </p:nvSpPr>
        <p:spPr>
          <a:xfrm>
            <a:off x="7364016" y="1867376"/>
            <a:ext cx="91440" cy="5058847"/>
          </a:xfrm>
          <a:prstGeom prst="roundRect">
            <a:avLst>
              <a:gd name="adj" fmla="val 27674"/>
            </a:avLst>
          </a:prstGeom>
          <a:solidFill>
            <a:srgbClr val="404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7646908" y="2058829"/>
            <a:ext cx="5998250" cy="632460"/>
          </a:xfrm>
          <a:prstGeom prst="rect">
            <a:avLst/>
          </a:prstGeom>
          <a:noFill/>
          <a:ln>
            <a:noFill/>
          </a:ln>
        </p:spPr>
        <p:txBody>
          <a:bodyPr spcFirstLastPara="1" wrap="square" lIns="0" tIns="0" rIns="0" bIns="0" anchor="t" anchorCtr="0">
            <a:noAutofit/>
          </a:bodyPr>
          <a:lstStyle/>
          <a:p>
            <a:pPr marL="0" marR="0" lvl="0" indent="0" algn="l" rtl="0">
              <a:lnSpc>
                <a:spcPct val="125641"/>
              </a:lnSpc>
              <a:spcBef>
                <a:spcPts val="0"/>
              </a:spcBef>
              <a:spcAft>
                <a:spcPts val="0"/>
              </a:spcAft>
              <a:buClr>
                <a:srgbClr val="C2C4B5"/>
              </a:buClr>
              <a:buSzPts val="1950"/>
              <a:buFont typeface="Outfit"/>
              <a:buNone/>
            </a:pPr>
            <a:r>
              <a:rPr lang="en-US" sz="1950" b="1">
                <a:solidFill>
                  <a:srgbClr val="C2C4B5"/>
                </a:solidFill>
                <a:latin typeface="Outfit"/>
                <a:ea typeface="Outfit"/>
                <a:cs typeface="Outfit"/>
                <a:sym typeface="Outfit"/>
              </a:rPr>
              <a:t>Preferred During Scheduling Ignored During Execution</a:t>
            </a:r>
            <a:endParaRPr sz="1950">
              <a:solidFill>
                <a:schemeClr val="dk1"/>
              </a:solidFill>
              <a:latin typeface="Calibri"/>
              <a:ea typeface="Calibri"/>
              <a:cs typeface="Calibri"/>
              <a:sym typeface="Calibri"/>
            </a:endParaRPr>
          </a:p>
        </p:txBody>
      </p:sp>
      <p:sp>
        <p:nvSpPr>
          <p:cNvPr id="160" name="Google Shape;160;p4"/>
          <p:cNvSpPr/>
          <p:nvPr/>
        </p:nvSpPr>
        <p:spPr>
          <a:xfrm>
            <a:off x="7646908" y="2777252"/>
            <a:ext cx="5998250" cy="749022"/>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C2C4B5"/>
              </a:buClr>
              <a:buSzPts val="1300"/>
              <a:buFont typeface="Bitter"/>
              <a:buNone/>
            </a:pPr>
            <a:r>
              <a:rPr lang="en-US" sz="1300" b="1">
                <a:solidFill>
                  <a:srgbClr val="C2C4B5"/>
                </a:solidFill>
                <a:latin typeface="Bitter"/>
                <a:ea typeface="Bitter"/>
                <a:cs typeface="Bitter"/>
                <a:sym typeface="Bitter"/>
              </a:rPr>
              <a:t>Soft preference</a:t>
            </a:r>
            <a:r>
              <a:rPr lang="en-US" sz="1300">
                <a:solidFill>
                  <a:srgbClr val="C2C4B5"/>
                </a:solidFill>
                <a:latin typeface="Bitter"/>
                <a:ea typeface="Bitter"/>
                <a:cs typeface="Bitter"/>
                <a:sym typeface="Bitter"/>
              </a:rPr>
              <a:t> - the scheduler will try to schedule the pod on matching nodes but can place it elsewhere if necessary. This provides flexibility while expressing intent.</a:t>
            </a:r>
            <a:endParaRPr sz="1300">
              <a:solidFill>
                <a:schemeClr val="dk1"/>
              </a:solidFill>
              <a:latin typeface="Calibri"/>
              <a:ea typeface="Calibri"/>
              <a:cs typeface="Calibri"/>
              <a:sym typeface="Calibri"/>
            </a:endParaRPr>
          </a:p>
        </p:txBody>
      </p:sp>
      <p:sp>
        <p:nvSpPr>
          <p:cNvPr id="161" name="Google Shape;161;p4"/>
          <p:cNvSpPr/>
          <p:nvPr/>
        </p:nvSpPr>
        <p:spPr>
          <a:xfrm>
            <a:off x="7646908" y="3612237"/>
            <a:ext cx="2108716" cy="263485"/>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C2C4B5"/>
              </a:buClr>
              <a:buSzPts val="1650"/>
              <a:buFont typeface="Outfit"/>
              <a:buNone/>
            </a:pPr>
            <a:r>
              <a:rPr lang="en-US" sz="1650" b="1">
                <a:solidFill>
                  <a:srgbClr val="C2C4B5"/>
                </a:solidFill>
                <a:latin typeface="Outfit"/>
                <a:ea typeface="Outfit"/>
                <a:cs typeface="Outfit"/>
                <a:sym typeface="Outfit"/>
              </a:rPr>
              <a:t>Characteristics</a:t>
            </a:r>
            <a:endParaRPr sz="1650">
              <a:solidFill>
                <a:schemeClr val="dk1"/>
              </a:solidFill>
              <a:latin typeface="Calibri"/>
              <a:ea typeface="Calibri"/>
              <a:cs typeface="Calibri"/>
              <a:sym typeface="Calibri"/>
            </a:endParaRPr>
          </a:p>
        </p:txBody>
      </p:sp>
      <p:sp>
        <p:nvSpPr>
          <p:cNvPr id="162" name="Google Shape;162;p4"/>
          <p:cNvSpPr/>
          <p:nvPr/>
        </p:nvSpPr>
        <p:spPr>
          <a:xfrm>
            <a:off x="7646908" y="3961686"/>
            <a:ext cx="5998250" cy="1149072"/>
          </a:xfrm>
          <a:prstGeom prst="rect">
            <a:avLst/>
          </a:prstGeom>
          <a:noFill/>
          <a:ln>
            <a:noFill/>
          </a:ln>
        </p:spPr>
        <p:txBody>
          <a:bodyPr spcFirstLastPara="1" wrap="square" lIns="0" tIns="0" rIns="0" bIns="0" anchor="t" anchorCtr="0">
            <a:noAutofit/>
          </a:bodyPr>
          <a:lstStyle/>
          <a:p>
            <a:pPr marL="342900" marR="0" lvl="0" indent="-342900" algn="l" rtl="0">
              <a:lnSpc>
                <a:spcPct val="150000"/>
              </a:lnSpc>
              <a:spcBef>
                <a:spcPts val="0"/>
              </a:spcBef>
              <a:spcAft>
                <a:spcPts val="0"/>
              </a:spcAft>
              <a:buClr>
                <a:srgbClr val="C2C4B5"/>
              </a:buClr>
              <a:buSzPts val="1300"/>
              <a:buFont typeface="Bitter"/>
              <a:buChar char="•"/>
            </a:pPr>
            <a:r>
              <a:rPr lang="en-US" sz="1300">
                <a:solidFill>
                  <a:srgbClr val="C2C4B5"/>
                </a:solidFill>
                <a:latin typeface="Bitter"/>
                <a:ea typeface="Bitter"/>
                <a:cs typeface="Bitter"/>
                <a:sym typeface="Bitter"/>
              </a:rPr>
              <a:t>Weighted preference (1-100) influences scheduler priority</a:t>
            </a:r>
            <a:endParaRPr sz="13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rgbClr val="C2C4B5"/>
              </a:buClr>
              <a:buSzPts val="1300"/>
              <a:buFont typeface="Bitter"/>
              <a:buChar char="•"/>
            </a:pPr>
            <a:r>
              <a:rPr lang="en-US" sz="1300">
                <a:solidFill>
                  <a:srgbClr val="C2C4B5"/>
                </a:solidFill>
                <a:latin typeface="Bitter"/>
                <a:ea typeface="Bitter"/>
                <a:cs typeface="Bitter"/>
                <a:sym typeface="Bitter"/>
              </a:rPr>
              <a:t>Pod can schedule on non-matching nodes</a:t>
            </a:r>
            <a:endParaRPr sz="13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rgbClr val="C2C4B5"/>
              </a:buClr>
              <a:buSzPts val="1300"/>
              <a:buFont typeface="Bitter"/>
              <a:buChar char="•"/>
            </a:pPr>
            <a:r>
              <a:rPr lang="en-US" sz="1300">
                <a:solidFill>
                  <a:srgbClr val="C2C4B5"/>
                </a:solidFill>
                <a:latin typeface="Bitter"/>
                <a:ea typeface="Bitter"/>
                <a:cs typeface="Bitter"/>
                <a:sym typeface="Bitter"/>
              </a:rPr>
              <a:t>Changes to node labels don't affect running pods</a:t>
            </a:r>
            <a:endParaRPr sz="13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rgbClr val="C2C4B5"/>
              </a:buClr>
              <a:buSzPts val="1300"/>
              <a:buFont typeface="Bitter"/>
              <a:buChar char="•"/>
            </a:pPr>
            <a:r>
              <a:rPr lang="en-US" sz="1300">
                <a:solidFill>
                  <a:srgbClr val="C2C4B5"/>
                </a:solidFill>
                <a:latin typeface="Bitter"/>
                <a:ea typeface="Bitter"/>
                <a:cs typeface="Bitter"/>
                <a:sym typeface="Bitter"/>
              </a:rPr>
              <a:t>Use for optimization and cost considerations</a:t>
            </a:r>
            <a:endParaRPr sz="1300">
              <a:solidFill>
                <a:schemeClr val="dk1"/>
              </a:solidFill>
              <a:latin typeface="Calibri"/>
              <a:ea typeface="Calibri"/>
              <a:cs typeface="Calibri"/>
              <a:sym typeface="Calibri"/>
            </a:endParaRPr>
          </a:p>
        </p:txBody>
      </p:sp>
      <p:sp>
        <p:nvSpPr>
          <p:cNvPr id="163" name="Google Shape;163;p4"/>
          <p:cNvSpPr/>
          <p:nvPr/>
        </p:nvSpPr>
        <p:spPr>
          <a:xfrm>
            <a:off x="7646908" y="5271968"/>
            <a:ext cx="5998250" cy="1147763"/>
          </a:xfrm>
          <a:prstGeom prst="roundRect">
            <a:avLst>
              <a:gd name="adj" fmla="val 2205"/>
            </a:avLst>
          </a:prstGeom>
          <a:solidFill>
            <a:srgbClr val="2A2C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4" name="Google Shape;164;p4" descr="preencoded.png"/>
          <p:cNvPicPr preferRelativeResize="0"/>
          <p:nvPr/>
        </p:nvPicPr>
        <p:blipFill rotWithShape="1">
          <a:blip r:embed="rId3">
            <a:alphaModFix/>
          </a:blip>
          <a:srcRect/>
          <a:stretch/>
        </p:blipFill>
        <p:spPr>
          <a:xfrm>
            <a:off x="7815501" y="5510451"/>
            <a:ext cx="210860" cy="168593"/>
          </a:xfrm>
          <a:prstGeom prst="rect">
            <a:avLst/>
          </a:prstGeom>
          <a:noFill/>
          <a:ln>
            <a:noFill/>
          </a:ln>
        </p:spPr>
      </p:pic>
      <p:sp>
        <p:nvSpPr>
          <p:cNvPr id="165" name="Google Shape;165;p4"/>
          <p:cNvSpPr/>
          <p:nvPr/>
        </p:nvSpPr>
        <p:spPr>
          <a:xfrm>
            <a:off x="8194953" y="5457468"/>
            <a:ext cx="5281612" cy="749022"/>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FFFFFF"/>
              </a:buClr>
              <a:buSzPts val="1300"/>
              <a:buFont typeface="Bitter"/>
              <a:buNone/>
            </a:pPr>
            <a:r>
              <a:rPr lang="en-US" sz="1300" b="1">
                <a:solidFill>
                  <a:srgbClr val="FFFFFF"/>
                </a:solidFill>
                <a:latin typeface="Bitter"/>
                <a:ea typeface="Bitter"/>
                <a:cs typeface="Bitter"/>
                <a:sym typeface="Bitter"/>
              </a:rPr>
              <a:t>Common Use Cases:</a:t>
            </a:r>
            <a:r>
              <a:rPr lang="en-US" sz="1300">
                <a:solidFill>
                  <a:srgbClr val="FFFFFF"/>
                </a:solidFill>
                <a:latin typeface="Bitter"/>
                <a:ea typeface="Bitter"/>
                <a:cs typeface="Bitter"/>
                <a:sym typeface="Bitter"/>
              </a:rPr>
              <a:t> Preferring nodes in the same availability zone for lower latency, favoring newer hardware, cost-optimized scheduling across node pools</a:t>
            </a:r>
            <a:endParaRPr sz="1300">
              <a:solidFill>
                <a:schemeClr val="dk1"/>
              </a:solidFill>
              <a:latin typeface="Calibri"/>
              <a:ea typeface="Calibri"/>
              <a:cs typeface="Calibri"/>
              <a:sym typeface="Calibri"/>
            </a:endParaRPr>
          </a:p>
        </p:txBody>
      </p:sp>
      <p:sp>
        <p:nvSpPr>
          <p:cNvPr id="166" name="Google Shape;166;p4"/>
          <p:cNvSpPr/>
          <p:nvPr/>
        </p:nvSpPr>
        <p:spPr>
          <a:xfrm>
            <a:off x="793790" y="7087433"/>
            <a:ext cx="13042821" cy="499348"/>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C2C4B5"/>
              </a:buClr>
              <a:buSzPts val="1300"/>
              <a:buFont typeface="Bitter"/>
              <a:buNone/>
            </a:pPr>
            <a:r>
              <a:rPr lang="en-US" sz="1300">
                <a:solidFill>
                  <a:srgbClr val="C2C4B5"/>
                </a:solidFill>
                <a:latin typeface="Bitter"/>
                <a:ea typeface="Bitter"/>
                <a:cs typeface="Bitter"/>
                <a:sym typeface="Bitter"/>
              </a:rPr>
              <a:t>The "Ignored During Execution" part of both names is crucial: it means that if node labels change after a pod is running, Kubernetes won't automatically evict or reschedule that pod. This prevents unnecessary pod churn but means you need </a:t>
            </a:r>
            <a:r>
              <a:rPr lang="en-US" sz="1300" b="1">
                <a:solidFill>
                  <a:srgbClr val="9FA582"/>
                </a:solidFill>
                <a:latin typeface="Bitter"/>
                <a:ea typeface="Bitter"/>
                <a:cs typeface="Bitter"/>
                <a:sym typeface="Bitter"/>
              </a:rPr>
              <a:t>taints and tolerations</a:t>
            </a:r>
            <a:r>
              <a:rPr lang="en-US" sz="1300">
                <a:solidFill>
                  <a:srgbClr val="C2C4B5"/>
                </a:solidFill>
                <a:latin typeface="Bitter"/>
                <a:ea typeface="Bitter"/>
                <a:cs typeface="Bitter"/>
                <a:sym typeface="Bitter"/>
              </a:rPr>
              <a:t> for runtime node restrictions.</a:t>
            </a:r>
            <a:endParaRPr sz="13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5"/>
          <p:cNvSpPr/>
          <p:nvPr/>
        </p:nvSpPr>
        <p:spPr>
          <a:xfrm>
            <a:off x="746165" y="590193"/>
            <a:ext cx="3917275" cy="369569"/>
          </a:xfrm>
          <a:prstGeom prst="rect">
            <a:avLst/>
          </a:prstGeom>
          <a:noFill/>
          <a:ln>
            <a:noFill/>
          </a:ln>
        </p:spPr>
        <p:txBody>
          <a:bodyPr spcFirstLastPara="1" wrap="square" lIns="0" tIns="0" rIns="0" bIns="0" anchor="t" anchorCtr="0">
            <a:noAutofit/>
          </a:bodyPr>
          <a:lstStyle/>
          <a:p>
            <a:pPr marL="0" marR="0" lvl="0" indent="0" algn="l" rtl="0">
              <a:lnSpc>
                <a:spcPct val="125531"/>
              </a:lnSpc>
              <a:spcBef>
                <a:spcPts val="0"/>
              </a:spcBef>
              <a:spcAft>
                <a:spcPts val="0"/>
              </a:spcAft>
              <a:buClr>
                <a:srgbClr val="E1E5CD"/>
              </a:buClr>
              <a:buSzPts val="2350"/>
              <a:buFont typeface="Outfit"/>
              <a:buNone/>
            </a:pPr>
            <a:r>
              <a:rPr lang="en-US" sz="2350" b="1" dirty="0">
                <a:solidFill>
                  <a:srgbClr val="E1E5CD"/>
                </a:solidFill>
                <a:latin typeface="Outfit"/>
                <a:ea typeface="Outfit"/>
                <a:cs typeface="Outfit"/>
                <a:sym typeface="Outfit"/>
              </a:rPr>
              <a:t>YAML Syntax Breakdown</a:t>
            </a:r>
            <a:endParaRPr sz="2350" dirty="0">
              <a:solidFill>
                <a:schemeClr val="dk1"/>
              </a:solidFill>
              <a:latin typeface="Calibri"/>
              <a:ea typeface="Calibri"/>
              <a:cs typeface="Calibri"/>
              <a:sym typeface="Calibri"/>
            </a:endParaRPr>
          </a:p>
        </p:txBody>
      </p:sp>
      <p:sp>
        <p:nvSpPr>
          <p:cNvPr id="173" name="Google Shape;173;p5"/>
          <p:cNvSpPr/>
          <p:nvPr/>
        </p:nvSpPr>
        <p:spPr>
          <a:xfrm>
            <a:off x="746165" y="1117163"/>
            <a:ext cx="13138071" cy="163711"/>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C2C4B5"/>
              </a:buClr>
              <a:buSzPts val="950"/>
              <a:buFont typeface="Bitter"/>
              <a:buNone/>
            </a:pPr>
            <a:r>
              <a:rPr lang="en-US" sz="950">
                <a:solidFill>
                  <a:srgbClr val="C2C4B5"/>
                </a:solidFill>
                <a:latin typeface="Bitter"/>
                <a:ea typeface="Bitter"/>
                <a:cs typeface="Bitter"/>
                <a:sym typeface="Bitter"/>
              </a:rPr>
              <a:t>Node Affinity is defined in your pod specification under </a:t>
            </a:r>
            <a:r>
              <a:rPr lang="en-US" sz="950">
                <a:solidFill>
                  <a:srgbClr val="C2C4B5"/>
                </a:solidFill>
                <a:highlight>
                  <a:srgbClr val="292A2C"/>
                </a:highlight>
                <a:latin typeface="Consolas"/>
                <a:ea typeface="Consolas"/>
                <a:cs typeface="Consolas"/>
                <a:sym typeface="Consolas"/>
              </a:rPr>
              <a:t>spec.affinity.nodeAffinity</a:t>
            </a:r>
            <a:r>
              <a:rPr lang="en-US" sz="950">
                <a:solidFill>
                  <a:srgbClr val="C2C4B5"/>
                </a:solidFill>
                <a:latin typeface="Bitter"/>
                <a:ea typeface="Bitter"/>
                <a:cs typeface="Bitter"/>
                <a:sym typeface="Bitter"/>
              </a:rPr>
              <a:t>. Let's break down the structure with a complete example.</a:t>
            </a:r>
            <a:endParaRPr sz="950">
              <a:solidFill>
                <a:schemeClr val="dk1"/>
              </a:solidFill>
              <a:latin typeface="Calibri"/>
              <a:ea typeface="Calibri"/>
              <a:cs typeface="Calibri"/>
              <a:sym typeface="Calibri"/>
            </a:endParaRPr>
          </a:p>
        </p:txBody>
      </p:sp>
      <p:sp>
        <p:nvSpPr>
          <p:cNvPr id="174" name="Google Shape;174;p5"/>
          <p:cNvSpPr/>
          <p:nvPr/>
        </p:nvSpPr>
        <p:spPr>
          <a:xfrm>
            <a:off x="746165" y="1364218"/>
            <a:ext cx="13138071" cy="5081230"/>
          </a:xfrm>
          <a:prstGeom prst="roundRect">
            <a:avLst>
              <a:gd name="adj" fmla="val 358"/>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740212" y="1364218"/>
            <a:ext cx="13149977" cy="5081230"/>
          </a:xfrm>
          <a:prstGeom prst="roundRect">
            <a:avLst>
              <a:gd name="adj" fmla="val 358"/>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891778" y="1485424"/>
            <a:ext cx="12846844" cy="4838819"/>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79C0FF"/>
              </a:buClr>
              <a:buSzPts val="950"/>
              <a:buFont typeface="Consolas"/>
              <a:buNone/>
            </a:pPr>
            <a:r>
              <a:rPr lang="en-US" sz="800" dirty="0" err="1">
                <a:solidFill>
                  <a:srgbClr val="79C0FF"/>
                </a:solidFill>
                <a:highlight>
                  <a:srgbClr val="292A2C"/>
                </a:highlight>
                <a:latin typeface="Consolas"/>
                <a:ea typeface="Consolas"/>
                <a:cs typeface="Consolas"/>
                <a:sym typeface="Consolas"/>
              </a:rPr>
              <a:t>apiVersion</a:t>
            </a:r>
            <a:r>
              <a:rPr lang="en-US" sz="800" dirty="0">
                <a:solidFill>
                  <a:srgbClr val="79C0FF"/>
                </a:solidFill>
                <a:highlight>
                  <a:srgbClr val="292A2C"/>
                </a:highlight>
                <a:latin typeface="Consolas"/>
                <a:ea typeface="Consolas"/>
                <a:cs typeface="Consolas"/>
                <a:sym typeface="Consolas"/>
              </a:rPr>
              <a:t>: v1</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kind: Pod</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metadata:</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name: affinity-demo-pod</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spec:</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affinity:</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a:t>
            </a:r>
            <a:r>
              <a:rPr lang="en-US" sz="800" dirty="0" err="1">
                <a:solidFill>
                  <a:srgbClr val="79C0FF"/>
                </a:solidFill>
                <a:highlight>
                  <a:srgbClr val="292A2C"/>
                </a:highlight>
                <a:latin typeface="Consolas"/>
                <a:ea typeface="Consolas"/>
                <a:cs typeface="Consolas"/>
                <a:sym typeface="Consolas"/>
              </a:rPr>
              <a:t>nodeAffinity</a:t>
            </a:r>
            <a:r>
              <a:rPr lang="en-US" sz="800" dirty="0">
                <a:solidFill>
                  <a:srgbClr val="79C0FF"/>
                </a:solidFill>
                <a:highlight>
                  <a:srgbClr val="292A2C"/>
                </a:highlight>
                <a:latin typeface="Consolas"/>
                <a:ea typeface="Consolas"/>
                <a:cs typeface="Consolas"/>
                <a:sym typeface="Consolas"/>
              </a:rPr>
              <a:t>:</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a:t>
            </a:r>
            <a:r>
              <a:rPr lang="en-US" sz="800" dirty="0" err="1">
                <a:solidFill>
                  <a:srgbClr val="79C0FF"/>
                </a:solidFill>
                <a:highlight>
                  <a:srgbClr val="292A2C"/>
                </a:highlight>
                <a:latin typeface="Consolas"/>
                <a:ea typeface="Consolas"/>
                <a:cs typeface="Consolas"/>
                <a:sym typeface="Consolas"/>
              </a:rPr>
              <a:t>requiredDuringSchedulingIgnoredDuringExecution</a:t>
            </a:r>
            <a:r>
              <a:rPr lang="en-US" sz="800" dirty="0">
                <a:solidFill>
                  <a:srgbClr val="79C0FF"/>
                </a:solidFill>
                <a:highlight>
                  <a:srgbClr val="292A2C"/>
                </a:highlight>
                <a:latin typeface="Consolas"/>
                <a:ea typeface="Consolas"/>
                <a:cs typeface="Consolas"/>
                <a:sym typeface="Consolas"/>
              </a:rPr>
              <a:t>:</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a:t>
            </a:r>
            <a:r>
              <a:rPr lang="en-US" sz="800" dirty="0" err="1">
                <a:solidFill>
                  <a:srgbClr val="79C0FF"/>
                </a:solidFill>
                <a:highlight>
                  <a:srgbClr val="292A2C"/>
                </a:highlight>
                <a:latin typeface="Consolas"/>
                <a:ea typeface="Consolas"/>
                <a:cs typeface="Consolas"/>
                <a:sym typeface="Consolas"/>
              </a:rPr>
              <a:t>nodeSelectorTerms</a:t>
            </a:r>
            <a:r>
              <a:rPr lang="en-US" sz="800" dirty="0">
                <a:solidFill>
                  <a:srgbClr val="79C0FF"/>
                </a:solidFill>
                <a:highlight>
                  <a:srgbClr val="292A2C"/>
                </a:highlight>
                <a:latin typeface="Consolas"/>
                <a:ea typeface="Consolas"/>
                <a:cs typeface="Consolas"/>
                <a:sym typeface="Consolas"/>
              </a:rPr>
              <a:t>:</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a:t>
            </a:r>
            <a:r>
              <a:rPr lang="en-US" sz="800" dirty="0" err="1">
                <a:solidFill>
                  <a:srgbClr val="79C0FF"/>
                </a:solidFill>
                <a:highlight>
                  <a:srgbClr val="292A2C"/>
                </a:highlight>
                <a:latin typeface="Consolas"/>
                <a:ea typeface="Consolas"/>
                <a:cs typeface="Consolas"/>
                <a:sym typeface="Consolas"/>
              </a:rPr>
              <a:t>matchExpressions</a:t>
            </a:r>
            <a:r>
              <a:rPr lang="en-US" sz="800" dirty="0">
                <a:solidFill>
                  <a:srgbClr val="79C0FF"/>
                </a:solidFill>
                <a:highlight>
                  <a:srgbClr val="292A2C"/>
                </a:highlight>
                <a:latin typeface="Consolas"/>
                <a:ea typeface="Consolas"/>
                <a:cs typeface="Consolas"/>
                <a:sym typeface="Consolas"/>
              </a:rPr>
              <a:t>:</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key: kubernetes.io/e2e-az-name</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operator: In</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values:</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e2e-az1</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e2e-az2</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a:t>
            </a:r>
            <a:r>
              <a:rPr lang="en-US" sz="800" dirty="0" err="1">
                <a:solidFill>
                  <a:srgbClr val="79C0FF"/>
                </a:solidFill>
                <a:highlight>
                  <a:srgbClr val="292A2C"/>
                </a:highlight>
                <a:latin typeface="Consolas"/>
                <a:ea typeface="Consolas"/>
                <a:cs typeface="Consolas"/>
                <a:sym typeface="Consolas"/>
              </a:rPr>
              <a:t>preferredDuringSchedulingIgnoredDuringExecution</a:t>
            </a:r>
            <a:r>
              <a:rPr lang="en-US" sz="800" dirty="0">
                <a:solidFill>
                  <a:srgbClr val="79C0FF"/>
                </a:solidFill>
                <a:highlight>
                  <a:srgbClr val="292A2C"/>
                </a:highlight>
                <a:latin typeface="Consolas"/>
                <a:ea typeface="Consolas"/>
                <a:cs typeface="Consolas"/>
                <a:sym typeface="Consolas"/>
              </a:rPr>
              <a:t>:</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weight: 1</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preference:</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a:t>
            </a:r>
            <a:r>
              <a:rPr lang="en-US" sz="800" dirty="0" err="1">
                <a:solidFill>
                  <a:srgbClr val="79C0FF"/>
                </a:solidFill>
                <a:highlight>
                  <a:srgbClr val="292A2C"/>
                </a:highlight>
                <a:latin typeface="Consolas"/>
                <a:ea typeface="Consolas"/>
                <a:cs typeface="Consolas"/>
                <a:sym typeface="Consolas"/>
              </a:rPr>
              <a:t>matchExpressions</a:t>
            </a:r>
            <a:r>
              <a:rPr lang="en-US" sz="800" dirty="0">
                <a:solidFill>
                  <a:srgbClr val="79C0FF"/>
                </a:solidFill>
                <a:highlight>
                  <a:srgbClr val="292A2C"/>
                </a:highlight>
                <a:latin typeface="Consolas"/>
                <a:ea typeface="Consolas"/>
                <a:cs typeface="Consolas"/>
                <a:sym typeface="Consolas"/>
              </a:rPr>
              <a:t>:</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key: topology.kubernetes.io/zone</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operator: In</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values:</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zone1</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weight: 50</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preference:</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a:t>
            </a:r>
            <a:r>
              <a:rPr lang="en-US" sz="800" dirty="0" err="1">
                <a:solidFill>
                  <a:srgbClr val="79C0FF"/>
                </a:solidFill>
                <a:highlight>
                  <a:srgbClr val="292A2C"/>
                </a:highlight>
                <a:latin typeface="Consolas"/>
                <a:ea typeface="Consolas"/>
                <a:cs typeface="Consolas"/>
                <a:sym typeface="Consolas"/>
              </a:rPr>
              <a:t>matchExpressions</a:t>
            </a:r>
            <a:r>
              <a:rPr lang="en-US" sz="800" dirty="0">
                <a:solidFill>
                  <a:srgbClr val="79C0FF"/>
                </a:solidFill>
                <a:highlight>
                  <a:srgbClr val="292A2C"/>
                </a:highlight>
                <a:latin typeface="Consolas"/>
                <a:ea typeface="Consolas"/>
                <a:cs typeface="Consolas"/>
                <a:sym typeface="Consolas"/>
              </a:rPr>
              <a:t>:</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key: hardware-type</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operator: Exists</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containers:</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 name: nginx</a:t>
            </a:r>
            <a:endParaRPr sz="800" dirty="0">
              <a:solidFill>
                <a:schemeClr val="dk1"/>
              </a:solidFill>
              <a:latin typeface="Calibri"/>
              <a:ea typeface="Calibri"/>
              <a:cs typeface="Calibri"/>
              <a:sym typeface="Calibri"/>
            </a:endParaRPr>
          </a:p>
          <a:p>
            <a:pPr marL="0" marR="0" lvl="0" indent="0" algn="l" rtl="0">
              <a:lnSpc>
                <a:spcPct val="126315"/>
              </a:lnSpc>
              <a:spcBef>
                <a:spcPts val="0"/>
              </a:spcBef>
              <a:spcAft>
                <a:spcPts val="0"/>
              </a:spcAft>
              <a:buClr>
                <a:srgbClr val="79C0FF"/>
              </a:buClr>
              <a:buSzPts val="950"/>
              <a:buFont typeface="Consolas"/>
              <a:buNone/>
            </a:pPr>
            <a:r>
              <a:rPr lang="en-US" sz="800" dirty="0">
                <a:solidFill>
                  <a:srgbClr val="79C0FF"/>
                </a:solidFill>
                <a:highlight>
                  <a:srgbClr val="292A2C"/>
                </a:highlight>
                <a:latin typeface="Consolas"/>
                <a:ea typeface="Consolas"/>
                <a:cs typeface="Consolas"/>
                <a:sym typeface="Consolas"/>
              </a:rPr>
              <a:t>    image: nginx</a:t>
            </a:r>
            <a:endParaRPr sz="800" dirty="0">
              <a:solidFill>
                <a:schemeClr val="dk1"/>
              </a:solidFill>
              <a:latin typeface="Calibri"/>
              <a:ea typeface="Calibri"/>
              <a:cs typeface="Calibri"/>
              <a:sym typeface="Calibri"/>
            </a:endParaRPr>
          </a:p>
        </p:txBody>
      </p:sp>
      <p:sp>
        <p:nvSpPr>
          <p:cNvPr id="177" name="Google Shape;177;p5"/>
          <p:cNvSpPr/>
          <p:nvPr/>
        </p:nvSpPr>
        <p:spPr>
          <a:xfrm>
            <a:off x="746165" y="6602849"/>
            <a:ext cx="1709380" cy="189428"/>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E1E5CD"/>
              </a:buClr>
              <a:buSzPts val="1150"/>
              <a:buFont typeface="Outfit"/>
              <a:buNone/>
            </a:pPr>
            <a:r>
              <a:rPr lang="en-US" sz="1150" b="1">
                <a:solidFill>
                  <a:srgbClr val="E1E5CD"/>
                </a:solidFill>
                <a:latin typeface="Outfit"/>
                <a:ea typeface="Outfit"/>
                <a:cs typeface="Outfit"/>
                <a:sym typeface="Outfit"/>
              </a:rPr>
              <a:t>Required Rules Structure</a:t>
            </a:r>
            <a:endParaRPr sz="1150">
              <a:solidFill>
                <a:schemeClr val="dk1"/>
              </a:solidFill>
              <a:latin typeface="Calibri"/>
              <a:ea typeface="Calibri"/>
              <a:cs typeface="Calibri"/>
              <a:sym typeface="Calibri"/>
            </a:endParaRPr>
          </a:p>
        </p:txBody>
      </p:sp>
      <p:sp>
        <p:nvSpPr>
          <p:cNvPr id="178" name="Google Shape;178;p5"/>
          <p:cNvSpPr/>
          <p:nvPr/>
        </p:nvSpPr>
        <p:spPr>
          <a:xfrm>
            <a:off x="746165" y="6866334"/>
            <a:ext cx="6421160" cy="319802"/>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C2C4B5"/>
              </a:buClr>
              <a:buSzPts val="950"/>
              <a:buFont typeface="Bitter"/>
              <a:buNone/>
            </a:pPr>
            <a:r>
              <a:rPr lang="en-US" sz="950">
                <a:solidFill>
                  <a:srgbClr val="C2C4B5"/>
                </a:solidFill>
                <a:latin typeface="Bitter"/>
                <a:ea typeface="Bitter"/>
                <a:cs typeface="Bitter"/>
                <a:sym typeface="Bitter"/>
              </a:rPr>
              <a:t>The </a:t>
            </a:r>
            <a:r>
              <a:rPr lang="en-US" sz="950">
                <a:solidFill>
                  <a:srgbClr val="C2C4B5"/>
                </a:solidFill>
                <a:highlight>
                  <a:srgbClr val="292A2C"/>
                </a:highlight>
                <a:latin typeface="Consolas"/>
                <a:ea typeface="Consolas"/>
                <a:cs typeface="Consolas"/>
                <a:sym typeface="Consolas"/>
              </a:rPr>
              <a:t>requiredDuringSchedulingIgnoredDuringExecution</a:t>
            </a:r>
            <a:r>
              <a:rPr lang="en-US" sz="950">
                <a:solidFill>
                  <a:srgbClr val="C2C4B5"/>
                </a:solidFill>
                <a:latin typeface="Bitter"/>
                <a:ea typeface="Bitter"/>
                <a:cs typeface="Bitter"/>
                <a:sym typeface="Bitter"/>
              </a:rPr>
              <a:t> section contains </a:t>
            </a:r>
            <a:r>
              <a:rPr lang="en-US" sz="950">
                <a:solidFill>
                  <a:srgbClr val="C2C4B5"/>
                </a:solidFill>
                <a:highlight>
                  <a:srgbClr val="292A2C"/>
                </a:highlight>
                <a:latin typeface="Consolas"/>
                <a:ea typeface="Consolas"/>
                <a:cs typeface="Consolas"/>
                <a:sym typeface="Consolas"/>
              </a:rPr>
              <a:t>nodeSelectorTerms</a:t>
            </a:r>
            <a:r>
              <a:rPr lang="en-US" sz="950">
                <a:solidFill>
                  <a:srgbClr val="C2C4B5"/>
                </a:solidFill>
                <a:latin typeface="Bitter"/>
                <a:ea typeface="Bitter"/>
                <a:cs typeface="Bitter"/>
                <a:sym typeface="Bitter"/>
              </a:rPr>
              <a:t>, which is a list of terms where at least one must match (OR logic).</a:t>
            </a:r>
            <a:endParaRPr sz="950">
              <a:solidFill>
                <a:schemeClr val="dk1"/>
              </a:solidFill>
              <a:latin typeface="Calibri"/>
              <a:ea typeface="Calibri"/>
              <a:cs typeface="Calibri"/>
              <a:sym typeface="Calibri"/>
            </a:endParaRPr>
          </a:p>
        </p:txBody>
      </p:sp>
      <p:sp>
        <p:nvSpPr>
          <p:cNvPr id="179" name="Google Shape;179;p5"/>
          <p:cNvSpPr/>
          <p:nvPr/>
        </p:nvSpPr>
        <p:spPr>
          <a:xfrm>
            <a:off x="746165" y="7252811"/>
            <a:ext cx="6421160" cy="319802"/>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C2C4B5"/>
              </a:buClr>
              <a:buSzPts val="950"/>
              <a:buFont typeface="Bitter"/>
              <a:buNone/>
            </a:pPr>
            <a:r>
              <a:rPr lang="en-US" sz="950">
                <a:solidFill>
                  <a:srgbClr val="C2C4B5"/>
                </a:solidFill>
                <a:latin typeface="Bitter"/>
                <a:ea typeface="Bitter"/>
                <a:cs typeface="Bitter"/>
                <a:sym typeface="Bitter"/>
              </a:rPr>
              <a:t>Each term contains </a:t>
            </a:r>
            <a:r>
              <a:rPr lang="en-US" sz="950">
                <a:solidFill>
                  <a:srgbClr val="C2C4B5"/>
                </a:solidFill>
                <a:highlight>
                  <a:srgbClr val="292A2C"/>
                </a:highlight>
                <a:latin typeface="Consolas"/>
                <a:ea typeface="Consolas"/>
                <a:cs typeface="Consolas"/>
                <a:sym typeface="Consolas"/>
              </a:rPr>
              <a:t>matchExpressions</a:t>
            </a:r>
            <a:r>
              <a:rPr lang="en-US" sz="950">
                <a:solidFill>
                  <a:srgbClr val="C2C4B5"/>
                </a:solidFill>
                <a:latin typeface="Bitter"/>
                <a:ea typeface="Bitter"/>
                <a:cs typeface="Bitter"/>
                <a:sym typeface="Bitter"/>
              </a:rPr>
              <a:t> - a list of expressions that must all match (AND logic). This creates flexible combinations of requirements.</a:t>
            </a:r>
            <a:endParaRPr sz="950">
              <a:solidFill>
                <a:schemeClr val="dk1"/>
              </a:solidFill>
              <a:latin typeface="Calibri"/>
              <a:ea typeface="Calibri"/>
              <a:cs typeface="Calibri"/>
              <a:sym typeface="Calibri"/>
            </a:endParaRPr>
          </a:p>
        </p:txBody>
      </p:sp>
      <p:sp>
        <p:nvSpPr>
          <p:cNvPr id="180" name="Google Shape;180;p5"/>
          <p:cNvSpPr/>
          <p:nvPr/>
        </p:nvSpPr>
        <p:spPr>
          <a:xfrm>
            <a:off x="7470696" y="6602849"/>
            <a:ext cx="1769388" cy="189428"/>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E1E5CD"/>
              </a:buClr>
              <a:buSzPts val="1150"/>
              <a:buFont typeface="Outfit"/>
              <a:buNone/>
            </a:pPr>
            <a:r>
              <a:rPr lang="en-US" sz="1150" b="1">
                <a:solidFill>
                  <a:srgbClr val="E1E5CD"/>
                </a:solidFill>
                <a:latin typeface="Outfit"/>
                <a:ea typeface="Outfit"/>
                <a:cs typeface="Outfit"/>
                <a:sym typeface="Outfit"/>
              </a:rPr>
              <a:t>Preferred Rules Structure</a:t>
            </a:r>
            <a:endParaRPr sz="1150">
              <a:solidFill>
                <a:schemeClr val="dk1"/>
              </a:solidFill>
              <a:latin typeface="Calibri"/>
              <a:ea typeface="Calibri"/>
              <a:cs typeface="Calibri"/>
              <a:sym typeface="Calibri"/>
            </a:endParaRPr>
          </a:p>
        </p:txBody>
      </p:sp>
      <p:sp>
        <p:nvSpPr>
          <p:cNvPr id="181" name="Google Shape;181;p5"/>
          <p:cNvSpPr/>
          <p:nvPr/>
        </p:nvSpPr>
        <p:spPr>
          <a:xfrm>
            <a:off x="7470696" y="6866334"/>
            <a:ext cx="6421160" cy="327422"/>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C2C4B5"/>
              </a:buClr>
              <a:buSzPts val="950"/>
              <a:buFont typeface="Bitter"/>
              <a:buNone/>
            </a:pPr>
            <a:r>
              <a:rPr lang="en-US" sz="950">
                <a:solidFill>
                  <a:srgbClr val="C2C4B5"/>
                </a:solidFill>
                <a:latin typeface="Bitter"/>
                <a:ea typeface="Bitter"/>
                <a:cs typeface="Bitter"/>
                <a:sym typeface="Bitter"/>
              </a:rPr>
              <a:t>The </a:t>
            </a:r>
            <a:r>
              <a:rPr lang="en-US" sz="950">
                <a:solidFill>
                  <a:srgbClr val="C2C4B5"/>
                </a:solidFill>
                <a:highlight>
                  <a:srgbClr val="292A2C"/>
                </a:highlight>
                <a:latin typeface="Consolas"/>
                <a:ea typeface="Consolas"/>
                <a:cs typeface="Consolas"/>
                <a:sym typeface="Consolas"/>
              </a:rPr>
              <a:t>preferredDuringSchedulingIgnoredDuringExecution</a:t>
            </a:r>
            <a:r>
              <a:rPr lang="en-US" sz="950">
                <a:solidFill>
                  <a:srgbClr val="C2C4B5"/>
                </a:solidFill>
                <a:latin typeface="Bitter"/>
                <a:ea typeface="Bitter"/>
                <a:cs typeface="Bitter"/>
                <a:sym typeface="Bitter"/>
              </a:rPr>
              <a:t> section contains a list of preferences, each with a </a:t>
            </a:r>
            <a:r>
              <a:rPr lang="en-US" sz="950">
                <a:solidFill>
                  <a:srgbClr val="C2C4B5"/>
                </a:solidFill>
                <a:highlight>
                  <a:srgbClr val="292A2C"/>
                </a:highlight>
                <a:latin typeface="Consolas"/>
                <a:ea typeface="Consolas"/>
                <a:cs typeface="Consolas"/>
                <a:sym typeface="Consolas"/>
              </a:rPr>
              <a:t>weight</a:t>
            </a:r>
            <a:r>
              <a:rPr lang="en-US" sz="950">
                <a:solidFill>
                  <a:srgbClr val="C2C4B5"/>
                </a:solidFill>
                <a:latin typeface="Bitter"/>
                <a:ea typeface="Bitter"/>
                <a:cs typeface="Bitter"/>
                <a:sym typeface="Bitter"/>
              </a:rPr>
              <a:t> (1-100) and </a:t>
            </a:r>
            <a:r>
              <a:rPr lang="en-US" sz="950">
                <a:solidFill>
                  <a:srgbClr val="C2C4B5"/>
                </a:solidFill>
                <a:highlight>
                  <a:srgbClr val="292A2C"/>
                </a:highlight>
                <a:latin typeface="Consolas"/>
                <a:ea typeface="Consolas"/>
                <a:cs typeface="Consolas"/>
                <a:sym typeface="Consolas"/>
              </a:rPr>
              <a:t>preference</a:t>
            </a:r>
            <a:r>
              <a:rPr lang="en-US" sz="950">
                <a:solidFill>
                  <a:srgbClr val="C2C4B5"/>
                </a:solidFill>
                <a:latin typeface="Bitter"/>
                <a:ea typeface="Bitter"/>
                <a:cs typeface="Bitter"/>
                <a:sym typeface="Bitter"/>
              </a:rPr>
              <a:t>.</a:t>
            </a:r>
            <a:endParaRPr sz="950">
              <a:solidFill>
                <a:schemeClr val="dk1"/>
              </a:solidFill>
              <a:latin typeface="Calibri"/>
              <a:ea typeface="Calibri"/>
              <a:cs typeface="Calibri"/>
              <a:sym typeface="Calibri"/>
            </a:endParaRPr>
          </a:p>
        </p:txBody>
      </p:sp>
      <p:sp>
        <p:nvSpPr>
          <p:cNvPr id="182" name="Google Shape;182;p5"/>
          <p:cNvSpPr/>
          <p:nvPr/>
        </p:nvSpPr>
        <p:spPr>
          <a:xfrm>
            <a:off x="7470696" y="7260431"/>
            <a:ext cx="6421160" cy="312182"/>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C2C4B5"/>
              </a:buClr>
              <a:buSzPts val="950"/>
              <a:buFont typeface="Bitter"/>
              <a:buNone/>
            </a:pPr>
            <a:r>
              <a:rPr lang="en-US" sz="950">
                <a:solidFill>
                  <a:srgbClr val="C2C4B5"/>
                </a:solidFill>
                <a:latin typeface="Bitter"/>
                <a:ea typeface="Bitter"/>
                <a:cs typeface="Bitter"/>
                <a:sym typeface="Bitter"/>
              </a:rPr>
              <a:t>Higher weights mean stronger preferences. The scheduler sums weights from all matching preferences to determine the best node.</a:t>
            </a:r>
            <a:endParaRPr sz="9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p:nvPr/>
        </p:nvSpPr>
        <p:spPr>
          <a:xfrm>
            <a:off x="793790" y="802719"/>
            <a:ext cx="3473291" cy="434102"/>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E1E5CD"/>
              </a:buClr>
              <a:buSzPts val="2700"/>
              <a:buFont typeface="Outfit"/>
              <a:buNone/>
            </a:pPr>
            <a:r>
              <a:rPr lang="en-US" sz="2700" b="1">
                <a:solidFill>
                  <a:srgbClr val="E1E5CD"/>
                </a:solidFill>
                <a:latin typeface="Outfit"/>
                <a:ea typeface="Outfit"/>
                <a:cs typeface="Outfit"/>
                <a:sym typeface="Outfit"/>
              </a:rPr>
              <a:t>Operators Explained</a:t>
            </a:r>
            <a:endParaRPr sz="2700">
              <a:solidFill>
                <a:schemeClr val="dk1"/>
              </a:solidFill>
              <a:latin typeface="Calibri"/>
              <a:ea typeface="Calibri"/>
              <a:cs typeface="Calibri"/>
              <a:sym typeface="Calibri"/>
            </a:endParaRPr>
          </a:p>
        </p:txBody>
      </p:sp>
      <p:sp>
        <p:nvSpPr>
          <p:cNvPr id="189" name="Google Shape;189;p6"/>
          <p:cNvSpPr/>
          <p:nvPr/>
        </p:nvSpPr>
        <p:spPr>
          <a:xfrm>
            <a:off x="793790" y="1431250"/>
            <a:ext cx="13042821" cy="188952"/>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C2C4B5"/>
              </a:buClr>
              <a:buSzPts val="1050"/>
              <a:buFont typeface="Bitter"/>
              <a:buNone/>
            </a:pPr>
            <a:r>
              <a:rPr lang="en-US" sz="1050">
                <a:solidFill>
                  <a:srgbClr val="C2C4B5"/>
                </a:solidFill>
                <a:latin typeface="Bitter"/>
                <a:ea typeface="Bitter"/>
                <a:cs typeface="Bitter"/>
                <a:sym typeface="Bitter"/>
              </a:rPr>
              <a:t>Node Affinity provides several operators for matching node labels. Understanding these operators is essential for writing effective rules.</a:t>
            </a:r>
            <a:endParaRPr sz="1050">
              <a:solidFill>
                <a:schemeClr val="dk1"/>
              </a:solidFill>
              <a:latin typeface="Calibri"/>
              <a:ea typeface="Calibri"/>
              <a:cs typeface="Calibri"/>
              <a:sym typeface="Calibri"/>
            </a:endParaRPr>
          </a:p>
        </p:txBody>
      </p:sp>
      <p:pic>
        <p:nvPicPr>
          <p:cNvPr id="190" name="Google Shape;190;p6" descr="preencoded.png"/>
          <p:cNvPicPr preferRelativeResize="0"/>
          <p:nvPr/>
        </p:nvPicPr>
        <p:blipFill rotWithShape="1">
          <a:blip r:embed="rId3">
            <a:alphaModFix/>
          </a:blip>
          <a:srcRect/>
          <a:stretch/>
        </p:blipFill>
        <p:spPr>
          <a:xfrm>
            <a:off x="793790" y="1729502"/>
            <a:ext cx="347305" cy="347305"/>
          </a:xfrm>
          <a:prstGeom prst="rect">
            <a:avLst/>
          </a:prstGeom>
          <a:noFill/>
          <a:ln>
            <a:noFill/>
          </a:ln>
        </p:spPr>
      </p:pic>
      <p:sp>
        <p:nvSpPr>
          <p:cNvPr id="191" name="Google Shape;191;p6"/>
          <p:cNvSpPr/>
          <p:nvPr/>
        </p:nvSpPr>
        <p:spPr>
          <a:xfrm>
            <a:off x="1262658" y="1729502"/>
            <a:ext cx="1736646" cy="217051"/>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C2C4B5"/>
              </a:buClr>
              <a:buSzPts val="1350"/>
              <a:buFont typeface="Outfit"/>
              <a:buNone/>
            </a:pPr>
            <a:r>
              <a:rPr lang="en-US" sz="1350" b="1">
                <a:solidFill>
                  <a:srgbClr val="C2C4B5"/>
                </a:solidFill>
                <a:latin typeface="Outfit"/>
                <a:ea typeface="Outfit"/>
                <a:cs typeface="Outfit"/>
                <a:sym typeface="Outfit"/>
              </a:rPr>
              <a:t>In</a:t>
            </a:r>
            <a:endParaRPr sz="1350">
              <a:solidFill>
                <a:schemeClr val="dk1"/>
              </a:solidFill>
              <a:latin typeface="Calibri"/>
              <a:ea typeface="Calibri"/>
              <a:cs typeface="Calibri"/>
              <a:sym typeface="Calibri"/>
            </a:endParaRPr>
          </a:p>
        </p:txBody>
      </p:sp>
      <p:sp>
        <p:nvSpPr>
          <p:cNvPr id="192" name="Google Shape;192;p6"/>
          <p:cNvSpPr/>
          <p:nvPr/>
        </p:nvSpPr>
        <p:spPr>
          <a:xfrm>
            <a:off x="1262658" y="2004893"/>
            <a:ext cx="5991701" cy="377904"/>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C2C4B5"/>
              </a:buClr>
              <a:buSzPts val="1050"/>
              <a:buFont typeface="Bitter"/>
              <a:buNone/>
            </a:pPr>
            <a:r>
              <a:rPr lang="en-US" sz="1050">
                <a:solidFill>
                  <a:srgbClr val="C2C4B5"/>
                </a:solidFill>
                <a:latin typeface="Bitter"/>
                <a:ea typeface="Bitter"/>
                <a:cs typeface="Bitter"/>
                <a:sym typeface="Bitter"/>
              </a:rPr>
              <a:t>Label value must be in the specified list of values. This is the most common operator for exact matches.</a:t>
            </a:r>
            <a:endParaRPr sz="1050">
              <a:solidFill>
                <a:schemeClr val="dk1"/>
              </a:solidFill>
              <a:latin typeface="Calibri"/>
              <a:ea typeface="Calibri"/>
              <a:cs typeface="Calibri"/>
              <a:sym typeface="Calibri"/>
            </a:endParaRPr>
          </a:p>
        </p:txBody>
      </p:sp>
      <p:sp>
        <p:nvSpPr>
          <p:cNvPr id="193" name="Google Shape;193;p6"/>
          <p:cNvSpPr/>
          <p:nvPr/>
        </p:nvSpPr>
        <p:spPr>
          <a:xfrm>
            <a:off x="1262658" y="2492097"/>
            <a:ext cx="5991701" cy="1222415"/>
          </a:xfrm>
          <a:prstGeom prst="roundRect">
            <a:avLst>
              <a:gd name="adj" fmla="val 1705"/>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6"/>
          <p:cNvSpPr/>
          <p:nvPr/>
        </p:nvSpPr>
        <p:spPr>
          <a:xfrm>
            <a:off x="1255752" y="2492097"/>
            <a:ext cx="6005513" cy="1222415"/>
          </a:xfrm>
          <a:prstGeom prst="roundRect">
            <a:avLst>
              <a:gd name="adj" fmla="val 1705"/>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1429345" y="2630924"/>
            <a:ext cx="5658326" cy="944761"/>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C2C4B5"/>
              </a:buClr>
              <a:buSzPts val="1050"/>
              <a:buFont typeface="Consolas"/>
              <a:buNone/>
            </a:pPr>
            <a:r>
              <a:rPr lang="en-US" sz="1050">
                <a:solidFill>
                  <a:srgbClr val="C2C4B5"/>
                </a:solidFill>
                <a:latin typeface="Consolas"/>
                <a:ea typeface="Consolas"/>
                <a:cs typeface="Consolas"/>
                <a:sym typeface="Consolas"/>
              </a:rPr>
              <a:t>operator: In</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C2C4B5"/>
              </a:buClr>
              <a:buSzPts val="1050"/>
              <a:buFont typeface="Consolas"/>
              <a:buNone/>
            </a:pPr>
            <a:r>
              <a:rPr lang="en-US" sz="1050">
                <a:solidFill>
                  <a:srgbClr val="C2C4B5"/>
                </a:solidFill>
                <a:latin typeface="Consolas"/>
                <a:ea typeface="Consolas"/>
                <a:cs typeface="Consolas"/>
                <a:sym typeface="Consolas"/>
              </a:rPr>
              <a:t>values:</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C2C4B5"/>
              </a:buClr>
              <a:buSzPts val="1050"/>
              <a:buFont typeface="Consolas"/>
              <a:buNone/>
            </a:pPr>
            <a:r>
              <a:rPr lang="en-US" sz="1050">
                <a:solidFill>
                  <a:srgbClr val="C2C4B5"/>
                </a:solidFill>
                <a:latin typeface="Consolas"/>
                <a:ea typeface="Consolas"/>
                <a:cs typeface="Consolas"/>
                <a:sym typeface="Consolas"/>
              </a:rPr>
              <a:t>- zone1</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C2C4B5"/>
              </a:buClr>
              <a:buSzPts val="1050"/>
              <a:buFont typeface="Consolas"/>
              <a:buNone/>
            </a:pPr>
            <a:r>
              <a:rPr lang="en-US" sz="1050">
                <a:solidFill>
                  <a:srgbClr val="C2C4B5"/>
                </a:solidFill>
                <a:latin typeface="Consolas"/>
                <a:ea typeface="Consolas"/>
                <a:cs typeface="Consolas"/>
                <a:sym typeface="Consolas"/>
              </a:rPr>
              <a:t>- zone2</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C2C4B5"/>
              </a:buClr>
              <a:buSzPts val="1050"/>
              <a:buFont typeface="Consolas"/>
              <a:buNone/>
            </a:pPr>
            <a:r>
              <a:rPr lang="en-US" sz="1050">
                <a:solidFill>
                  <a:srgbClr val="C2C4B5"/>
                </a:solidFill>
                <a:latin typeface="Consolas"/>
                <a:ea typeface="Consolas"/>
                <a:cs typeface="Consolas"/>
                <a:sym typeface="Consolas"/>
              </a:rPr>
              <a:t>- zone3</a:t>
            </a:r>
            <a:endParaRPr sz="1050">
              <a:solidFill>
                <a:schemeClr val="dk1"/>
              </a:solidFill>
              <a:latin typeface="Calibri"/>
              <a:ea typeface="Calibri"/>
              <a:cs typeface="Calibri"/>
              <a:sym typeface="Calibri"/>
            </a:endParaRPr>
          </a:p>
        </p:txBody>
      </p:sp>
      <p:pic>
        <p:nvPicPr>
          <p:cNvPr id="196" name="Google Shape;196;p6" descr="preencoded.png"/>
          <p:cNvPicPr preferRelativeResize="0"/>
          <p:nvPr/>
        </p:nvPicPr>
        <p:blipFill rotWithShape="1">
          <a:blip r:embed="rId4">
            <a:alphaModFix/>
          </a:blip>
          <a:srcRect/>
          <a:stretch/>
        </p:blipFill>
        <p:spPr>
          <a:xfrm>
            <a:off x="7375922" y="1729502"/>
            <a:ext cx="347305" cy="347305"/>
          </a:xfrm>
          <a:prstGeom prst="rect">
            <a:avLst/>
          </a:prstGeom>
          <a:noFill/>
          <a:ln>
            <a:noFill/>
          </a:ln>
        </p:spPr>
      </p:pic>
      <p:sp>
        <p:nvSpPr>
          <p:cNvPr id="197" name="Google Shape;197;p6"/>
          <p:cNvSpPr/>
          <p:nvPr/>
        </p:nvSpPr>
        <p:spPr>
          <a:xfrm>
            <a:off x="7844790" y="1729502"/>
            <a:ext cx="1736646" cy="217051"/>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C2C4B5"/>
              </a:buClr>
              <a:buSzPts val="1350"/>
              <a:buFont typeface="Outfit"/>
              <a:buNone/>
            </a:pPr>
            <a:r>
              <a:rPr lang="en-US" sz="1350" b="1">
                <a:solidFill>
                  <a:srgbClr val="C2C4B5"/>
                </a:solidFill>
                <a:latin typeface="Outfit"/>
                <a:ea typeface="Outfit"/>
                <a:cs typeface="Outfit"/>
                <a:sym typeface="Outfit"/>
              </a:rPr>
              <a:t>NotIn</a:t>
            </a:r>
            <a:endParaRPr sz="1350">
              <a:solidFill>
                <a:schemeClr val="dk1"/>
              </a:solidFill>
              <a:latin typeface="Calibri"/>
              <a:ea typeface="Calibri"/>
              <a:cs typeface="Calibri"/>
              <a:sym typeface="Calibri"/>
            </a:endParaRPr>
          </a:p>
        </p:txBody>
      </p:sp>
      <p:sp>
        <p:nvSpPr>
          <p:cNvPr id="198" name="Google Shape;198;p6"/>
          <p:cNvSpPr/>
          <p:nvPr/>
        </p:nvSpPr>
        <p:spPr>
          <a:xfrm>
            <a:off x="7844790" y="2004893"/>
            <a:ext cx="5991820" cy="377904"/>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C2C4B5"/>
              </a:buClr>
              <a:buSzPts val="1050"/>
              <a:buFont typeface="Bitter"/>
              <a:buNone/>
            </a:pPr>
            <a:r>
              <a:rPr lang="en-US" sz="1050">
                <a:solidFill>
                  <a:srgbClr val="C2C4B5"/>
                </a:solidFill>
                <a:latin typeface="Bitter"/>
                <a:ea typeface="Bitter"/>
                <a:cs typeface="Bitter"/>
                <a:sym typeface="Bitter"/>
              </a:rPr>
              <a:t>Label value must NOT be in the specified list. Useful for excluding nodes with certain characteristics.</a:t>
            </a:r>
            <a:endParaRPr sz="1050">
              <a:solidFill>
                <a:schemeClr val="dk1"/>
              </a:solidFill>
              <a:latin typeface="Calibri"/>
              <a:ea typeface="Calibri"/>
              <a:cs typeface="Calibri"/>
              <a:sym typeface="Calibri"/>
            </a:endParaRPr>
          </a:p>
        </p:txBody>
      </p:sp>
      <p:sp>
        <p:nvSpPr>
          <p:cNvPr id="199" name="Google Shape;199;p6"/>
          <p:cNvSpPr/>
          <p:nvPr/>
        </p:nvSpPr>
        <p:spPr>
          <a:xfrm>
            <a:off x="7844790" y="2492097"/>
            <a:ext cx="5991820" cy="1033462"/>
          </a:xfrm>
          <a:prstGeom prst="roundRect">
            <a:avLst>
              <a:gd name="adj" fmla="val 2017"/>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p:nvPr/>
        </p:nvSpPr>
        <p:spPr>
          <a:xfrm>
            <a:off x="7837884" y="2492097"/>
            <a:ext cx="6005632" cy="1033462"/>
          </a:xfrm>
          <a:prstGeom prst="roundRect">
            <a:avLst>
              <a:gd name="adj" fmla="val 2017"/>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8011478" y="2630924"/>
            <a:ext cx="5658445" cy="755809"/>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C2C4B5"/>
              </a:buClr>
              <a:buSzPts val="1050"/>
              <a:buFont typeface="Consolas"/>
              <a:buNone/>
            </a:pPr>
            <a:r>
              <a:rPr lang="en-US" sz="1050">
                <a:solidFill>
                  <a:srgbClr val="C2C4B5"/>
                </a:solidFill>
                <a:latin typeface="Consolas"/>
                <a:ea typeface="Consolas"/>
                <a:cs typeface="Consolas"/>
                <a:sym typeface="Consolas"/>
              </a:rPr>
              <a:t>operator: NotIn</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C2C4B5"/>
              </a:buClr>
              <a:buSzPts val="1050"/>
              <a:buFont typeface="Consolas"/>
              <a:buNone/>
            </a:pPr>
            <a:r>
              <a:rPr lang="en-US" sz="1050">
                <a:solidFill>
                  <a:srgbClr val="C2C4B5"/>
                </a:solidFill>
                <a:latin typeface="Consolas"/>
                <a:ea typeface="Consolas"/>
                <a:cs typeface="Consolas"/>
                <a:sym typeface="Consolas"/>
              </a:rPr>
              <a:t>values:</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C2C4B5"/>
              </a:buClr>
              <a:buSzPts val="1050"/>
              <a:buFont typeface="Consolas"/>
              <a:buNone/>
            </a:pPr>
            <a:r>
              <a:rPr lang="en-US" sz="1050">
                <a:solidFill>
                  <a:srgbClr val="C2C4B5"/>
                </a:solidFill>
                <a:latin typeface="Consolas"/>
                <a:ea typeface="Consolas"/>
                <a:cs typeface="Consolas"/>
                <a:sym typeface="Consolas"/>
              </a:rPr>
              <a:t>- development</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C2C4B5"/>
              </a:buClr>
              <a:buSzPts val="1050"/>
              <a:buFont typeface="Consolas"/>
              <a:buNone/>
            </a:pPr>
            <a:r>
              <a:rPr lang="en-US" sz="1050">
                <a:solidFill>
                  <a:srgbClr val="C2C4B5"/>
                </a:solidFill>
                <a:latin typeface="Consolas"/>
                <a:ea typeface="Consolas"/>
                <a:cs typeface="Consolas"/>
                <a:sym typeface="Consolas"/>
              </a:rPr>
              <a:t>- testing</a:t>
            </a:r>
            <a:endParaRPr sz="1050">
              <a:solidFill>
                <a:schemeClr val="dk1"/>
              </a:solidFill>
              <a:latin typeface="Calibri"/>
              <a:ea typeface="Calibri"/>
              <a:cs typeface="Calibri"/>
              <a:sym typeface="Calibri"/>
            </a:endParaRPr>
          </a:p>
        </p:txBody>
      </p:sp>
      <p:pic>
        <p:nvPicPr>
          <p:cNvPr id="202" name="Google Shape;202;p6" descr="preencoded.png"/>
          <p:cNvPicPr preferRelativeResize="0"/>
          <p:nvPr/>
        </p:nvPicPr>
        <p:blipFill rotWithShape="1">
          <a:blip r:embed="rId5">
            <a:alphaModFix/>
          </a:blip>
          <a:srcRect/>
          <a:stretch/>
        </p:blipFill>
        <p:spPr>
          <a:xfrm>
            <a:off x="793790" y="3908941"/>
            <a:ext cx="347305" cy="347305"/>
          </a:xfrm>
          <a:prstGeom prst="rect">
            <a:avLst/>
          </a:prstGeom>
          <a:noFill/>
          <a:ln>
            <a:noFill/>
          </a:ln>
        </p:spPr>
      </p:pic>
      <p:sp>
        <p:nvSpPr>
          <p:cNvPr id="203" name="Google Shape;203;p6"/>
          <p:cNvSpPr/>
          <p:nvPr/>
        </p:nvSpPr>
        <p:spPr>
          <a:xfrm>
            <a:off x="1262658" y="3908941"/>
            <a:ext cx="1736646" cy="217051"/>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C2C4B5"/>
              </a:buClr>
              <a:buSzPts val="1350"/>
              <a:buFont typeface="Outfit"/>
              <a:buNone/>
            </a:pPr>
            <a:r>
              <a:rPr lang="en-US" sz="1350" b="1">
                <a:solidFill>
                  <a:srgbClr val="C2C4B5"/>
                </a:solidFill>
                <a:latin typeface="Outfit"/>
                <a:ea typeface="Outfit"/>
                <a:cs typeface="Outfit"/>
                <a:sym typeface="Outfit"/>
              </a:rPr>
              <a:t>Exists</a:t>
            </a:r>
            <a:endParaRPr sz="1350">
              <a:solidFill>
                <a:schemeClr val="dk1"/>
              </a:solidFill>
              <a:latin typeface="Calibri"/>
              <a:ea typeface="Calibri"/>
              <a:cs typeface="Calibri"/>
              <a:sym typeface="Calibri"/>
            </a:endParaRPr>
          </a:p>
        </p:txBody>
      </p:sp>
      <p:sp>
        <p:nvSpPr>
          <p:cNvPr id="204" name="Google Shape;204;p6"/>
          <p:cNvSpPr/>
          <p:nvPr/>
        </p:nvSpPr>
        <p:spPr>
          <a:xfrm>
            <a:off x="1262658" y="4184332"/>
            <a:ext cx="5991701" cy="188952"/>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C2C4B5"/>
              </a:buClr>
              <a:buSzPts val="1050"/>
              <a:buFont typeface="Bitter"/>
              <a:buNone/>
            </a:pPr>
            <a:r>
              <a:rPr lang="en-US" sz="1050">
                <a:solidFill>
                  <a:srgbClr val="C2C4B5"/>
                </a:solidFill>
                <a:latin typeface="Bitter"/>
                <a:ea typeface="Bitter"/>
                <a:cs typeface="Bitter"/>
                <a:sym typeface="Bitter"/>
              </a:rPr>
              <a:t>Label key must exist on the node, regardless of its value. Useful for feature detection.</a:t>
            </a:r>
            <a:endParaRPr sz="1050">
              <a:solidFill>
                <a:schemeClr val="dk1"/>
              </a:solidFill>
              <a:latin typeface="Calibri"/>
              <a:ea typeface="Calibri"/>
              <a:cs typeface="Calibri"/>
              <a:sym typeface="Calibri"/>
            </a:endParaRPr>
          </a:p>
        </p:txBody>
      </p:sp>
      <p:sp>
        <p:nvSpPr>
          <p:cNvPr id="205" name="Google Shape;205;p6"/>
          <p:cNvSpPr/>
          <p:nvPr/>
        </p:nvSpPr>
        <p:spPr>
          <a:xfrm>
            <a:off x="1262658" y="4482584"/>
            <a:ext cx="5991701" cy="655558"/>
          </a:xfrm>
          <a:prstGeom prst="roundRect">
            <a:avLst>
              <a:gd name="adj" fmla="val 3179"/>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p:nvPr/>
        </p:nvSpPr>
        <p:spPr>
          <a:xfrm>
            <a:off x="1255752" y="4482584"/>
            <a:ext cx="6005513" cy="655558"/>
          </a:xfrm>
          <a:prstGeom prst="roundRect">
            <a:avLst>
              <a:gd name="adj" fmla="val 3179"/>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p:nvPr/>
        </p:nvSpPr>
        <p:spPr>
          <a:xfrm>
            <a:off x="1429345" y="4621411"/>
            <a:ext cx="5658326" cy="377904"/>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FF7B72"/>
              </a:buClr>
              <a:buSzPts val="1050"/>
              <a:buFont typeface="Consolas"/>
              <a:buNone/>
            </a:pPr>
            <a:r>
              <a:rPr lang="en-US" sz="1050">
                <a:solidFill>
                  <a:srgbClr val="FF7B72"/>
                </a:solidFill>
                <a:highlight>
                  <a:srgbClr val="292A2C"/>
                </a:highlight>
                <a:latin typeface="Consolas"/>
                <a:ea typeface="Consolas"/>
                <a:cs typeface="Consolas"/>
                <a:sym typeface="Consolas"/>
              </a:rPr>
              <a:t>operator: Exists</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FF7B72"/>
              </a:buClr>
              <a:buSzPts val="1050"/>
              <a:buFont typeface="Consolas"/>
              <a:buNone/>
            </a:pPr>
            <a:r>
              <a:rPr lang="en-US" sz="1050">
                <a:solidFill>
                  <a:srgbClr val="FF7B72"/>
                </a:solidFill>
                <a:highlight>
                  <a:srgbClr val="292A2C"/>
                </a:highlight>
                <a:latin typeface="Consolas"/>
                <a:ea typeface="Consolas"/>
                <a:cs typeface="Consolas"/>
                <a:sym typeface="Consolas"/>
              </a:rPr>
              <a:t># No values field needed</a:t>
            </a:r>
            <a:endParaRPr sz="1050">
              <a:solidFill>
                <a:schemeClr val="dk1"/>
              </a:solidFill>
              <a:latin typeface="Calibri"/>
              <a:ea typeface="Calibri"/>
              <a:cs typeface="Calibri"/>
              <a:sym typeface="Calibri"/>
            </a:endParaRPr>
          </a:p>
        </p:txBody>
      </p:sp>
      <p:pic>
        <p:nvPicPr>
          <p:cNvPr id="208" name="Google Shape;208;p6" descr="preencoded.png"/>
          <p:cNvPicPr preferRelativeResize="0"/>
          <p:nvPr/>
        </p:nvPicPr>
        <p:blipFill rotWithShape="1">
          <a:blip r:embed="rId6">
            <a:alphaModFix/>
          </a:blip>
          <a:srcRect/>
          <a:stretch/>
        </p:blipFill>
        <p:spPr>
          <a:xfrm>
            <a:off x="7375922" y="3908941"/>
            <a:ext cx="347305" cy="347305"/>
          </a:xfrm>
          <a:prstGeom prst="rect">
            <a:avLst/>
          </a:prstGeom>
          <a:noFill/>
          <a:ln>
            <a:noFill/>
          </a:ln>
        </p:spPr>
      </p:pic>
      <p:sp>
        <p:nvSpPr>
          <p:cNvPr id="209" name="Google Shape;209;p6"/>
          <p:cNvSpPr/>
          <p:nvPr/>
        </p:nvSpPr>
        <p:spPr>
          <a:xfrm>
            <a:off x="7844790" y="3908941"/>
            <a:ext cx="1736646" cy="217051"/>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C2C4B5"/>
              </a:buClr>
              <a:buSzPts val="1350"/>
              <a:buFont typeface="Outfit"/>
              <a:buNone/>
            </a:pPr>
            <a:r>
              <a:rPr lang="en-US" sz="1350" b="1">
                <a:solidFill>
                  <a:srgbClr val="C2C4B5"/>
                </a:solidFill>
                <a:latin typeface="Outfit"/>
                <a:ea typeface="Outfit"/>
                <a:cs typeface="Outfit"/>
                <a:sym typeface="Outfit"/>
              </a:rPr>
              <a:t>DoesNotExist</a:t>
            </a:r>
            <a:endParaRPr sz="1350">
              <a:solidFill>
                <a:schemeClr val="dk1"/>
              </a:solidFill>
              <a:latin typeface="Calibri"/>
              <a:ea typeface="Calibri"/>
              <a:cs typeface="Calibri"/>
              <a:sym typeface="Calibri"/>
            </a:endParaRPr>
          </a:p>
        </p:txBody>
      </p:sp>
      <p:sp>
        <p:nvSpPr>
          <p:cNvPr id="210" name="Google Shape;210;p6"/>
          <p:cNvSpPr/>
          <p:nvPr/>
        </p:nvSpPr>
        <p:spPr>
          <a:xfrm>
            <a:off x="7844790" y="4184332"/>
            <a:ext cx="5991820" cy="188952"/>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C2C4B5"/>
              </a:buClr>
              <a:buSzPts val="1050"/>
              <a:buFont typeface="Bitter"/>
              <a:buNone/>
            </a:pPr>
            <a:r>
              <a:rPr lang="en-US" sz="1050">
                <a:solidFill>
                  <a:srgbClr val="C2C4B5"/>
                </a:solidFill>
                <a:latin typeface="Bitter"/>
                <a:ea typeface="Bitter"/>
                <a:cs typeface="Bitter"/>
                <a:sym typeface="Bitter"/>
              </a:rPr>
              <a:t>Label key must NOT exist on the node. Useful for avoiding nodes with certain features.</a:t>
            </a:r>
            <a:endParaRPr sz="1050">
              <a:solidFill>
                <a:schemeClr val="dk1"/>
              </a:solidFill>
              <a:latin typeface="Calibri"/>
              <a:ea typeface="Calibri"/>
              <a:cs typeface="Calibri"/>
              <a:sym typeface="Calibri"/>
            </a:endParaRPr>
          </a:p>
        </p:txBody>
      </p:sp>
      <p:sp>
        <p:nvSpPr>
          <p:cNvPr id="211" name="Google Shape;211;p6"/>
          <p:cNvSpPr/>
          <p:nvPr/>
        </p:nvSpPr>
        <p:spPr>
          <a:xfrm>
            <a:off x="7844790" y="4482584"/>
            <a:ext cx="5991820" cy="655558"/>
          </a:xfrm>
          <a:prstGeom prst="roundRect">
            <a:avLst>
              <a:gd name="adj" fmla="val 3179"/>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a:off x="7837884" y="4482584"/>
            <a:ext cx="6005632" cy="655558"/>
          </a:xfrm>
          <a:prstGeom prst="roundRect">
            <a:avLst>
              <a:gd name="adj" fmla="val 3179"/>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8011478" y="4621411"/>
            <a:ext cx="5658445" cy="377904"/>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FF7B72"/>
              </a:buClr>
              <a:buSzPts val="1050"/>
              <a:buFont typeface="Consolas"/>
              <a:buNone/>
            </a:pPr>
            <a:r>
              <a:rPr lang="en-US" sz="1050">
                <a:solidFill>
                  <a:srgbClr val="FF7B72"/>
                </a:solidFill>
                <a:highlight>
                  <a:srgbClr val="292A2C"/>
                </a:highlight>
                <a:latin typeface="Consolas"/>
                <a:ea typeface="Consolas"/>
                <a:cs typeface="Consolas"/>
                <a:sym typeface="Consolas"/>
              </a:rPr>
              <a:t>operator: DoesNotExist</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FF7B72"/>
              </a:buClr>
              <a:buSzPts val="1050"/>
              <a:buFont typeface="Consolas"/>
              <a:buNone/>
            </a:pPr>
            <a:r>
              <a:rPr lang="en-US" sz="1050">
                <a:solidFill>
                  <a:srgbClr val="FF7B72"/>
                </a:solidFill>
                <a:highlight>
                  <a:srgbClr val="292A2C"/>
                </a:highlight>
                <a:latin typeface="Consolas"/>
                <a:ea typeface="Consolas"/>
                <a:cs typeface="Consolas"/>
                <a:sym typeface="Consolas"/>
              </a:rPr>
              <a:t># No values field needed</a:t>
            </a:r>
            <a:endParaRPr sz="1050">
              <a:solidFill>
                <a:schemeClr val="dk1"/>
              </a:solidFill>
              <a:latin typeface="Calibri"/>
              <a:ea typeface="Calibri"/>
              <a:cs typeface="Calibri"/>
              <a:sym typeface="Calibri"/>
            </a:endParaRPr>
          </a:p>
        </p:txBody>
      </p:sp>
      <p:pic>
        <p:nvPicPr>
          <p:cNvPr id="214" name="Google Shape;214;p6" descr="preencoded.png"/>
          <p:cNvPicPr preferRelativeResize="0"/>
          <p:nvPr/>
        </p:nvPicPr>
        <p:blipFill rotWithShape="1">
          <a:blip r:embed="rId7">
            <a:alphaModFix/>
          </a:blip>
          <a:srcRect/>
          <a:stretch/>
        </p:blipFill>
        <p:spPr>
          <a:xfrm>
            <a:off x="793790" y="5332571"/>
            <a:ext cx="347305" cy="347305"/>
          </a:xfrm>
          <a:prstGeom prst="rect">
            <a:avLst/>
          </a:prstGeom>
          <a:noFill/>
          <a:ln>
            <a:noFill/>
          </a:ln>
        </p:spPr>
      </p:pic>
      <p:sp>
        <p:nvSpPr>
          <p:cNvPr id="215" name="Google Shape;215;p6"/>
          <p:cNvSpPr/>
          <p:nvPr/>
        </p:nvSpPr>
        <p:spPr>
          <a:xfrm>
            <a:off x="1262658" y="5332571"/>
            <a:ext cx="1736646" cy="217051"/>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C2C4B5"/>
              </a:buClr>
              <a:buSzPts val="1350"/>
              <a:buFont typeface="Outfit"/>
              <a:buNone/>
            </a:pPr>
            <a:r>
              <a:rPr lang="en-US" sz="1350" b="1">
                <a:solidFill>
                  <a:srgbClr val="C2C4B5"/>
                </a:solidFill>
                <a:latin typeface="Outfit"/>
                <a:ea typeface="Outfit"/>
                <a:cs typeface="Outfit"/>
                <a:sym typeface="Outfit"/>
              </a:rPr>
              <a:t>Gt (Greater Than)</a:t>
            </a:r>
            <a:endParaRPr sz="1350">
              <a:solidFill>
                <a:schemeClr val="dk1"/>
              </a:solidFill>
              <a:latin typeface="Calibri"/>
              <a:ea typeface="Calibri"/>
              <a:cs typeface="Calibri"/>
              <a:sym typeface="Calibri"/>
            </a:endParaRPr>
          </a:p>
        </p:txBody>
      </p:sp>
      <p:sp>
        <p:nvSpPr>
          <p:cNvPr id="216" name="Google Shape;216;p6"/>
          <p:cNvSpPr/>
          <p:nvPr/>
        </p:nvSpPr>
        <p:spPr>
          <a:xfrm>
            <a:off x="1262658" y="5607963"/>
            <a:ext cx="5991701" cy="377904"/>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C2C4B5"/>
              </a:buClr>
              <a:buSzPts val="1050"/>
              <a:buFont typeface="Bitter"/>
              <a:buNone/>
            </a:pPr>
            <a:r>
              <a:rPr lang="en-US" sz="1050">
                <a:solidFill>
                  <a:srgbClr val="C2C4B5"/>
                </a:solidFill>
                <a:latin typeface="Bitter"/>
                <a:ea typeface="Bitter"/>
                <a:cs typeface="Bitter"/>
                <a:sym typeface="Bitter"/>
              </a:rPr>
              <a:t>Label value must be greater than the specified value. Values are compared lexicographically as strings.</a:t>
            </a:r>
            <a:endParaRPr sz="1050">
              <a:solidFill>
                <a:schemeClr val="dk1"/>
              </a:solidFill>
              <a:latin typeface="Calibri"/>
              <a:ea typeface="Calibri"/>
              <a:cs typeface="Calibri"/>
              <a:sym typeface="Calibri"/>
            </a:endParaRPr>
          </a:p>
        </p:txBody>
      </p:sp>
      <p:sp>
        <p:nvSpPr>
          <p:cNvPr id="217" name="Google Shape;217;p6"/>
          <p:cNvSpPr/>
          <p:nvPr/>
        </p:nvSpPr>
        <p:spPr>
          <a:xfrm>
            <a:off x="1262658" y="6095167"/>
            <a:ext cx="5991701" cy="844510"/>
          </a:xfrm>
          <a:prstGeom prst="roundRect">
            <a:avLst>
              <a:gd name="adj" fmla="val 2468"/>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6"/>
          <p:cNvSpPr/>
          <p:nvPr/>
        </p:nvSpPr>
        <p:spPr>
          <a:xfrm>
            <a:off x="1255752" y="6095167"/>
            <a:ext cx="6005513" cy="844510"/>
          </a:xfrm>
          <a:prstGeom prst="roundRect">
            <a:avLst>
              <a:gd name="adj" fmla="val 2468"/>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6"/>
          <p:cNvSpPr/>
          <p:nvPr/>
        </p:nvSpPr>
        <p:spPr>
          <a:xfrm>
            <a:off x="1429345" y="6233993"/>
            <a:ext cx="5658326" cy="566857"/>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1F6FEB"/>
              </a:buClr>
              <a:buSzPts val="1050"/>
              <a:buFont typeface="Consolas"/>
              <a:buNone/>
            </a:pPr>
            <a:r>
              <a:rPr lang="en-US" sz="1050">
                <a:solidFill>
                  <a:srgbClr val="1F6FEB"/>
                </a:solidFill>
                <a:highlight>
                  <a:srgbClr val="292A2C"/>
                </a:highlight>
                <a:latin typeface="Consolas"/>
                <a:ea typeface="Consolas"/>
                <a:cs typeface="Consolas"/>
                <a:sym typeface="Consolas"/>
              </a:rPr>
              <a:t>operator: Gt</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1F6FEB"/>
              </a:buClr>
              <a:buSzPts val="1050"/>
              <a:buFont typeface="Consolas"/>
              <a:buNone/>
            </a:pPr>
            <a:r>
              <a:rPr lang="en-US" sz="1050">
                <a:solidFill>
                  <a:srgbClr val="1F6FEB"/>
                </a:solidFill>
                <a:highlight>
                  <a:srgbClr val="292A2C"/>
                </a:highlight>
                <a:latin typeface="Consolas"/>
                <a:ea typeface="Consolas"/>
                <a:cs typeface="Consolas"/>
                <a:sym typeface="Consolas"/>
              </a:rPr>
              <a:t>values:</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1F6FEB"/>
              </a:buClr>
              <a:buSzPts val="1050"/>
              <a:buFont typeface="Consolas"/>
              <a:buNone/>
            </a:pPr>
            <a:r>
              <a:rPr lang="en-US" sz="1050">
                <a:solidFill>
                  <a:srgbClr val="1F6FEB"/>
                </a:solidFill>
                <a:highlight>
                  <a:srgbClr val="292A2C"/>
                </a:highlight>
                <a:latin typeface="Consolas"/>
                <a:ea typeface="Consolas"/>
                <a:cs typeface="Consolas"/>
                <a:sym typeface="Consolas"/>
              </a:rPr>
              <a:t>- 100</a:t>
            </a:r>
            <a:endParaRPr sz="1050">
              <a:solidFill>
                <a:schemeClr val="dk1"/>
              </a:solidFill>
              <a:latin typeface="Calibri"/>
              <a:ea typeface="Calibri"/>
              <a:cs typeface="Calibri"/>
              <a:sym typeface="Calibri"/>
            </a:endParaRPr>
          </a:p>
        </p:txBody>
      </p:sp>
      <p:pic>
        <p:nvPicPr>
          <p:cNvPr id="220" name="Google Shape;220;p6" descr="preencoded.png"/>
          <p:cNvPicPr preferRelativeResize="0"/>
          <p:nvPr/>
        </p:nvPicPr>
        <p:blipFill rotWithShape="1">
          <a:blip r:embed="rId8">
            <a:alphaModFix/>
          </a:blip>
          <a:srcRect/>
          <a:stretch/>
        </p:blipFill>
        <p:spPr>
          <a:xfrm>
            <a:off x="7375922" y="5332571"/>
            <a:ext cx="347305" cy="347305"/>
          </a:xfrm>
          <a:prstGeom prst="rect">
            <a:avLst/>
          </a:prstGeom>
          <a:noFill/>
          <a:ln>
            <a:noFill/>
          </a:ln>
        </p:spPr>
      </p:pic>
      <p:sp>
        <p:nvSpPr>
          <p:cNvPr id="221" name="Google Shape;221;p6"/>
          <p:cNvSpPr/>
          <p:nvPr/>
        </p:nvSpPr>
        <p:spPr>
          <a:xfrm>
            <a:off x="7844790" y="5332571"/>
            <a:ext cx="1736646" cy="217051"/>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C2C4B5"/>
              </a:buClr>
              <a:buSzPts val="1350"/>
              <a:buFont typeface="Outfit"/>
              <a:buNone/>
            </a:pPr>
            <a:r>
              <a:rPr lang="en-US" sz="1350" b="1">
                <a:solidFill>
                  <a:srgbClr val="C2C4B5"/>
                </a:solidFill>
                <a:latin typeface="Outfit"/>
                <a:ea typeface="Outfit"/>
                <a:cs typeface="Outfit"/>
                <a:sym typeface="Outfit"/>
              </a:rPr>
              <a:t>Lt (Less Than)</a:t>
            </a:r>
            <a:endParaRPr sz="1350">
              <a:solidFill>
                <a:schemeClr val="dk1"/>
              </a:solidFill>
              <a:latin typeface="Calibri"/>
              <a:ea typeface="Calibri"/>
              <a:cs typeface="Calibri"/>
              <a:sym typeface="Calibri"/>
            </a:endParaRPr>
          </a:p>
        </p:txBody>
      </p:sp>
      <p:sp>
        <p:nvSpPr>
          <p:cNvPr id="222" name="Google Shape;222;p6"/>
          <p:cNvSpPr/>
          <p:nvPr/>
        </p:nvSpPr>
        <p:spPr>
          <a:xfrm>
            <a:off x="7844790" y="5607963"/>
            <a:ext cx="5991820" cy="377904"/>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C2C4B5"/>
              </a:buClr>
              <a:buSzPts val="1050"/>
              <a:buFont typeface="Bitter"/>
              <a:buNone/>
            </a:pPr>
            <a:r>
              <a:rPr lang="en-US" sz="1050">
                <a:solidFill>
                  <a:srgbClr val="C2C4B5"/>
                </a:solidFill>
                <a:latin typeface="Bitter"/>
                <a:ea typeface="Bitter"/>
                <a:cs typeface="Bitter"/>
                <a:sym typeface="Bitter"/>
              </a:rPr>
              <a:t>Label value must be less than the specified value. Values are compared lexicographically as strings.</a:t>
            </a:r>
            <a:endParaRPr sz="1050">
              <a:solidFill>
                <a:schemeClr val="dk1"/>
              </a:solidFill>
              <a:latin typeface="Calibri"/>
              <a:ea typeface="Calibri"/>
              <a:cs typeface="Calibri"/>
              <a:sym typeface="Calibri"/>
            </a:endParaRPr>
          </a:p>
        </p:txBody>
      </p:sp>
      <p:sp>
        <p:nvSpPr>
          <p:cNvPr id="223" name="Google Shape;223;p6"/>
          <p:cNvSpPr/>
          <p:nvPr/>
        </p:nvSpPr>
        <p:spPr>
          <a:xfrm>
            <a:off x="7844790" y="6095167"/>
            <a:ext cx="5991820" cy="844510"/>
          </a:xfrm>
          <a:prstGeom prst="roundRect">
            <a:avLst>
              <a:gd name="adj" fmla="val 2468"/>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6"/>
          <p:cNvSpPr/>
          <p:nvPr/>
        </p:nvSpPr>
        <p:spPr>
          <a:xfrm>
            <a:off x="7837884" y="6095167"/>
            <a:ext cx="6005632" cy="844510"/>
          </a:xfrm>
          <a:prstGeom prst="roundRect">
            <a:avLst>
              <a:gd name="adj" fmla="val 2468"/>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6"/>
          <p:cNvSpPr/>
          <p:nvPr/>
        </p:nvSpPr>
        <p:spPr>
          <a:xfrm>
            <a:off x="8011478" y="6233993"/>
            <a:ext cx="5658445" cy="566857"/>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1F6FEB"/>
              </a:buClr>
              <a:buSzPts val="1050"/>
              <a:buFont typeface="Consolas"/>
              <a:buNone/>
            </a:pPr>
            <a:r>
              <a:rPr lang="en-US" sz="1050">
                <a:solidFill>
                  <a:srgbClr val="1F6FEB"/>
                </a:solidFill>
                <a:highlight>
                  <a:srgbClr val="292A2C"/>
                </a:highlight>
                <a:latin typeface="Consolas"/>
                <a:ea typeface="Consolas"/>
                <a:cs typeface="Consolas"/>
                <a:sym typeface="Consolas"/>
              </a:rPr>
              <a:t>operator: Lt</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1F6FEB"/>
              </a:buClr>
              <a:buSzPts val="1050"/>
              <a:buFont typeface="Consolas"/>
              <a:buNone/>
            </a:pPr>
            <a:r>
              <a:rPr lang="en-US" sz="1050">
                <a:solidFill>
                  <a:srgbClr val="1F6FEB"/>
                </a:solidFill>
                <a:highlight>
                  <a:srgbClr val="292A2C"/>
                </a:highlight>
                <a:latin typeface="Consolas"/>
                <a:ea typeface="Consolas"/>
                <a:cs typeface="Consolas"/>
                <a:sym typeface="Consolas"/>
              </a:rPr>
              <a:t>values:</a:t>
            </a:r>
            <a:endParaRPr sz="1050">
              <a:solidFill>
                <a:schemeClr val="dk1"/>
              </a:solidFill>
              <a:latin typeface="Calibri"/>
              <a:ea typeface="Calibri"/>
              <a:cs typeface="Calibri"/>
              <a:sym typeface="Calibri"/>
            </a:endParaRPr>
          </a:p>
          <a:p>
            <a:pPr marL="0" marR="0" lvl="0" indent="0" algn="l" rtl="0">
              <a:lnSpc>
                <a:spcPct val="138095"/>
              </a:lnSpc>
              <a:spcBef>
                <a:spcPts val="0"/>
              </a:spcBef>
              <a:spcAft>
                <a:spcPts val="0"/>
              </a:spcAft>
              <a:buClr>
                <a:srgbClr val="1F6FEB"/>
              </a:buClr>
              <a:buSzPts val="1050"/>
              <a:buFont typeface="Consolas"/>
              <a:buNone/>
            </a:pPr>
            <a:r>
              <a:rPr lang="en-US" sz="1050">
                <a:solidFill>
                  <a:srgbClr val="1F6FEB"/>
                </a:solidFill>
                <a:highlight>
                  <a:srgbClr val="292A2C"/>
                </a:highlight>
                <a:latin typeface="Consolas"/>
                <a:ea typeface="Consolas"/>
                <a:cs typeface="Consolas"/>
                <a:sym typeface="Consolas"/>
              </a:rPr>
              <a:t>- 500</a:t>
            </a:r>
            <a:endParaRPr sz="1050">
              <a:solidFill>
                <a:schemeClr val="dk1"/>
              </a:solidFill>
              <a:latin typeface="Calibri"/>
              <a:ea typeface="Calibri"/>
              <a:cs typeface="Calibri"/>
              <a:sym typeface="Calibri"/>
            </a:endParaRPr>
          </a:p>
        </p:txBody>
      </p:sp>
      <p:sp>
        <p:nvSpPr>
          <p:cNvPr id="226" name="Google Shape;226;p6"/>
          <p:cNvSpPr/>
          <p:nvPr/>
        </p:nvSpPr>
        <p:spPr>
          <a:xfrm>
            <a:off x="793790" y="7048976"/>
            <a:ext cx="13042821" cy="377904"/>
          </a:xfrm>
          <a:prstGeom prst="rect">
            <a:avLst/>
          </a:prstGeom>
          <a:noFill/>
          <a:ln>
            <a:noFill/>
          </a:ln>
        </p:spPr>
        <p:txBody>
          <a:bodyPr spcFirstLastPara="1" wrap="square" lIns="0" tIns="0" rIns="0" bIns="0" anchor="t" anchorCtr="0">
            <a:noAutofit/>
          </a:bodyPr>
          <a:lstStyle/>
          <a:p>
            <a:pPr marL="0" marR="0" lvl="0" indent="0" algn="l" rtl="0">
              <a:lnSpc>
                <a:spcPct val="138095"/>
              </a:lnSpc>
              <a:spcBef>
                <a:spcPts val="0"/>
              </a:spcBef>
              <a:spcAft>
                <a:spcPts val="0"/>
              </a:spcAft>
              <a:buClr>
                <a:srgbClr val="9FA582"/>
              </a:buClr>
              <a:buSzPts val="1050"/>
              <a:buFont typeface="Bitter"/>
              <a:buNone/>
            </a:pPr>
            <a:r>
              <a:rPr lang="en-US" sz="1050" b="1">
                <a:solidFill>
                  <a:srgbClr val="9FA582"/>
                </a:solidFill>
                <a:latin typeface="Bitter"/>
                <a:ea typeface="Bitter"/>
                <a:cs typeface="Bitter"/>
                <a:sym typeface="Bitter"/>
              </a:rPr>
              <a:t>Important Note:</a:t>
            </a:r>
            <a:r>
              <a:rPr lang="en-US" sz="1050">
                <a:solidFill>
                  <a:srgbClr val="C2C4B5"/>
                </a:solidFill>
                <a:latin typeface="Bitter"/>
                <a:ea typeface="Bitter"/>
                <a:cs typeface="Bitter"/>
                <a:sym typeface="Bitter"/>
              </a:rPr>
              <a:t> Gt and Lt operators compare values as strings, not numbers. This means "10" &gt; "9" is false because string comparison is alphabetical. For numeric comparisons, consider using annotations or external tools.</a:t>
            </a:r>
            <a:endParaRPr sz="10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7"/>
          <p:cNvSpPr/>
          <p:nvPr/>
        </p:nvSpPr>
        <p:spPr>
          <a:xfrm>
            <a:off x="793790" y="733306"/>
            <a:ext cx="6808946" cy="465177"/>
          </a:xfrm>
          <a:prstGeom prst="rect">
            <a:avLst/>
          </a:prstGeom>
          <a:noFill/>
          <a:ln>
            <a:noFill/>
          </a:ln>
        </p:spPr>
        <p:txBody>
          <a:bodyPr spcFirstLastPara="1" wrap="square" lIns="0" tIns="0" rIns="0" bIns="0" anchor="t" anchorCtr="0">
            <a:noAutofit/>
          </a:bodyPr>
          <a:lstStyle/>
          <a:p>
            <a:pPr marL="0" marR="0" lvl="0" indent="0" algn="l" rtl="0">
              <a:lnSpc>
                <a:spcPct val="125862"/>
              </a:lnSpc>
              <a:spcBef>
                <a:spcPts val="0"/>
              </a:spcBef>
              <a:spcAft>
                <a:spcPts val="0"/>
              </a:spcAft>
              <a:buClr>
                <a:srgbClr val="E1E5CD"/>
              </a:buClr>
              <a:buSzPts val="2900"/>
              <a:buFont typeface="Outfit"/>
              <a:buNone/>
            </a:pPr>
            <a:r>
              <a:rPr lang="en-US" sz="2900" b="1">
                <a:solidFill>
                  <a:srgbClr val="E1E5CD"/>
                </a:solidFill>
                <a:latin typeface="Outfit"/>
                <a:ea typeface="Outfit"/>
                <a:cs typeface="Outfit"/>
                <a:sym typeface="Outfit"/>
              </a:rPr>
              <a:t>Logical Behavior: AND vs OR Conditions</a:t>
            </a:r>
            <a:endParaRPr sz="2900">
              <a:solidFill>
                <a:schemeClr val="dk1"/>
              </a:solidFill>
              <a:latin typeface="Calibri"/>
              <a:ea typeface="Calibri"/>
              <a:cs typeface="Calibri"/>
              <a:sym typeface="Calibri"/>
            </a:endParaRPr>
          </a:p>
        </p:txBody>
      </p:sp>
      <p:sp>
        <p:nvSpPr>
          <p:cNvPr id="233" name="Google Shape;233;p7"/>
          <p:cNvSpPr/>
          <p:nvPr/>
        </p:nvSpPr>
        <p:spPr>
          <a:xfrm>
            <a:off x="793790" y="1421725"/>
            <a:ext cx="13042821" cy="208359"/>
          </a:xfrm>
          <a:prstGeom prst="rect">
            <a:avLst/>
          </a:prstGeom>
          <a:noFill/>
          <a:ln>
            <a:noFill/>
          </a:ln>
        </p:spPr>
        <p:txBody>
          <a:bodyPr spcFirstLastPara="1" wrap="square" lIns="0" tIns="0" rIns="0" bIns="0" anchor="t" anchorCtr="0">
            <a:noAutofit/>
          </a:bodyPr>
          <a:lstStyle/>
          <a:p>
            <a:pPr marL="0" marR="0" lvl="0" indent="0" algn="l" rtl="0">
              <a:lnSpc>
                <a:spcPct val="139130"/>
              </a:lnSpc>
              <a:spcBef>
                <a:spcPts val="0"/>
              </a:spcBef>
              <a:spcAft>
                <a:spcPts val="0"/>
              </a:spcAft>
              <a:buClr>
                <a:srgbClr val="C2C4B5"/>
              </a:buClr>
              <a:buSzPts val="1150"/>
              <a:buFont typeface="Bitter"/>
              <a:buNone/>
            </a:pPr>
            <a:r>
              <a:rPr lang="en-US" sz="1150">
                <a:solidFill>
                  <a:srgbClr val="C2C4B5"/>
                </a:solidFill>
                <a:latin typeface="Bitter"/>
                <a:ea typeface="Bitter"/>
                <a:cs typeface="Bitter"/>
                <a:sym typeface="Bitter"/>
              </a:rPr>
              <a:t>Understanding how Kubernetes combines multiple affinity rules is crucial for writing correct configurations. The logic can be counterintuitive at first.</a:t>
            </a:r>
            <a:endParaRPr sz="1150">
              <a:solidFill>
                <a:schemeClr val="dk1"/>
              </a:solidFill>
              <a:latin typeface="Calibri"/>
              <a:ea typeface="Calibri"/>
              <a:cs typeface="Calibri"/>
              <a:sym typeface="Calibri"/>
            </a:endParaRPr>
          </a:p>
        </p:txBody>
      </p:sp>
      <p:pic>
        <p:nvPicPr>
          <p:cNvPr id="234" name="Google Shape;234;p7" descr="preencoded.png"/>
          <p:cNvPicPr preferRelativeResize="0"/>
          <p:nvPr/>
        </p:nvPicPr>
        <p:blipFill rotWithShape="1">
          <a:blip r:embed="rId3">
            <a:alphaModFix/>
          </a:blip>
          <a:srcRect/>
          <a:stretch/>
        </p:blipFill>
        <p:spPr>
          <a:xfrm>
            <a:off x="793790" y="1755577"/>
            <a:ext cx="4347567" cy="595313"/>
          </a:xfrm>
          <a:prstGeom prst="rect">
            <a:avLst/>
          </a:prstGeom>
          <a:noFill/>
          <a:ln>
            <a:noFill/>
          </a:ln>
        </p:spPr>
      </p:pic>
      <p:sp>
        <p:nvSpPr>
          <p:cNvPr id="235" name="Google Shape;235;p7"/>
          <p:cNvSpPr/>
          <p:nvPr/>
        </p:nvSpPr>
        <p:spPr>
          <a:xfrm>
            <a:off x="942618" y="2462451"/>
            <a:ext cx="2555319" cy="232529"/>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C2C4B5"/>
              </a:buClr>
              <a:buSzPts val="1450"/>
              <a:buFont typeface="Outfit"/>
              <a:buNone/>
            </a:pPr>
            <a:r>
              <a:rPr lang="en-US" sz="1450" b="1">
                <a:solidFill>
                  <a:srgbClr val="C2C4B5"/>
                </a:solidFill>
                <a:latin typeface="Outfit"/>
                <a:ea typeface="Outfit"/>
                <a:cs typeface="Outfit"/>
                <a:sym typeface="Outfit"/>
              </a:rPr>
              <a:t>matchExpressions: AND Logic</a:t>
            </a:r>
            <a:endParaRPr sz="1450">
              <a:solidFill>
                <a:schemeClr val="dk1"/>
              </a:solidFill>
              <a:latin typeface="Calibri"/>
              <a:ea typeface="Calibri"/>
              <a:cs typeface="Calibri"/>
              <a:sym typeface="Calibri"/>
            </a:endParaRPr>
          </a:p>
        </p:txBody>
      </p:sp>
      <p:sp>
        <p:nvSpPr>
          <p:cNvPr id="236" name="Google Shape;236;p7"/>
          <p:cNvSpPr/>
          <p:nvPr/>
        </p:nvSpPr>
        <p:spPr>
          <a:xfrm>
            <a:off x="942618" y="2761893"/>
            <a:ext cx="4049911" cy="424339"/>
          </a:xfrm>
          <a:prstGeom prst="rect">
            <a:avLst/>
          </a:prstGeom>
          <a:noFill/>
          <a:ln>
            <a:noFill/>
          </a:ln>
        </p:spPr>
        <p:txBody>
          <a:bodyPr spcFirstLastPara="1" wrap="square" lIns="0" tIns="0" rIns="0" bIns="0" anchor="t" anchorCtr="0">
            <a:noAutofit/>
          </a:bodyPr>
          <a:lstStyle/>
          <a:p>
            <a:pPr marL="0" marR="0" lvl="0" indent="0" algn="l" rtl="0">
              <a:lnSpc>
                <a:spcPct val="139130"/>
              </a:lnSpc>
              <a:spcBef>
                <a:spcPts val="0"/>
              </a:spcBef>
              <a:spcAft>
                <a:spcPts val="0"/>
              </a:spcAft>
              <a:buClr>
                <a:srgbClr val="C2C4B5"/>
              </a:buClr>
              <a:buSzPts val="1150"/>
              <a:buFont typeface="Bitter"/>
              <a:buNone/>
            </a:pPr>
            <a:r>
              <a:rPr lang="en-US" sz="1150">
                <a:solidFill>
                  <a:srgbClr val="C2C4B5"/>
                </a:solidFill>
                <a:latin typeface="Bitter"/>
                <a:ea typeface="Bitter"/>
                <a:cs typeface="Bitter"/>
                <a:sym typeface="Bitter"/>
              </a:rPr>
              <a:t>All expressions in a single </a:t>
            </a:r>
            <a:r>
              <a:rPr lang="en-US" sz="1150">
                <a:solidFill>
                  <a:srgbClr val="C2C4B5"/>
                </a:solidFill>
                <a:highlight>
                  <a:srgbClr val="292A2C"/>
                </a:highlight>
                <a:latin typeface="Consolas"/>
                <a:ea typeface="Consolas"/>
                <a:cs typeface="Consolas"/>
                <a:sym typeface="Consolas"/>
              </a:rPr>
              <a:t>matchExpressions</a:t>
            </a:r>
            <a:r>
              <a:rPr lang="en-US" sz="1150">
                <a:solidFill>
                  <a:srgbClr val="C2C4B5"/>
                </a:solidFill>
                <a:latin typeface="Bitter"/>
                <a:ea typeface="Bitter"/>
                <a:cs typeface="Bitter"/>
                <a:sym typeface="Bitter"/>
              </a:rPr>
              <a:t> list must match for the term to succeed</a:t>
            </a:r>
            <a:endParaRPr sz="1150">
              <a:solidFill>
                <a:schemeClr val="dk1"/>
              </a:solidFill>
              <a:latin typeface="Calibri"/>
              <a:ea typeface="Calibri"/>
              <a:cs typeface="Calibri"/>
              <a:sym typeface="Calibri"/>
            </a:endParaRPr>
          </a:p>
        </p:txBody>
      </p:sp>
      <p:pic>
        <p:nvPicPr>
          <p:cNvPr id="237" name="Google Shape;237;p7" descr="preencoded.png"/>
          <p:cNvPicPr preferRelativeResize="0"/>
          <p:nvPr/>
        </p:nvPicPr>
        <p:blipFill rotWithShape="1">
          <a:blip r:embed="rId4">
            <a:alphaModFix/>
          </a:blip>
          <a:srcRect/>
          <a:stretch/>
        </p:blipFill>
        <p:spPr>
          <a:xfrm>
            <a:off x="5141357" y="1755577"/>
            <a:ext cx="4347567" cy="595313"/>
          </a:xfrm>
          <a:prstGeom prst="rect">
            <a:avLst/>
          </a:prstGeom>
          <a:noFill/>
          <a:ln>
            <a:noFill/>
          </a:ln>
        </p:spPr>
      </p:pic>
      <p:sp>
        <p:nvSpPr>
          <p:cNvPr id="238" name="Google Shape;238;p7"/>
          <p:cNvSpPr/>
          <p:nvPr/>
        </p:nvSpPr>
        <p:spPr>
          <a:xfrm>
            <a:off x="5290185" y="2462451"/>
            <a:ext cx="2519601" cy="232529"/>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C2C4B5"/>
              </a:buClr>
              <a:buSzPts val="1450"/>
              <a:buFont typeface="Outfit"/>
              <a:buNone/>
            </a:pPr>
            <a:r>
              <a:rPr lang="en-US" sz="1450" b="1">
                <a:solidFill>
                  <a:srgbClr val="C2C4B5"/>
                </a:solidFill>
                <a:latin typeface="Outfit"/>
                <a:ea typeface="Outfit"/>
                <a:cs typeface="Outfit"/>
                <a:sym typeface="Outfit"/>
              </a:rPr>
              <a:t>nodeSelectorTerms: OR Logic</a:t>
            </a:r>
            <a:endParaRPr sz="1450">
              <a:solidFill>
                <a:schemeClr val="dk1"/>
              </a:solidFill>
              <a:latin typeface="Calibri"/>
              <a:ea typeface="Calibri"/>
              <a:cs typeface="Calibri"/>
              <a:sym typeface="Calibri"/>
            </a:endParaRPr>
          </a:p>
        </p:txBody>
      </p:sp>
      <p:sp>
        <p:nvSpPr>
          <p:cNvPr id="239" name="Google Shape;239;p7"/>
          <p:cNvSpPr/>
          <p:nvPr/>
        </p:nvSpPr>
        <p:spPr>
          <a:xfrm>
            <a:off x="5290185" y="2761893"/>
            <a:ext cx="4049911" cy="416719"/>
          </a:xfrm>
          <a:prstGeom prst="rect">
            <a:avLst/>
          </a:prstGeom>
          <a:noFill/>
          <a:ln>
            <a:noFill/>
          </a:ln>
        </p:spPr>
        <p:txBody>
          <a:bodyPr spcFirstLastPara="1" wrap="square" lIns="0" tIns="0" rIns="0" bIns="0" anchor="t" anchorCtr="0">
            <a:noAutofit/>
          </a:bodyPr>
          <a:lstStyle/>
          <a:p>
            <a:pPr marL="0" marR="0" lvl="0" indent="0" algn="l" rtl="0">
              <a:lnSpc>
                <a:spcPct val="139130"/>
              </a:lnSpc>
              <a:spcBef>
                <a:spcPts val="0"/>
              </a:spcBef>
              <a:spcAft>
                <a:spcPts val="0"/>
              </a:spcAft>
              <a:buClr>
                <a:srgbClr val="C2C4B5"/>
              </a:buClr>
              <a:buSzPts val="1150"/>
              <a:buFont typeface="Bitter"/>
              <a:buNone/>
            </a:pPr>
            <a:r>
              <a:rPr lang="en-US" sz="1150">
                <a:solidFill>
                  <a:srgbClr val="C2C4B5"/>
                </a:solidFill>
                <a:latin typeface="Bitter"/>
                <a:ea typeface="Bitter"/>
                <a:cs typeface="Bitter"/>
                <a:sym typeface="Bitter"/>
              </a:rPr>
              <a:t>At least one term in the list must match for the required rules to pass</a:t>
            </a:r>
            <a:endParaRPr sz="1150">
              <a:solidFill>
                <a:schemeClr val="dk1"/>
              </a:solidFill>
              <a:latin typeface="Calibri"/>
              <a:ea typeface="Calibri"/>
              <a:cs typeface="Calibri"/>
              <a:sym typeface="Calibri"/>
            </a:endParaRPr>
          </a:p>
        </p:txBody>
      </p:sp>
      <p:pic>
        <p:nvPicPr>
          <p:cNvPr id="240" name="Google Shape;240;p7" descr="preencoded.png"/>
          <p:cNvPicPr preferRelativeResize="0"/>
          <p:nvPr/>
        </p:nvPicPr>
        <p:blipFill rotWithShape="1">
          <a:blip r:embed="rId5">
            <a:alphaModFix/>
          </a:blip>
          <a:srcRect/>
          <a:stretch/>
        </p:blipFill>
        <p:spPr>
          <a:xfrm>
            <a:off x="9488924" y="1755577"/>
            <a:ext cx="4347567" cy="595313"/>
          </a:xfrm>
          <a:prstGeom prst="rect">
            <a:avLst/>
          </a:prstGeom>
          <a:noFill/>
          <a:ln>
            <a:noFill/>
          </a:ln>
        </p:spPr>
      </p:pic>
      <p:sp>
        <p:nvSpPr>
          <p:cNvPr id="241" name="Google Shape;241;p7"/>
          <p:cNvSpPr/>
          <p:nvPr/>
        </p:nvSpPr>
        <p:spPr>
          <a:xfrm>
            <a:off x="9637752" y="2462451"/>
            <a:ext cx="3082052" cy="232529"/>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C2C4B5"/>
              </a:buClr>
              <a:buSzPts val="1450"/>
              <a:buFont typeface="Outfit"/>
              <a:buNone/>
            </a:pPr>
            <a:r>
              <a:rPr lang="en-US" sz="1450" b="1">
                <a:solidFill>
                  <a:srgbClr val="C2C4B5"/>
                </a:solidFill>
                <a:latin typeface="Outfit"/>
                <a:ea typeface="Outfit"/>
                <a:cs typeface="Outfit"/>
                <a:sym typeface="Outfit"/>
              </a:rPr>
              <a:t>Multiple Preferences: Weighted Sum</a:t>
            </a:r>
            <a:endParaRPr sz="1450">
              <a:solidFill>
                <a:schemeClr val="dk1"/>
              </a:solidFill>
              <a:latin typeface="Calibri"/>
              <a:ea typeface="Calibri"/>
              <a:cs typeface="Calibri"/>
              <a:sym typeface="Calibri"/>
            </a:endParaRPr>
          </a:p>
        </p:txBody>
      </p:sp>
      <p:sp>
        <p:nvSpPr>
          <p:cNvPr id="242" name="Google Shape;242;p7"/>
          <p:cNvSpPr/>
          <p:nvPr/>
        </p:nvSpPr>
        <p:spPr>
          <a:xfrm>
            <a:off x="9637752" y="2761893"/>
            <a:ext cx="4049911" cy="416719"/>
          </a:xfrm>
          <a:prstGeom prst="rect">
            <a:avLst/>
          </a:prstGeom>
          <a:noFill/>
          <a:ln>
            <a:noFill/>
          </a:ln>
        </p:spPr>
        <p:txBody>
          <a:bodyPr spcFirstLastPara="1" wrap="square" lIns="0" tIns="0" rIns="0" bIns="0" anchor="t" anchorCtr="0">
            <a:noAutofit/>
          </a:bodyPr>
          <a:lstStyle/>
          <a:p>
            <a:pPr marL="0" marR="0" lvl="0" indent="0" algn="l" rtl="0">
              <a:lnSpc>
                <a:spcPct val="139130"/>
              </a:lnSpc>
              <a:spcBef>
                <a:spcPts val="0"/>
              </a:spcBef>
              <a:spcAft>
                <a:spcPts val="0"/>
              </a:spcAft>
              <a:buClr>
                <a:srgbClr val="C2C4B5"/>
              </a:buClr>
              <a:buSzPts val="1150"/>
              <a:buFont typeface="Bitter"/>
              <a:buNone/>
            </a:pPr>
            <a:r>
              <a:rPr lang="en-US" sz="1150">
                <a:solidFill>
                  <a:srgbClr val="C2C4B5"/>
                </a:solidFill>
                <a:latin typeface="Bitter"/>
                <a:ea typeface="Bitter"/>
                <a:cs typeface="Bitter"/>
                <a:sym typeface="Bitter"/>
              </a:rPr>
              <a:t>All preferences are evaluated and their weights summed for matching nodes</a:t>
            </a:r>
            <a:endParaRPr sz="1150">
              <a:solidFill>
                <a:schemeClr val="dk1"/>
              </a:solidFill>
              <a:latin typeface="Calibri"/>
              <a:ea typeface="Calibri"/>
              <a:cs typeface="Calibri"/>
              <a:sym typeface="Calibri"/>
            </a:endParaRPr>
          </a:p>
        </p:txBody>
      </p:sp>
      <p:sp>
        <p:nvSpPr>
          <p:cNvPr id="243" name="Google Shape;243;p7"/>
          <p:cNvSpPr/>
          <p:nvPr/>
        </p:nvSpPr>
        <p:spPr>
          <a:xfrm>
            <a:off x="793790" y="3572113"/>
            <a:ext cx="1860590" cy="232529"/>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E1E5CD"/>
              </a:buClr>
              <a:buSzPts val="1450"/>
              <a:buFont typeface="Outfit"/>
              <a:buNone/>
            </a:pPr>
            <a:r>
              <a:rPr lang="en-US" sz="1450" b="1">
                <a:solidFill>
                  <a:srgbClr val="E1E5CD"/>
                </a:solidFill>
                <a:latin typeface="Outfit"/>
                <a:ea typeface="Outfit"/>
                <a:cs typeface="Outfit"/>
                <a:sym typeface="Outfit"/>
              </a:rPr>
              <a:t>Example: AND Logic</a:t>
            </a:r>
            <a:endParaRPr sz="1450">
              <a:solidFill>
                <a:schemeClr val="dk1"/>
              </a:solidFill>
              <a:latin typeface="Calibri"/>
              <a:ea typeface="Calibri"/>
              <a:cs typeface="Calibri"/>
              <a:sym typeface="Calibri"/>
            </a:endParaRPr>
          </a:p>
        </p:txBody>
      </p:sp>
      <p:sp>
        <p:nvSpPr>
          <p:cNvPr id="244" name="Google Shape;244;p7"/>
          <p:cNvSpPr/>
          <p:nvPr/>
        </p:nvSpPr>
        <p:spPr>
          <a:xfrm>
            <a:off x="793790" y="3930134"/>
            <a:ext cx="6339840" cy="2381250"/>
          </a:xfrm>
          <a:prstGeom prst="roundRect">
            <a:avLst>
              <a:gd name="adj" fmla="val 938"/>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786408" y="3930134"/>
            <a:ext cx="6354604" cy="2381250"/>
          </a:xfrm>
          <a:prstGeom prst="roundRect">
            <a:avLst>
              <a:gd name="adj" fmla="val 938"/>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7"/>
          <p:cNvSpPr/>
          <p:nvPr/>
        </p:nvSpPr>
        <p:spPr>
          <a:xfrm>
            <a:off x="972383" y="4078962"/>
            <a:ext cx="5982653" cy="2083594"/>
          </a:xfrm>
          <a:prstGeom prst="rect">
            <a:avLst/>
          </a:prstGeom>
          <a:noFill/>
          <a:ln>
            <a:noFill/>
          </a:ln>
        </p:spPr>
        <p:txBody>
          <a:bodyPr spcFirstLastPara="1" wrap="square" lIns="0" tIns="0" rIns="0" bIns="0" anchor="t" anchorCtr="0">
            <a:noAutofit/>
          </a:bodyPr>
          <a:lstStyle/>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matchExpressions:</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key: zone</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operator: In</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values:</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 zone1</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 zone2</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key: hardware-type</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operator: In</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values:</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 production</a:t>
            </a:r>
            <a:endParaRPr sz="1150">
              <a:solidFill>
                <a:schemeClr val="dk1"/>
              </a:solidFill>
              <a:latin typeface="Calibri"/>
              <a:ea typeface="Calibri"/>
              <a:cs typeface="Calibri"/>
              <a:sym typeface="Calibri"/>
            </a:endParaRPr>
          </a:p>
        </p:txBody>
      </p:sp>
      <p:sp>
        <p:nvSpPr>
          <p:cNvPr id="247" name="Google Shape;247;p7"/>
          <p:cNvSpPr/>
          <p:nvPr/>
        </p:nvSpPr>
        <p:spPr>
          <a:xfrm>
            <a:off x="793790" y="6436876"/>
            <a:ext cx="6339840" cy="208359"/>
          </a:xfrm>
          <a:prstGeom prst="rect">
            <a:avLst/>
          </a:prstGeom>
          <a:noFill/>
          <a:ln>
            <a:noFill/>
          </a:ln>
        </p:spPr>
        <p:txBody>
          <a:bodyPr spcFirstLastPara="1" wrap="square" lIns="0" tIns="0" rIns="0" bIns="0" anchor="t" anchorCtr="0">
            <a:noAutofit/>
          </a:bodyPr>
          <a:lstStyle/>
          <a:p>
            <a:pPr marL="0" marR="0" lvl="0" indent="0" algn="l" rtl="0">
              <a:lnSpc>
                <a:spcPct val="139130"/>
              </a:lnSpc>
              <a:spcBef>
                <a:spcPts val="0"/>
              </a:spcBef>
              <a:spcAft>
                <a:spcPts val="0"/>
              </a:spcAft>
              <a:buClr>
                <a:srgbClr val="C2C4B5"/>
              </a:buClr>
              <a:buSzPts val="1150"/>
              <a:buFont typeface="Bitter"/>
              <a:buNone/>
            </a:pPr>
            <a:r>
              <a:rPr lang="en-US" sz="1150" b="1">
                <a:solidFill>
                  <a:srgbClr val="C2C4B5"/>
                </a:solidFill>
                <a:latin typeface="Bitter"/>
                <a:ea typeface="Bitter"/>
                <a:cs typeface="Bitter"/>
                <a:sym typeface="Bitter"/>
              </a:rPr>
              <a:t>Result:</a:t>
            </a:r>
            <a:r>
              <a:rPr lang="en-US" sz="1150">
                <a:solidFill>
                  <a:srgbClr val="C2C4B5"/>
                </a:solidFill>
                <a:latin typeface="Bitter"/>
                <a:ea typeface="Bitter"/>
                <a:cs typeface="Bitter"/>
                <a:sym typeface="Bitter"/>
              </a:rPr>
              <a:t> Node must have zone in (zone1, zone2) AND hardware-type = production</a:t>
            </a:r>
            <a:endParaRPr sz="1150">
              <a:solidFill>
                <a:schemeClr val="dk1"/>
              </a:solidFill>
              <a:latin typeface="Calibri"/>
              <a:ea typeface="Calibri"/>
              <a:cs typeface="Calibri"/>
              <a:sym typeface="Calibri"/>
            </a:endParaRPr>
          </a:p>
        </p:txBody>
      </p:sp>
      <p:sp>
        <p:nvSpPr>
          <p:cNvPr id="248" name="Google Shape;248;p7"/>
          <p:cNvSpPr/>
          <p:nvPr/>
        </p:nvSpPr>
        <p:spPr>
          <a:xfrm>
            <a:off x="7504390" y="3572113"/>
            <a:ext cx="1860590" cy="232529"/>
          </a:xfrm>
          <a:prstGeom prst="rect">
            <a:avLst/>
          </a:prstGeom>
          <a:noFill/>
          <a:ln>
            <a:noFill/>
          </a:ln>
        </p:spPr>
        <p:txBody>
          <a:bodyPr spcFirstLastPara="1" wrap="square" lIns="0" tIns="0" rIns="0" bIns="0" anchor="t" anchorCtr="0">
            <a:noAutofit/>
          </a:bodyPr>
          <a:lstStyle/>
          <a:p>
            <a:pPr marL="0" marR="0" lvl="0" indent="0" algn="l" rtl="0">
              <a:lnSpc>
                <a:spcPct val="124137"/>
              </a:lnSpc>
              <a:spcBef>
                <a:spcPts val="0"/>
              </a:spcBef>
              <a:spcAft>
                <a:spcPts val="0"/>
              </a:spcAft>
              <a:buClr>
                <a:srgbClr val="E1E5CD"/>
              </a:buClr>
              <a:buSzPts val="1450"/>
              <a:buFont typeface="Outfit"/>
              <a:buNone/>
            </a:pPr>
            <a:r>
              <a:rPr lang="en-US" sz="1450" b="1">
                <a:solidFill>
                  <a:srgbClr val="E1E5CD"/>
                </a:solidFill>
                <a:latin typeface="Outfit"/>
                <a:ea typeface="Outfit"/>
                <a:cs typeface="Outfit"/>
                <a:sym typeface="Outfit"/>
              </a:rPr>
              <a:t>Example: OR Logic</a:t>
            </a:r>
            <a:endParaRPr sz="1450">
              <a:solidFill>
                <a:schemeClr val="dk1"/>
              </a:solidFill>
              <a:latin typeface="Calibri"/>
              <a:ea typeface="Calibri"/>
              <a:cs typeface="Calibri"/>
              <a:sym typeface="Calibri"/>
            </a:endParaRPr>
          </a:p>
        </p:txBody>
      </p:sp>
      <p:sp>
        <p:nvSpPr>
          <p:cNvPr id="249" name="Google Shape;249;p7"/>
          <p:cNvSpPr/>
          <p:nvPr/>
        </p:nvSpPr>
        <p:spPr>
          <a:xfrm>
            <a:off x="7504390" y="3930134"/>
            <a:ext cx="6339840" cy="2589609"/>
          </a:xfrm>
          <a:prstGeom prst="roundRect">
            <a:avLst>
              <a:gd name="adj" fmla="val 862"/>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7"/>
          <p:cNvSpPr/>
          <p:nvPr/>
        </p:nvSpPr>
        <p:spPr>
          <a:xfrm>
            <a:off x="7497008" y="3930134"/>
            <a:ext cx="6354604" cy="2589609"/>
          </a:xfrm>
          <a:prstGeom prst="roundRect">
            <a:avLst>
              <a:gd name="adj" fmla="val 862"/>
            </a:avLst>
          </a:prstGeom>
          <a:solidFill>
            <a:srgbClr val="292A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7"/>
          <p:cNvSpPr/>
          <p:nvPr/>
        </p:nvSpPr>
        <p:spPr>
          <a:xfrm>
            <a:off x="7682984" y="4078962"/>
            <a:ext cx="5982653" cy="2291953"/>
          </a:xfrm>
          <a:prstGeom prst="rect">
            <a:avLst/>
          </a:prstGeom>
          <a:noFill/>
          <a:ln>
            <a:noFill/>
          </a:ln>
        </p:spPr>
        <p:txBody>
          <a:bodyPr spcFirstLastPara="1" wrap="square" lIns="0" tIns="0" rIns="0" bIns="0" anchor="t" anchorCtr="0">
            <a:noAutofit/>
          </a:bodyPr>
          <a:lstStyle/>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nodeSelectorTerms:</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matchExpressions:</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 key: zone</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operator: In</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values:</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 zone1</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matchExpressions:</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 key: zone</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operator: In</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values:</a:t>
            </a:r>
            <a:endParaRPr sz="1150">
              <a:solidFill>
                <a:schemeClr val="dk1"/>
              </a:solidFill>
              <a:latin typeface="Calibri"/>
              <a:ea typeface="Calibri"/>
              <a:cs typeface="Calibri"/>
              <a:sym typeface="Calibri"/>
            </a:endParaRPr>
          </a:p>
          <a:p>
            <a:pPr marL="0" marR="0" lvl="0" indent="0" algn="l" rtl="0">
              <a:lnSpc>
                <a:spcPct val="139130"/>
              </a:lnSpc>
              <a:spcBef>
                <a:spcPts val="0"/>
              </a:spcBef>
              <a:spcAft>
                <a:spcPts val="0"/>
              </a:spcAft>
              <a:buClr>
                <a:srgbClr val="79C0FF"/>
              </a:buClr>
              <a:buSzPts val="1150"/>
              <a:buFont typeface="Consolas"/>
              <a:buNone/>
            </a:pPr>
            <a:r>
              <a:rPr lang="en-US" sz="1150">
                <a:solidFill>
                  <a:srgbClr val="79C0FF"/>
                </a:solidFill>
                <a:highlight>
                  <a:srgbClr val="292A2C"/>
                </a:highlight>
                <a:latin typeface="Consolas"/>
                <a:ea typeface="Consolas"/>
                <a:cs typeface="Consolas"/>
                <a:sym typeface="Consolas"/>
              </a:rPr>
              <a:t>    - zone2</a:t>
            </a:r>
            <a:endParaRPr sz="1150">
              <a:solidFill>
                <a:schemeClr val="dk1"/>
              </a:solidFill>
              <a:latin typeface="Calibri"/>
              <a:ea typeface="Calibri"/>
              <a:cs typeface="Calibri"/>
              <a:sym typeface="Calibri"/>
            </a:endParaRPr>
          </a:p>
        </p:txBody>
      </p:sp>
      <p:sp>
        <p:nvSpPr>
          <p:cNvPr id="252" name="Google Shape;252;p7"/>
          <p:cNvSpPr/>
          <p:nvPr/>
        </p:nvSpPr>
        <p:spPr>
          <a:xfrm>
            <a:off x="7504390" y="6645235"/>
            <a:ext cx="6339840" cy="208359"/>
          </a:xfrm>
          <a:prstGeom prst="rect">
            <a:avLst/>
          </a:prstGeom>
          <a:noFill/>
          <a:ln>
            <a:noFill/>
          </a:ln>
        </p:spPr>
        <p:txBody>
          <a:bodyPr spcFirstLastPara="1" wrap="square" lIns="0" tIns="0" rIns="0" bIns="0" anchor="t" anchorCtr="0">
            <a:noAutofit/>
          </a:bodyPr>
          <a:lstStyle/>
          <a:p>
            <a:pPr marL="0" marR="0" lvl="0" indent="0" algn="l" rtl="0">
              <a:lnSpc>
                <a:spcPct val="139130"/>
              </a:lnSpc>
              <a:spcBef>
                <a:spcPts val="0"/>
              </a:spcBef>
              <a:spcAft>
                <a:spcPts val="0"/>
              </a:spcAft>
              <a:buClr>
                <a:srgbClr val="C2C4B5"/>
              </a:buClr>
              <a:buSzPts val="1150"/>
              <a:buFont typeface="Bitter"/>
              <a:buNone/>
            </a:pPr>
            <a:r>
              <a:rPr lang="en-US" sz="1150" b="1">
                <a:solidFill>
                  <a:srgbClr val="C2C4B5"/>
                </a:solidFill>
                <a:latin typeface="Bitter"/>
                <a:ea typeface="Bitter"/>
                <a:cs typeface="Bitter"/>
                <a:sym typeface="Bitter"/>
              </a:rPr>
              <a:t>Result:</a:t>
            </a:r>
            <a:r>
              <a:rPr lang="en-US" sz="1150">
                <a:solidFill>
                  <a:srgbClr val="C2C4B5"/>
                </a:solidFill>
                <a:latin typeface="Bitter"/>
                <a:ea typeface="Bitter"/>
                <a:cs typeface="Bitter"/>
                <a:sym typeface="Bitter"/>
              </a:rPr>
              <a:t> Node can have zone = zone1 OR zone = zone2</a:t>
            </a:r>
            <a:endParaRPr sz="1150">
              <a:solidFill>
                <a:schemeClr val="dk1"/>
              </a:solidFill>
              <a:latin typeface="Calibri"/>
              <a:ea typeface="Calibri"/>
              <a:cs typeface="Calibri"/>
              <a:sym typeface="Calibri"/>
            </a:endParaRPr>
          </a:p>
        </p:txBody>
      </p:sp>
      <p:sp>
        <p:nvSpPr>
          <p:cNvPr id="253" name="Google Shape;253;p7"/>
          <p:cNvSpPr/>
          <p:nvPr/>
        </p:nvSpPr>
        <p:spPr>
          <a:xfrm>
            <a:off x="793790" y="7079456"/>
            <a:ext cx="13042821" cy="416719"/>
          </a:xfrm>
          <a:prstGeom prst="rect">
            <a:avLst/>
          </a:prstGeom>
          <a:noFill/>
          <a:ln>
            <a:noFill/>
          </a:ln>
        </p:spPr>
        <p:txBody>
          <a:bodyPr spcFirstLastPara="1" wrap="square" lIns="0" tIns="0" rIns="0" bIns="0" anchor="t" anchorCtr="0">
            <a:noAutofit/>
          </a:bodyPr>
          <a:lstStyle/>
          <a:p>
            <a:pPr marL="0" marR="0" lvl="0" indent="0" algn="l" rtl="0">
              <a:lnSpc>
                <a:spcPct val="139130"/>
              </a:lnSpc>
              <a:spcBef>
                <a:spcPts val="0"/>
              </a:spcBef>
              <a:spcAft>
                <a:spcPts val="0"/>
              </a:spcAft>
              <a:buClr>
                <a:srgbClr val="C2C4B5"/>
              </a:buClr>
              <a:buSzPts val="1150"/>
              <a:buFont typeface="Bitter"/>
              <a:buNone/>
            </a:pPr>
            <a:r>
              <a:rPr lang="en-US" sz="1150">
                <a:solidFill>
                  <a:srgbClr val="C2C4B5"/>
                </a:solidFill>
                <a:latin typeface="Bitter"/>
                <a:ea typeface="Bitter"/>
                <a:cs typeface="Bitter"/>
                <a:sym typeface="Bitter"/>
              </a:rPr>
              <a:t>This combination of AND and OR logic gives you tremendous flexibility. You can express complex requirements like "must be in zone1 or zone2 AND must have SSD storage OR must be a high-memory node in any zone".</a:t>
            </a:r>
            <a:endParaRPr sz="11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8"/>
          <p:cNvSpPr/>
          <p:nvPr/>
        </p:nvSpPr>
        <p:spPr>
          <a:xfrm>
            <a:off x="793790" y="605671"/>
            <a:ext cx="9442728" cy="49613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E1E5CD"/>
              </a:buClr>
              <a:buSzPts val="3100"/>
              <a:buFont typeface="Outfit"/>
              <a:buNone/>
            </a:pPr>
            <a:r>
              <a:rPr lang="en-US" sz="3100" b="1">
                <a:solidFill>
                  <a:srgbClr val="E1E5CD"/>
                </a:solidFill>
                <a:latin typeface="Outfit"/>
                <a:ea typeface="Outfit"/>
                <a:cs typeface="Outfit"/>
                <a:sym typeface="Outfit"/>
              </a:rPr>
              <a:t>Scheduling Flow: How the Scheduler Evaluates Rules</a:t>
            </a:r>
            <a:endParaRPr sz="3100">
              <a:solidFill>
                <a:schemeClr val="dk1"/>
              </a:solidFill>
              <a:latin typeface="Calibri"/>
              <a:ea typeface="Calibri"/>
              <a:cs typeface="Calibri"/>
              <a:sym typeface="Calibri"/>
            </a:endParaRPr>
          </a:p>
        </p:txBody>
      </p:sp>
      <p:sp>
        <p:nvSpPr>
          <p:cNvPr id="260" name="Google Shape;260;p8"/>
          <p:cNvSpPr/>
          <p:nvPr/>
        </p:nvSpPr>
        <p:spPr>
          <a:xfrm>
            <a:off x="793790" y="1355765"/>
            <a:ext cx="13042821" cy="228600"/>
          </a:xfrm>
          <a:prstGeom prst="rect">
            <a:avLst/>
          </a:prstGeom>
          <a:noFill/>
          <a:ln>
            <a:noFill/>
          </a:ln>
        </p:spPr>
        <p:txBody>
          <a:bodyPr spcFirstLastPara="1" wrap="square" lIns="0" tIns="0" rIns="0" bIns="0" anchor="t" anchorCtr="0">
            <a:noAutofit/>
          </a:bodyPr>
          <a:lstStyle/>
          <a:p>
            <a:pPr marL="0" marR="0" lvl="0" indent="0" algn="l" rtl="0">
              <a:lnSpc>
                <a:spcPct val="144000"/>
              </a:lnSpc>
              <a:spcBef>
                <a:spcPts val="0"/>
              </a:spcBef>
              <a:spcAft>
                <a:spcPts val="0"/>
              </a:spcAft>
              <a:buClr>
                <a:srgbClr val="C2C4B5"/>
              </a:buClr>
              <a:buSzPts val="1250"/>
              <a:buFont typeface="Bitter"/>
              <a:buNone/>
            </a:pPr>
            <a:r>
              <a:rPr lang="en-US" sz="1250">
                <a:solidFill>
                  <a:srgbClr val="C2C4B5"/>
                </a:solidFill>
                <a:latin typeface="Bitter"/>
                <a:ea typeface="Bitter"/>
                <a:cs typeface="Bitter"/>
                <a:sym typeface="Bitter"/>
              </a:rPr>
              <a:t>Understanding the scheduler's decision-making process helps debug scheduling issues and write more effective affinity rules.</a:t>
            </a:r>
            <a:endParaRPr sz="1250">
              <a:solidFill>
                <a:schemeClr val="dk1"/>
              </a:solidFill>
              <a:latin typeface="Calibri"/>
              <a:ea typeface="Calibri"/>
              <a:cs typeface="Calibri"/>
              <a:sym typeface="Calibri"/>
            </a:endParaRPr>
          </a:p>
        </p:txBody>
      </p:sp>
      <p:pic>
        <p:nvPicPr>
          <p:cNvPr id="261" name="Google Shape;261;p8" descr="preencoded.png"/>
          <p:cNvPicPr preferRelativeResize="0"/>
          <p:nvPr/>
        </p:nvPicPr>
        <p:blipFill rotWithShape="1">
          <a:blip r:embed="rId3">
            <a:alphaModFix/>
          </a:blip>
          <a:srcRect/>
          <a:stretch/>
        </p:blipFill>
        <p:spPr>
          <a:xfrm>
            <a:off x="2481858" y="1727240"/>
            <a:ext cx="9666684" cy="5896570"/>
          </a:xfrm>
          <a:prstGeom prst="rect">
            <a:avLst/>
          </a:prstGeom>
          <a:noFill/>
          <a:ln>
            <a:noFill/>
          </a:ln>
        </p:spPr>
      </p:pic>
      <p:sp>
        <p:nvSpPr>
          <p:cNvPr id="262" name="Google Shape;262;p8"/>
          <p:cNvSpPr/>
          <p:nvPr/>
        </p:nvSpPr>
        <p:spPr>
          <a:xfrm>
            <a:off x="2714591" y="2880014"/>
            <a:ext cx="2203085" cy="293462"/>
          </a:xfrm>
          <a:prstGeom prst="rect">
            <a:avLst/>
          </a:prstGeom>
          <a:noFill/>
          <a:ln>
            <a:noFill/>
          </a:ln>
        </p:spPr>
        <p:txBody>
          <a:bodyPr spcFirstLastPara="1" wrap="square" lIns="0" tIns="0" rIns="0" bIns="0" anchor="t" anchorCtr="0">
            <a:noAutofit/>
          </a:bodyPr>
          <a:lstStyle/>
          <a:p>
            <a:pPr marL="0" marR="0" lvl="0" indent="0" algn="ctr" rtl="0">
              <a:lnSpc>
                <a:spcPct val="127777"/>
              </a:lnSpc>
              <a:spcBef>
                <a:spcPts val="0"/>
              </a:spcBef>
              <a:spcAft>
                <a:spcPts val="0"/>
              </a:spcAft>
              <a:buClr>
                <a:srgbClr val="C2C4B5"/>
              </a:buClr>
              <a:buSzPts val="1800"/>
              <a:buFont typeface="Outfit"/>
              <a:buNone/>
            </a:pPr>
            <a:r>
              <a:rPr lang="en-US" sz="1800" b="1">
                <a:solidFill>
                  <a:srgbClr val="C2C4B5"/>
                </a:solidFill>
                <a:latin typeface="Outfit"/>
                <a:ea typeface="Outfit"/>
                <a:cs typeface="Outfit"/>
                <a:sym typeface="Outfit"/>
              </a:rPr>
              <a:t>Pod Creation</a:t>
            </a:r>
            <a:endParaRPr sz="1800">
              <a:solidFill>
                <a:schemeClr val="dk1"/>
              </a:solidFill>
              <a:latin typeface="Calibri"/>
              <a:ea typeface="Calibri"/>
              <a:cs typeface="Calibri"/>
              <a:sym typeface="Calibri"/>
            </a:endParaRPr>
          </a:p>
        </p:txBody>
      </p:sp>
      <p:pic>
        <p:nvPicPr>
          <p:cNvPr id="263" name="Google Shape;263;p8" descr="preencoded.png"/>
          <p:cNvPicPr preferRelativeResize="0"/>
          <p:nvPr/>
        </p:nvPicPr>
        <p:blipFill rotWithShape="1">
          <a:blip r:embed="rId4">
            <a:alphaModFix/>
          </a:blip>
          <a:srcRect/>
          <a:stretch/>
        </p:blipFill>
        <p:spPr>
          <a:xfrm>
            <a:off x="3561229" y="3760726"/>
            <a:ext cx="521710" cy="521711"/>
          </a:xfrm>
          <a:prstGeom prst="rect">
            <a:avLst/>
          </a:prstGeom>
          <a:noFill/>
          <a:ln>
            <a:noFill/>
          </a:ln>
        </p:spPr>
      </p:pic>
      <p:sp>
        <p:nvSpPr>
          <p:cNvPr id="264" name="Google Shape;264;p8"/>
          <p:cNvSpPr/>
          <p:nvPr/>
        </p:nvSpPr>
        <p:spPr>
          <a:xfrm>
            <a:off x="4257712" y="5494108"/>
            <a:ext cx="2203085" cy="293462"/>
          </a:xfrm>
          <a:prstGeom prst="rect">
            <a:avLst/>
          </a:prstGeom>
          <a:noFill/>
          <a:ln>
            <a:noFill/>
          </a:ln>
        </p:spPr>
        <p:txBody>
          <a:bodyPr spcFirstLastPara="1" wrap="square" lIns="0" tIns="0" rIns="0" bIns="0" anchor="t" anchorCtr="0">
            <a:noAutofit/>
          </a:bodyPr>
          <a:lstStyle/>
          <a:p>
            <a:pPr marL="0" marR="0" lvl="0" indent="0" algn="ctr" rtl="0">
              <a:lnSpc>
                <a:spcPct val="127777"/>
              </a:lnSpc>
              <a:spcBef>
                <a:spcPts val="0"/>
              </a:spcBef>
              <a:spcAft>
                <a:spcPts val="0"/>
              </a:spcAft>
              <a:buClr>
                <a:srgbClr val="C2C4B5"/>
              </a:buClr>
              <a:buSzPts val="1800"/>
              <a:buFont typeface="Outfit"/>
              <a:buNone/>
            </a:pPr>
            <a:r>
              <a:rPr lang="en-US" sz="1800" b="1">
                <a:solidFill>
                  <a:srgbClr val="C2C4B5"/>
                </a:solidFill>
                <a:latin typeface="Outfit"/>
                <a:ea typeface="Outfit"/>
                <a:cs typeface="Outfit"/>
                <a:sym typeface="Outfit"/>
              </a:rPr>
              <a:t>Node Filtering</a:t>
            </a:r>
            <a:endParaRPr sz="1800">
              <a:solidFill>
                <a:schemeClr val="dk1"/>
              </a:solidFill>
              <a:latin typeface="Calibri"/>
              <a:ea typeface="Calibri"/>
              <a:cs typeface="Calibri"/>
              <a:sym typeface="Calibri"/>
            </a:endParaRPr>
          </a:p>
        </p:txBody>
      </p:sp>
      <p:pic>
        <p:nvPicPr>
          <p:cNvPr id="265" name="Google Shape;265;p8" descr="preencoded.png"/>
          <p:cNvPicPr preferRelativeResize="0"/>
          <p:nvPr/>
        </p:nvPicPr>
        <p:blipFill rotWithShape="1">
          <a:blip r:embed="rId5">
            <a:alphaModFix/>
          </a:blip>
          <a:srcRect/>
          <a:stretch/>
        </p:blipFill>
        <p:spPr>
          <a:xfrm>
            <a:off x="5198584" y="4078806"/>
            <a:ext cx="521710" cy="521710"/>
          </a:xfrm>
          <a:prstGeom prst="rect">
            <a:avLst/>
          </a:prstGeom>
          <a:noFill/>
          <a:ln>
            <a:noFill/>
          </a:ln>
        </p:spPr>
      </p:pic>
      <p:sp>
        <p:nvSpPr>
          <p:cNvPr id="266" name="Google Shape;266;p8"/>
          <p:cNvSpPr/>
          <p:nvPr/>
        </p:nvSpPr>
        <p:spPr>
          <a:xfrm>
            <a:off x="6135054" y="3161248"/>
            <a:ext cx="2274657" cy="293462"/>
          </a:xfrm>
          <a:prstGeom prst="rect">
            <a:avLst/>
          </a:prstGeom>
          <a:noFill/>
          <a:ln>
            <a:noFill/>
          </a:ln>
        </p:spPr>
        <p:txBody>
          <a:bodyPr spcFirstLastPara="1" wrap="square" lIns="0" tIns="0" rIns="0" bIns="0" anchor="t" anchorCtr="0">
            <a:noAutofit/>
          </a:bodyPr>
          <a:lstStyle/>
          <a:p>
            <a:pPr marL="0" marR="0" lvl="0" indent="0" algn="ctr" rtl="0">
              <a:lnSpc>
                <a:spcPct val="127777"/>
              </a:lnSpc>
              <a:spcBef>
                <a:spcPts val="0"/>
              </a:spcBef>
              <a:spcAft>
                <a:spcPts val="0"/>
              </a:spcAft>
              <a:buClr>
                <a:srgbClr val="C2C4B5"/>
              </a:buClr>
              <a:buSzPts val="1800"/>
              <a:buFont typeface="Outfit"/>
              <a:buNone/>
            </a:pPr>
            <a:r>
              <a:rPr lang="en-US" sz="1800" b="1">
                <a:solidFill>
                  <a:srgbClr val="C2C4B5"/>
                </a:solidFill>
                <a:latin typeface="Outfit"/>
                <a:ea typeface="Outfit"/>
                <a:cs typeface="Outfit"/>
                <a:sym typeface="Outfit"/>
              </a:rPr>
              <a:t>Node Scoring</a:t>
            </a:r>
            <a:endParaRPr sz="1800">
              <a:solidFill>
                <a:schemeClr val="dk1"/>
              </a:solidFill>
              <a:latin typeface="Calibri"/>
              <a:ea typeface="Calibri"/>
              <a:cs typeface="Calibri"/>
              <a:sym typeface="Calibri"/>
            </a:endParaRPr>
          </a:p>
        </p:txBody>
      </p:sp>
      <p:pic>
        <p:nvPicPr>
          <p:cNvPr id="267" name="Google Shape;267;p8" descr="preencoded.png"/>
          <p:cNvPicPr preferRelativeResize="0"/>
          <p:nvPr/>
        </p:nvPicPr>
        <p:blipFill rotWithShape="1">
          <a:blip r:embed="rId6">
            <a:alphaModFix/>
          </a:blip>
          <a:srcRect/>
          <a:stretch/>
        </p:blipFill>
        <p:spPr>
          <a:xfrm>
            <a:off x="6847841" y="4396886"/>
            <a:ext cx="521710" cy="521710"/>
          </a:xfrm>
          <a:prstGeom prst="rect">
            <a:avLst/>
          </a:prstGeom>
          <a:noFill/>
          <a:ln>
            <a:noFill/>
          </a:ln>
        </p:spPr>
      </p:pic>
      <p:sp>
        <p:nvSpPr>
          <p:cNvPr id="268" name="Google Shape;268;p8"/>
          <p:cNvSpPr/>
          <p:nvPr/>
        </p:nvSpPr>
        <p:spPr>
          <a:xfrm>
            <a:off x="7662198" y="6177386"/>
            <a:ext cx="2203085" cy="293462"/>
          </a:xfrm>
          <a:prstGeom prst="rect">
            <a:avLst/>
          </a:prstGeom>
          <a:noFill/>
          <a:ln>
            <a:noFill/>
          </a:ln>
        </p:spPr>
        <p:txBody>
          <a:bodyPr spcFirstLastPara="1" wrap="square" lIns="0" tIns="0" rIns="0" bIns="0" anchor="t" anchorCtr="0">
            <a:noAutofit/>
          </a:bodyPr>
          <a:lstStyle/>
          <a:p>
            <a:pPr marL="0" marR="0" lvl="0" indent="0" algn="ctr" rtl="0">
              <a:lnSpc>
                <a:spcPct val="127777"/>
              </a:lnSpc>
              <a:spcBef>
                <a:spcPts val="0"/>
              </a:spcBef>
              <a:spcAft>
                <a:spcPts val="0"/>
              </a:spcAft>
              <a:buClr>
                <a:srgbClr val="C2C4B5"/>
              </a:buClr>
              <a:buSzPts val="1800"/>
              <a:buFont typeface="Outfit"/>
              <a:buNone/>
            </a:pPr>
            <a:r>
              <a:rPr lang="en-US" sz="1800" b="1">
                <a:solidFill>
                  <a:srgbClr val="C2C4B5"/>
                </a:solidFill>
                <a:latin typeface="Outfit"/>
                <a:ea typeface="Outfit"/>
                <a:cs typeface="Outfit"/>
                <a:sym typeface="Outfit"/>
              </a:rPr>
              <a:t>Node Selection</a:t>
            </a:r>
            <a:endParaRPr sz="1800">
              <a:solidFill>
                <a:schemeClr val="dk1"/>
              </a:solidFill>
              <a:latin typeface="Calibri"/>
              <a:ea typeface="Calibri"/>
              <a:cs typeface="Calibri"/>
              <a:sym typeface="Calibri"/>
            </a:endParaRPr>
          </a:p>
        </p:txBody>
      </p:sp>
      <p:pic>
        <p:nvPicPr>
          <p:cNvPr id="269" name="Google Shape;269;p8" descr="preencoded.png"/>
          <p:cNvPicPr preferRelativeResize="0"/>
          <p:nvPr/>
        </p:nvPicPr>
        <p:blipFill rotWithShape="1">
          <a:blip r:embed="rId7">
            <a:alphaModFix/>
          </a:blip>
          <a:srcRect/>
          <a:stretch/>
        </p:blipFill>
        <p:spPr>
          <a:xfrm>
            <a:off x="8496935" y="4714967"/>
            <a:ext cx="521710" cy="521710"/>
          </a:xfrm>
          <a:prstGeom prst="rect">
            <a:avLst/>
          </a:prstGeom>
          <a:noFill/>
          <a:ln>
            <a:noFill/>
          </a:ln>
        </p:spPr>
      </p:pic>
      <p:sp>
        <p:nvSpPr>
          <p:cNvPr id="270" name="Google Shape;270;p8"/>
          <p:cNvSpPr/>
          <p:nvPr/>
        </p:nvSpPr>
        <p:spPr>
          <a:xfrm>
            <a:off x="9617634" y="3481937"/>
            <a:ext cx="2203085" cy="586924"/>
          </a:xfrm>
          <a:prstGeom prst="rect">
            <a:avLst/>
          </a:prstGeom>
          <a:noFill/>
          <a:ln>
            <a:noFill/>
          </a:ln>
        </p:spPr>
        <p:txBody>
          <a:bodyPr spcFirstLastPara="1" wrap="square" lIns="0" tIns="0" rIns="0" bIns="0" anchor="t" anchorCtr="0">
            <a:noAutofit/>
          </a:bodyPr>
          <a:lstStyle/>
          <a:p>
            <a:pPr marL="0" marR="0" lvl="0" indent="0" algn="ctr" rtl="0">
              <a:lnSpc>
                <a:spcPct val="127777"/>
              </a:lnSpc>
              <a:spcBef>
                <a:spcPts val="0"/>
              </a:spcBef>
              <a:spcAft>
                <a:spcPts val="0"/>
              </a:spcAft>
              <a:buClr>
                <a:srgbClr val="C2C4B5"/>
              </a:buClr>
              <a:buSzPts val="1800"/>
              <a:buFont typeface="Outfit"/>
              <a:buNone/>
            </a:pPr>
            <a:r>
              <a:rPr lang="en-US" sz="1800" b="1">
                <a:solidFill>
                  <a:srgbClr val="C2C4B5"/>
                </a:solidFill>
                <a:latin typeface="Outfit"/>
                <a:ea typeface="Outfit"/>
                <a:cs typeface="Outfit"/>
                <a:sym typeface="Outfit"/>
              </a:rPr>
              <a:t>Placement / Pending</a:t>
            </a:r>
            <a:endParaRPr sz="1800">
              <a:solidFill>
                <a:schemeClr val="dk1"/>
              </a:solidFill>
              <a:latin typeface="Calibri"/>
              <a:ea typeface="Calibri"/>
              <a:cs typeface="Calibri"/>
              <a:sym typeface="Calibri"/>
            </a:endParaRPr>
          </a:p>
        </p:txBody>
      </p:sp>
      <p:pic>
        <p:nvPicPr>
          <p:cNvPr id="271" name="Google Shape;271;p8" descr="preencoded.png"/>
          <p:cNvPicPr preferRelativeResize="0"/>
          <p:nvPr/>
        </p:nvPicPr>
        <p:blipFill rotWithShape="1">
          <a:blip r:embed="rId8">
            <a:alphaModFix/>
          </a:blip>
          <a:srcRect/>
          <a:stretch/>
        </p:blipFill>
        <p:spPr>
          <a:xfrm>
            <a:off x="10252165" y="5056524"/>
            <a:ext cx="521710" cy="52171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p9" descr="preencoded.png"/>
          <p:cNvPicPr preferRelativeResize="0"/>
          <p:nvPr/>
        </p:nvPicPr>
        <p:blipFill rotWithShape="1">
          <a:blip r:embed="rId3">
            <a:alphaModFix/>
          </a:blip>
          <a:srcRect/>
          <a:stretch/>
        </p:blipFill>
        <p:spPr>
          <a:xfrm>
            <a:off x="8869680" y="0"/>
            <a:ext cx="5760720" cy="8229600"/>
          </a:xfrm>
          <a:prstGeom prst="rect">
            <a:avLst/>
          </a:prstGeom>
          <a:noFill/>
          <a:ln>
            <a:noFill/>
          </a:ln>
        </p:spPr>
      </p:pic>
      <p:sp>
        <p:nvSpPr>
          <p:cNvPr id="277" name="Google Shape;277;p9"/>
          <p:cNvSpPr/>
          <p:nvPr/>
        </p:nvSpPr>
        <p:spPr>
          <a:xfrm>
            <a:off x="793790" y="1190149"/>
            <a:ext cx="4961811"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E1E5CD"/>
              </a:buClr>
              <a:buSzPts val="3900"/>
              <a:buFont typeface="Outfit"/>
              <a:buNone/>
            </a:pPr>
            <a:r>
              <a:rPr lang="en-US" sz="3900" b="1">
                <a:solidFill>
                  <a:srgbClr val="E1E5CD"/>
                </a:solidFill>
                <a:latin typeface="Outfit"/>
                <a:ea typeface="Outfit"/>
                <a:cs typeface="Outfit"/>
                <a:sym typeface="Outfit"/>
              </a:rPr>
              <a:t>Pod Anti-Affinity</a:t>
            </a:r>
            <a:endParaRPr sz="3900">
              <a:solidFill>
                <a:schemeClr val="dk1"/>
              </a:solidFill>
              <a:latin typeface="Calibri"/>
              <a:ea typeface="Calibri"/>
              <a:cs typeface="Calibri"/>
              <a:sym typeface="Calibri"/>
            </a:endParaRPr>
          </a:p>
        </p:txBody>
      </p:sp>
      <p:sp>
        <p:nvSpPr>
          <p:cNvPr id="278" name="Google Shape;278;p9"/>
          <p:cNvSpPr/>
          <p:nvPr/>
        </p:nvSpPr>
        <p:spPr>
          <a:xfrm>
            <a:off x="793790" y="1889522"/>
            <a:ext cx="4926687" cy="372070"/>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E1E5CD"/>
              </a:buClr>
              <a:buSzPts val="2300"/>
              <a:buFont typeface="Outfit"/>
              <a:buNone/>
            </a:pPr>
            <a:r>
              <a:rPr lang="en-US" sz="2300" b="1">
                <a:solidFill>
                  <a:srgbClr val="E1E5CD"/>
                </a:solidFill>
                <a:latin typeface="Outfit"/>
                <a:ea typeface="Outfit"/>
                <a:cs typeface="Outfit"/>
                <a:sym typeface="Outfit"/>
              </a:rPr>
              <a:t>Understanding Pod Placement Rules</a:t>
            </a:r>
            <a:endParaRPr sz="2300">
              <a:solidFill>
                <a:schemeClr val="dk1"/>
              </a:solidFill>
              <a:latin typeface="Calibri"/>
              <a:ea typeface="Calibri"/>
              <a:cs typeface="Calibri"/>
              <a:sym typeface="Calibri"/>
            </a:endParaRPr>
          </a:p>
        </p:txBody>
      </p:sp>
      <p:sp>
        <p:nvSpPr>
          <p:cNvPr id="279" name="Google Shape;279;p9"/>
          <p:cNvSpPr/>
          <p:nvPr/>
        </p:nvSpPr>
        <p:spPr>
          <a:xfrm>
            <a:off x="793790" y="2559248"/>
            <a:ext cx="7556421"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b="1">
                <a:solidFill>
                  <a:srgbClr val="C2C4B5"/>
                </a:solidFill>
                <a:latin typeface="Bitter"/>
                <a:ea typeface="Bitter"/>
                <a:cs typeface="Bitter"/>
                <a:sym typeface="Bitter"/>
              </a:rPr>
              <a:t>Pod anti-affinity</a:t>
            </a:r>
            <a:r>
              <a:rPr lang="en-US" sz="1550">
                <a:solidFill>
                  <a:srgbClr val="C2C4B5"/>
                </a:solidFill>
                <a:latin typeface="Bitter"/>
                <a:ea typeface="Bitter"/>
                <a:cs typeface="Bitter"/>
                <a:sym typeface="Bitter"/>
              </a:rPr>
              <a:t> is a Kubernetes feature that dictates pods should </a:t>
            </a:r>
            <a:r>
              <a:rPr lang="en-US" sz="1550" i="1">
                <a:solidFill>
                  <a:srgbClr val="C2C4B5"/>
                </a:solidFill>
                <a:latin typeface="Bitter"/>
                <a:ea typeface="Bitter"/>
                <a:cs typeface="Bitter"/>
                <a:sym typeface="Bitter"/>
              </a:rPr>
              <a:t>avoid</a:t>
            </a:r>
            <a:r>
              <a:rPr lang="en-US" sz="1550">
                <a:solidFill>
                  <a:srgbClr val="C2C4B5"/>
                </a:solidFill>
                <a:latin typeface="Bitter"/>
                <a:ea typeface="Bitter"/>
                <a:cs typeface="Bitter"/>
                <a:sym typeface="Bitter"/>
              </a:rPr>
              <a:t> running on the same node or in the same availability zone as other specified pods. This ensures better distribution and resilience for your applications.</a:t>
            </a:r>
            <a:endParaRPr sz="1550">
              <a:solidFill>
                <a:schemeClr val="dk1"/>
              </a:solidFill>
              <a:latin typeface="Calibri"/>
              <a:ea typeface="Calibri"/>
              <a:cs typeface="Calibri"/>
              <a:sym typeface="Calibri"/>
            </a:endParaRPr>
          </a:p>
        </p:txBody>
      </p:sp>
      <p:sp>
        <p:nvSpPr>
          <p:cNvPr id="280" name="Google Shape;280;p9"/>
          <p:cNvSpPr/>
          <p:nvPr/>
        </p:nvSpPr>
        <p:spPr>
          <a:xfrm>
            <a:off x="793790" y="3735110"/>
            <a:ext cx="7556421"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a:solidFill>
                  <a:srgbClr val="C2C4B5"/>
                </a:solidFill>
                <a:latin typeface="Bitter"/>
                <a:ea typeface="Bitter"/>
                <a:cs typeface="Bitter"/>
                <a:sym typeface="Bitter"/>
              </a:rPr>
              <a:t>It's crucial for high availability and fault tolerance. By spreading replicas of an application across different nodes, the failure of a single node won't take down the entire service, enhancing reliability.</a:t>
            </a:r>
            <a:endParaRPr sz="1550">
              <a:solidFill>
                <a:schemeClr val="dk1"/>
              </a:solidFill>
              <a:latin typeface="Calibri"/>
              <a:ea typeface="Calibri"/>
              <a:cs typeface="Calibri"/>
              <a:sym typeface="Calibri"/>
            </a:endParaRPr>
          </a:p>
        </p:txBody>
      </p:sp>
      <p:sp>
        <p:nvSpPr>
          <p:cNvPr id="281" name="Google Shape;281;p9"/>
          <p:cNvSpPr/>
          <p:nvPr/>
        </p:nvSpPr>
        <p:spPr>
          <a:xfrm>
            <a:off x="793790" y="4910971"/>
            <a:ext cx="7556421"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a:solidFill>
                  <a:srgbClr val="C2C4B5"/>
                </a:solidFill>
                <a:latin typeface="Bitter"/>
                <a:ea typeface="Bitter"/>
                <a:cs typeface="Bitter"/>
                <a:sym typeface="Bitter"/>
              </a:rPr>
              <a:t>Unlike </a:t>
            </a:r>
            <a:r>
              <a:rPr lang="en-US" sz="1550" b="1">
                <a:solidFill>
                  <a:srgbClr val="C2C4B5"/>
                </a:solidFill>
                <a:latin typeface="Bitter"/>
                <a:ea typeface="Bitter"/>
                <a:cs typeface="Bitter"/>
                <a:sym typeface="Bitter"/>
              </a:rPr>
              <a:t>pod affinity</a:t>
            </a:r>
            <a:r>
              <a:rPr lang="en-US" sz="1550">
                <a:solidFill>
                  <a:srgbClr val="C2C4B5"/>
                </a:solidFill>
                <a:latin typeface="Bitter"/>
                <a:ea typeface="Bitter"/>
                <a:cs typeface="Bitter"/>
                <a:sym typeface="Bitter"/>
              </a:rPr>
              <a:t>, which </a:t>
            </a:r>
            <a:r>
              <a:rPr lang="en-US" sz="1550" i="1">
                <a:solidFill>
                  <a:srgbClr val="C2C4B5"/>
                </a:solidFill>
                <a:latin typeface="Bitter"/>
                <a:ea typeface="Bitter"/>
                <a:cs typeface="Bitter"/>
                <a:sym typeface="Bitter"/>
              </a:rPr>
              <a:t>attracts</a:t>
            </a:r>
            <a:r>
              <a:rPr lang="en-US" sz="1550">
                <a:solidFill>
                  <a:srgbClr val="C2C4B5"/>
                </a:solidFill>
                <a:latin typeface="Bitter"/>
                <a:ea typeface="Bitter"/>
                <a:cs typeface="Bitter"/>
                <a:sym typeface="Bitter"/>
              </a:rPr>
              <a:t> pods to specific nodes based on labels, anti-affinity actively </a:t>
            </a:r>
            <a:r>
              <a:rPr lang="en-US" sz="1550" i="1">
                <a:solidFill>
                  <a:srgbClr val="C2C4B5"/>
                </a:solidFill>
                <a:latin typeface="Bitter"/>
                <a:ea typeface="Bitter"/>
                <a:cs typeface="Bitter"/>
                <a:sym typeface="Bitter"/>
              </a:rPr>
              <a:t>repels</a:t>
            </a:r>
            <a:r>
              <a:rPr lang="en-US" sz="1550">
                <a:solidFill>
                  <a:srgbClr val="C2C4B5"/>
                </a:solidFill>
                <a:latin typeface="Bitter"/>
                <a:ea typeface="Bitter"/>
                <a:cs typeface="Bitter"/>
                <a:sym typeface="Bitter"/>
              </a:rPr>
              <a:t> them from co-locating with certain other pods, promoting isolation.</a:t>
            </a:r>
            <a:endParaRPr sz="1550">
              <a:solidFill>
                <a:schemeClr val="dk1"/>
              </a:solidFill>
              <a:latin typeface="Calibri"/>
              <a:ea typeface="Calibri"/>
              <a:cs typeface="Calibri"/>
              <a:sym typeface="Calibri"/>
            </a:endParaRPr>
          </a:p>
        </p:txBody>
      </p:sp>
      <p:sp>
        <p:nvSpPr>
          <p:cNvPr id="282" name="Google Shape;282;p9"/>
          <p:cNvSpPr/>
          <p:nvPr/>
        </p:nvSpPr>
        <p:spPr>
          <a:xfrm>
            <a:off x="793790" y="6086832"/>
            <a:ext cx="7556421" cy="95261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a:solidFill>
                  <a:srgbClr val="C2C4B5"/>
                </a:solidFill>
                <a:latin typeface="Bitter"/>
                <a:ea typeface="Bitter"/>
                <a:cs typeface="Bitter"/>
                <a:sym typeface="Bitter"/>
              </a:rPr>
              <a:t>Kubernetes supports two primary types: </a:t>
            </a:r>
            <a:r>
              <a:rPr lang="en-US" sz="1550" b="1">
                <a:solidFill>
                  <a:srgbClr val="C2C4B5"/>
                </a:solidFill>
                <a:latin typeface="Bitter"/>
                <a:ea typeface="Bitter"/>
                <a:cs typeface="Bitter"/>
                <a:sym typeface="Bitter"/>
              </a:rPr>
              <a:t>hard anti-affinity</a:t>
            </a:r>
            <a:r>
              <a:rPr lang="en-US" sz="1550">
                <a:solidFill>
                  <a:srgbClr val="C2C4B5"/>
                </a:solidFill>
                <a:latin typeface="Bitter"/>
                <a:ea typeface="Bitter"/>
                <a:cs typeface="Bitter"/>
                <a:sym typeface="Bitter"/>
              </a:rPr>
              <a:t> (a strict rule, preventing scheduling if violated) and </a:t>
            </a:r>
            <a:r>
              <a:rPr lang="en-US" sz="1550" b="1">
                <a:solidFill>
                  <a:srgbClr val="C2C4B5"/>
                </a:solidFill>
                <a:latin typeface="Bitter"/>
                <a:ea typeface="Bitter"/>
                <a:cs typeface="Bitter"/>
                <a:sym typeface="Bitter"/>
              </a:rPr>
              <a:t>soft anti-affinity</a:t>
            </a:r>
            <a:r>
              <a:rPr lang="en-US" sz="1550">
                <a:solidFill>
                  <a:srgbClr val="C2C4B5"/>
                </a:solidFill>
                <a:latin typeface="Bitter"/>
                <a:ea typeface="Bitter"/>
                <a:cs typeface="Bitter"/>
                <a:sym typeface="Bitter"/>
              </a:rPr>
              <a:t> (a preference, attempting to avoid co-location but allowing it if necessary).</a:t>
            </a:r>
            <a:endParaRPr sz="15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10" descr="preencoded.png"/>
          <p:cNvPicPr preferRelativeResize="0"/>
          <p:nvPr/>
        </p:nvPicPr>
        <p:blipFill rotWithShape="1">
          <a:blip r:embed="rId3">
            <a:alphaModFix/>
          </a:blip>
          <a:srcRect/>
          <a:stretch/>
        </p:blipFill>
        <p:spPr>
          <a:xfrm>
            <a:off x="8869680" y="0"/>
            <a:ext cx="5760720" cy="8229600"/>
          </a:xfrm>
          <a:prstGeom prst="rect">
            <a:avLst/>
          </a:prstGeom>
          <a:noFill/>
          <a:ln>
            <a:noFill/>
          </a:ln>
        </p:spPr>
      </p:pic>
      <p:sp>
        <p:nvSpPr>
          <p:cNvPr id="288" name="Google Shape;288;p10"/>
          <p:cNvSpPr/>
          <p:nvPr/>
        </p:nvSpPr>
        <p:spPr>
          <a:xfrm>
            <a:off x="793789" y="1265873"/>
            <a:ext cx="6168713"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E1E5CD"/>
              </a:buClr>
              <a:buSzPts val="3900"/>
              <a:buFont typeface="Outfit"/>
              <a:buNone/>
            </a:pPr>
            <a:r>
              <a:rPr lang="en-US" sz="3900" b="1" dirty="0">
                <a:solidFill>
                  <a:srgbClr val="E1E5CD"/>
                </a:solidFill>
                <a:latin typeface="Outfit"/>
                <a:ea typeface="Outfit"/>
                <a:cs typeface="Outfit"/>
                <a:sym typeface="Outfit"/>
              </a:rPr>
              <a:t>Soft Pod Anti-Affinity</a:t>
            </a:r>
            <a:endParaRPr sz="3900" dirty="0">
              <a:solidFill>
                <a:schemeClr val="dk1"/>
              </a:solidFill>
              <a:latin typeface="Calibri"/>
              <a:ea typeface="Calibri"/>
              <a:cs typeface="Calibri"/>
              <a:sym typeface="Calibri"/>
            </a:endParaRPr>
          </a:p>
        </p:txBody>
      </p:sp>
      <p:sp>
        <p:nvSpPr>
          <p:cNvPr id="289" name="Google Shape;289;p10"/>
          <p:cNvSpPr/>
          <p:nvPr/>
        </p:nvSpPr>
        <p:spPr>
          <a:xfrm>
            <a:off x="793790" y="2084308"/>
            <a:ext cx="5760720" cy="191095"/>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E1E5CD"/>
              </a:buClr>
              <a:buSzPts val="1950"/>
              <a:buFont typeface="Outfit"/>
              <a:buNone/>
            </a:pPr>
            <a:r>
              <a:rPr lang="en-US" sz="1950" b="1" dirty="0">
                <a:solidFill>
                  <a:srgbClr val="E1E5CD"/>
                </a:solidFill>
                <a:latin typeface="Outfit"/>
                <a:ea typeface="Outfit"/>
                <a:cs typeface="Outfit"/>
                <a:sym typeface="Outfit"/>
              </a:rPr>
              <a:t>Preferred Scheduling with Flexible Distribution</a:t>
            </a:r>
            <a:endParaRPr sz="1950" dirty="0">
              <a:solidFill>
                <a:schemeClr val="dk1"/>
              </a:solidFill>
              <a:latin typeface="Calibri"/>
              <a:ea typeface="Calibri"/>
              <a:cs typeface="Calibri"/>
              <a:sym typeface="Calibri"/>
            </a:endParaRPr>
          </a:p>
        </p:txBody>
      </p:sp>
      <p:sp>
        <p:nvSpPr>
          <p:cNvPr id="290" name="Google Shape;290;p10"/>
          <p:cNvSpPr/>
          <p:nvPr/>
        </p:nvSpPr>
        <p:spPr>
          <a:xfrm>
            <a:off x="793790" y="2573060"/>
            <a:ext cx="3679031" cy="2731175"/>
          </a:xfrm>
          <a:prstGeom prst="roundRect">
            <a:avLst>
              <a:gd name="adj" fmla="val 1090"/>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0"/>
          <p:cNvSpPr/>
          <p:nvPr/>
        </p:nvSpPr>
        <p:spPr>
          <a:xfrm>
            <a:off x="992148" y="2771418"/>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C2C4B5"/>
              </a:buClr>
              <a:buSzPts val="1950"/>
              <a:buFont typeface="Outfit"/>
              <a:buNone/>
            </a:pPr>
            <a:r>
              <a:rPr lang="en-US" sz="1950" b="1">
                <a:solidFill>
                  <a:srgbClr val="C2C4B5"/>
                </a:solidFill>
                <a:latin typeface="Outfit"/>
                <a:ea typeface="Outfit"/>
                <a:cs typeface="Outfit"/>
                <a:sym typeface="Outfit"/>
              </a:rPr>
              <a:t>Flexible Rule</a:t>
            </a:r>
            <a:endParaRPr sz="1950">
              <a:solidFill>
                <a:schemeClr val="dk1"/>
              </a:solidFill>
              <a:latin typeface="Calibri"/>
              <a:ea typeface="Calibri"/>
              <a:cs typeface="Calibri"/>
              <a:sym typeface="Calibri"/>
            </a:endParaRPr>
          </a:p>
        </p:txBody>
      </p:sp>
      <p:sp>
        <p:nvSpPr>
          <p:cNvPr id="292" name="Google Shape;292;p10"/>
          <p:cNvSpPr/>
          <p:nvPr/>
        </p:nvSpPr>
        <p:spPr>
          <a:xfrm>
            <a:off x="992148" y="3200638"/>
            <a:ext cx="3282315" cy="1905238"/>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a:solidFill>
                  <a:srgbClr val="C2C4B5"/>
                </a:solidFill>
                <a:latin typeface="Bitter"/>
                <a:ea typeface="Bitter"/>
                <a:cs typeface="Bitter"/>
                <a:sym typeface="Bitter"/>
              </a:rPr>
              <a:t>The scheduler attempts to spread similar pods across different nodes, but it's not mandatory. This provides balanced distribution while maintaining scheduling flexibility.</a:t>
            </a:r>
            <a:endParaRPr sz="1550">
              <a:solidFill>
                <a:schemeClr val="dk1"/>
              </a:solidFill>
              <a:latin typeface="Calibri"/>
              <a:ea typeface="Calibri"/>
              <a:cs typeface="Calibri"/>
              <a:sym typeface="Calibri"/>
            </a:endParaRPr>
          </a:p>
        </p:txBody>
      </p:sp>
      <p:sp>
        <p:nvSpPr>
          <p:cNvPr id="293" name="Google Shape;293;p10"/>
          <p:cNvSpPr/>
          <p:nvPr/>
        </p:nvSpPr>
        <p:spPr>
          <a:xfrm>
            <a:off x="4671179" y="2573060"/>
            <a:ext cx="3679031" cy="2731175"/>
          </a:xfrm>
          <a:prstGeom prst="roundRect">
            <a:avLst>
              <a:gd name="adj" fmla="val 1090"/>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0"/>
          <p:cNvSpPr/>
          <p:nvPr/>
        </p:nvSpPr>
        <p:spPr>
          <a:xfrm>
            <a:off x="4869537" y="2771418"/>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C2C4B5"/>
              </a:buClr>
              <a:buSzPts val="1950"/>
              <a:buFont typeface="Outfit"/>
              <a:buNone/>
            </a:pPr>
            <a:r>
              <a:rPr lang="en-US" sz="1950" b="1">
                <a:solidFill>
                  <a:srgbClr val="C2C4B5"/>
                </a:solidFill>
                <a:latin typeface="Outfit"/>
                <a:ea typeface="Outfit"/>
                <a:cs typeface="Outfit"/>
                <a:sym typeface="Outfit"/>
              </a:rPr>
              <a:t>Fallback Behavior</a:t>
            </a:r>
            <a:endParaRPr sz="1950">
              <a:solidFill>
                <a:schemeClr val="dk1"/>
              </a:solidFill>
              <a:latin typeface="Calibri"/>
              <a:ea typeface="Calibri"/>
              <a:cs typeface="Calibri"/>
              <a:sym typeface="Calibri"/>
            </a:endParaRPr>
          </a:p>
        </p:txBody>
      </p:sp>
      <p:sp>
        <p:nvSpPr>
          <p:cNvPr id="295" name="Google Shape;295;p10"/>
          <p:cNvSpPr/>
          <p:nvPr/>
        </p:nvSpPr>
        <p:spPr>
          <a:xfrm>
            <a:off x="4869537" y="3200638"/>
            <a:ext cx="3282315" cy="1587698"/>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a:solidFill>
                  <a:srgbClr val="C2C4B5"/>
                </a:solidFill>
                <a:latin typeface="Bitter"/>
                <a:ea typeface="Bitter"/>
                <a:cs typeface="Bitter"/>
                <a:sym typeface="Bitter"/>
              </a:rPr>
              <a:t>If no better option exists due to resource constraints or other limitations, pods can still be placed on the same node, ensuring workloads can run.</a:t>
            </a:r>
            <a:endParaRPr sz="1550">
              <a:solidFill>
                <a:schemeClr val="dk1"/>
              </a:solidFill>
              <a:latin typeface="Calibri"/>
              <a:ea typeface="Calibri"/>
              <a:cs typeface="Calibri"/>
              <a:sym typeface="Calibri"/>
            </a:endParaRPr>
          </a:p>
        </p:txBody>
      </p:sp>
      <p:sp>
        <p:nvSpPr>
          <p:cNvPr id="296" name="Google Shape;296;p10"/>
          <p:cNvSpPr/>
          <p:nvPr/>
        </p:nvSpPr>
        <p:spPr>
          <a:xfrm>
            <a:off x="793790" y="5502593"/>
            <a:ext cx="7556421" cy="1461016"/>
          </a:xfrm>
          <a:prstGeom prst="roundRect">
            <a:avLst>
              <a:gd name="adj" fmla="val 2038"/>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0"/>
          <p:cNvSpPr/>
          <p:nvPr/>
        </p:nvSpPr>
        <p:spPr>
          <a:xfrm>
            <a:off x="992148" y="5700951"/>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C2C4B5"/>
              </a:buClr>
              <a:buSzPts val="1950"/>
              <a:buFont typeface="Outfit"/>
              <a:buNone/>
            </a:pPr>
            <a:r>
              <a:rPr lang="en-US" sz="1950" b="1">
                <a:solidFill>
                  <a:srgbClr val="C2C4B5"/>
                </a:solidFill>
                <a:latin typeface="Outfit"/>
                <a:ea typeface="Outfit"/>
                <a:cs typeface="Outfit"/>
                <a:sym typeface="Outfit"/>
              </a:rPr>
              <a:t>Improved Availability</a:t>
            </a:r>
            <a:endParaRPr sz="1950">
              <a:solidFill>
                <a:schemeClr val="dk1"/>
              </a:solidFill>
              <a:latin typeface="Calibri"/>
              <a:ea typeface="Calibri"/>
              <a:cs typeface="Calibri"/>
              <a:sym typeface="Calibri"/>
            </a:endParaRPr>
          </a:p>
        </p:txBody>
      </p:sp>
      <p:sp>
        <p:nvSpPr>
          <p:cNvPr id="298" name="Google Shape;298;p10"/>
          <p:cNvSpPr/>
          <p:nvPr/>
        </p:nvSpPr>
        <p:spPr>
          <a:xfrm>
            <a:off x="992148" y="6130171"/>
            <a:ext cx="7159704"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a:solidFill>
                  <a:srgbClr val="C2C4B5"/>
                </a:solidFill>
                <a:latin typeface="Bitter"/>
                <a:ea typeface="Bitter"/>
                <a:cs typeface="Bitter"/>
                <a:sym typeface="Bitter"/>
              </a:rPr>
              <a:t>Helps improve availability and load distribution by reducing the risk of single-node failures affecting multiple similar pods simultaneously.</a:t>
            </a:r>
            <a:endParaRPr sz="15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1"/>
          <p:cNvSpPr/>
          <p:nvPr/>
        </p:nvSpPr>
        <p:spPr>
          <a:xfrm>
            <a:off x="793789" y="631031"/>
            <a:ext cx="5659261" cy="620078"/>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E1E5CD"/>
              </a:buClr>
              <a:buSzPts val="3900"/>
              <a:buFont typeface="Outfit"/>
              <a:buNone/>
            </a:pPr>
            <a:r>
              <a:rPr lang="en-US" sz="3900" b="1" dirty="0">
                <a:solidFill>
                  <a:srgbClr val="E1E5CD"/>
                </a:solidFill>
                <a:latin typeface="Outfit"/>
                <a:ea typeface="Outfit"/>
                <a:cs typeface="Outfit"/>
                <a:sym typeface="Outfit"/>
              </a:rPr>
              <a:t>Hard Pod Anti-Affinity</a:t>
            </a:r>
            <a:endParaRPr sz="3900" dirty="0">
              <a:solidFill>
                <a:schemeClr val="dk1"/>
              </a:solidFill>
              <a:latin typeface="Calibri"/>
              <a:ea typeface="Calibri"/>
              <a:cs typeface="Calibri"/>
              <a:sym typeface="Calibri"/>
            </a:endParaRPr>
          </a:p>
        </p:txBody>
      </p:sp>
      <p:sp>
        <p:nvSpPr>
          <p:cNvPr id="304" name="Google Shape;304;p11"/>
          <p:cNvSpPr/>
          <p:nvPr/>
        </p:nvSpPr>
        <p:spPr>
          <a:xfrm>
            <a:off x="793790" y="1330404"/>
            <a:ext cx="5659260" cy="253127"/>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E1E5CD"/>
              </a:buClr>
              <a:buSzPts val="1950"/>
              <a:buFont typeface="Outfit"/>
              <a:buNone/>
            </a:pPr>
            <a:r>
              <a:rPr lang="en-US" sz="1950" b="1" dirty="0">
                <a:solidFill>
                  <a:srgbClr val="E1E5CD"/>
                </a:solidFill>
                <a:latin typeface="Outfit"/>
                <a:ea typeface="Outfit"/>
                <a:cs typeface="Outfit"/>
                <a:sym typeface="Outfit"/>
              </a:rPr>
              <a:t>Strict Scheduling with Guaranteed Isolation</a:t>
            </a:r>
            <a:endParaRPr sz="1950" dirty="0">
              <a:solidFill>
                <a:schemeClr val="dk1"/>
              </a:solidFill>
              <a:latin typeface="Calibri"/>
              <a:ea typeface="Calibri"/>
              <a:cs typeface="Calibri"/>
              <a:sym typeface="Calibri"/>
            </a:endParaRPr>
          </a:p>
        </p:txBody>
      </p:sp>
      <p:sp>
        <p:nvSpPr>
          <p:cNvPr id="305" name="Google Shape;305;p11"/>
          <p:cNvSpPr/>
          <p:nvPr/>
        </p:nvSpPr>
        <p:spPr>
          <a:xfrm>
            <a:off x="793790" y="1938218"/>
            <a:ext cx="3679031" cy="3207306"/>
          </a:xfrm>
          <a:prstGeom prst="roundRect">
            <a:avLst>
              <a:gd name="adj" fmla="val 928"/>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p:nvPr/>
        </p:nvSpPr>
        <p:spPr>
          <a:xfrm>
            <a:off x="992148" y="2136577"/>
            <a:ext cx="595313" cy="595313"/>
          </a:xfrm>
          <a:prstGeom prst="roundRect">
            <a:avLst>
              <a:gd name="adj" fmla="val 15358451"/>
            </a:avLst>
          </a:prstGeom>
          <a:solidFill>
            <a:srgbClr val="9F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 name="Google Shape;307;p11" descr="preencoded.png"/>
          <p:cNvPicPr preferRelativeResize="0"/>
          <p:nvPr/>
        </p:nvPicPr>
        <p:blipFill rotWithShape="1">
          <a:blip r:embed="rId3">
            <a:alphaModFix/>
          </a:blip>
          <a:srcRect/>
          <a:stretch/>
        </p:blipFill>
        <p:spPr>
          <a:xfrm>
            <a:off x="1155859" y="2300168"/>
            <a:ext cx="267891" cy="267891"/>
          </a:xfrm>
          <a:prstGeom prst="rect">
            <a:avLst/>
          </a:prstGeom>
          <a:noFill/>
          <a:ln>
            <a:noFill/>
          </a:ln>
        </p:spPr>
      </p:pic>
      <p:sp>
        <p:nvSpPr>
          <p:cNvPr id="308" name="Google Shape;308;p11"/>
          <p:cNvSpPr/>
          <p:nvPr/>
        </p:nvSpPr>
        <p:spPr>
          <a:xfrm>
            <a:off x="992148" y="2930247"/>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C2C4B5"/>
              </a:buClr>
              <a:buSzPts val="1950"/>
              <a:buFont typeface="Outfit"/>
              <a:buNone/>
            </a:pPr>
            <a:r>
              <a:rPr lang="en-US" sz="1950" b="1">
                <a:solidFill>
                  <a:srgbClr val="C2C4B5"/>
                </a:solidFill>
                <a:latin typeface="Outfit"/>
                <a:ea typeface="Outfit"/>
                <a:cs typeface="Outfit"/>
                <a:sym typeface="Outfit"/>
              </a:rPr>
              <a:t>Strict Enforcement</a:t>
            </a:r>
            <a:endParaRPr sz="1950">
              <a:solidFill>
                <a:schemeClr val="dk1"/>
              </a:solidFill>
              <a:latin typeface="Calibri"/>
              <a:ea typeface="Calibri"/>
              <a:cs typeface="Calibri"/>
              <a:sym typeface="Calibri"/>
            </a:endParaRPr>
          </a:p>
        </p:txBody>
      </p:sp>
      <p:sp>
        <p:nvSpPr>
          <p:cNvPr id="309" name="Google Shape;309;p11"/>
          <p:cNvSpPr/>
          <p:nvPr/>
        </p:nvSpPr>
        <p:spPr>
          <a:xfrm>
            <a:off x="992148" y="3359468"/>
            <a:ext cx="3282315" cy="1587698"/>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a:solidFill>
                  <a:srgbClr val="C2C4B5"/>
                </a:solidFill>
                <a:latin typeface="Bitter"/>
                <a:ea typeface="Bitter"/>
                <a:cs typeface="Bitter"/>
                <a:sym typeface="Bitter"/>
              </a:rPr>
              <a:t>The scheduler strictly enforces separation of similar pods, ensuring they cannot be placed on the same node under any condition.</a:t>
            </a:r>
            <a:endParaRPr sz="1550">
              <a:solidFill>
                <a:schemeClr val="dk1"/>
              </a:solidFill>
              <a:latin typeface="Calibri"/>
              <a:ea typeface="Calibri"/>
              <a:cs typeface="Calibri"/>
              <a:sym typeface="Calibri"/>
            </a:endParaRPr>
          </a:p>
        </p:txBody>
      </p:sp>
      <p:sp>
        <p:nvSpPr>
          <p:cNvPr id="310" name="Google Shape;310;p11"/>
          <p:cNvSpPr/>
          <p:nvPr/>
        </p:nvSpPr>
        <p:spPr>
          <a:xfrm>
            <a:off x="4671179" y="1938218"/>
            <a:ext cx="3679031" cy="3207306"/>
          </a:xfrm>
          <a:prstGeom prst="roundRect">
            <a:avLst>
              <a:gd name="adj" fmla="val 928"/>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1"/>
          <p:cNvSpPr/>
          <p:nvPr/>
        </p:nvSpPr>
        <p:spPr>
          <a:xfrm>
            <a:off x="4869537" y="2136577"/>
            <a:ext cx="595313" cy="595313"/>
          </a:xfrm>
          <a:prstGeom prst="roundRect">
            <a:avLst>
              <a:gd name="adj" fmla="val 15358451"/>
            </a:avLst>
          </a:prstGeom>
          <a:solidFill>
            <a:srgbClr val="9F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2" name="Google Shape;312;p11" descr="preencoded.png"/>
          <p:cNvPicPr preferRelativeResize="0"/>
          <p:nvPr/>
        </p:nvPicPr>
        <p:blipFill rotWithShape="1">
          <a:blip r:embed="rId4">
            <a:alphaModFix/>
          </a:blip>
          <a:srcRect/>
          <a:stretch/>
        </p:blipFill>
        <p:spPr>
          <a:xfrm>
            <a:off x="5033248" y="2300168"/>
            <a:ext cx="267891" cy="267891"/>
          </a:xfrm>
          <a:prstGeom prst="rect">
            <a:avLst/>
          </a:prstGeom>
          <a:noFill/>
          <a:ln>
            <a:noFill/>
          </a:ln>
        </p:spPr>
      </p:pic>
      <p:sp>
        <p:nvSpPr>
          <p:cNvPr id="313" name="Google Shape;313;p11"/>
          <p:cNvSpPr/>
          <p:nvPr/>
        </p:nvSpPr>
        <p:spPr>
          <a:xfrm>
            <a:off x="4869537" y="2930247"/>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C2C4B5"/>
              </a:buClr>
              <a:buSzPts val="1950"/>
              <a:buFont typeface="Outfit"/>
              <a:buNone/>
            </a:pPr>
            <a:r>
              <a:rPr lang="en-US" sz="1950" b="1">
                <a:solidFill>
                  <a:srgbClr val="C2C4B5"/>
                </a:solidFill>
                <a:latin typeface="Outfit"/>
                <a:ea typeface="Outfit"/>
                <a:cs typeface="Outfit"/>
                <a:sym typeface="Outfit"/>
              </a:rPr>
              <a:t>Fault Tolerance</a:t>
            </a:r>
            <a:endParaRPr sz="1950">
              <a:solidFill>
                <a:schemeClr val="dk1"/>
              </a:solidFill>
              <a:latin typeface="Calibri"/>
              <a:ea typeface="Calibri"/>
              <a:cs typeface="Calibri"/>
              <a:sym typeface="Calibri"/>
            </a:endParaRPr>
          </a:p>
        </p:txBody>
      </p:sp>
      <p:sp>
        <p:nvSpPr>
          <p:cNvPr id="314" name="Google Shape;314;p11"/>
          <p:cNvSpPr/>
          <p:nvPr/>
        </p:nvSpPr>
        <p:spPr>
          <a:xfrm>
            <a:off x="4869537" y="3359468"/>
            <a:ext cx="3282315" cy="1587698"/>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a:solidFill>
                  <a:srgbClr val="C2C4B5"/>
                </a:solidFill>
                <a:latin typeface="Bitter"/>
                <a:ea typeface="Bitter"/>
                <a:cs typeface="Bitter"/>
                <a:sym typeface="Bitter"/>
              </a:rPr>
              <a:t>Ensures high fault tolerance and isolation by preventing single points of failure from affecting multiple instances of the same application.</a:t>
            </a:r>
            <a:endParaRPr sz="1550">
              <a:solidFill>
                <a:schemeClr val="dk1"/>
              </a:solidFill>
              <a:latin typeface="Calibri"/>
              <a:ea typeface="Calibri"/>
              <a:cs typeface="Calibri"/>
              <a:sym typeface="Calibri"/>
            </a:endParaRPr>
          </a:p>
        </p:txBody>
      </p:sp>
      <p:sp>
        <p:nvSpPr>
          <p:cNvPr id="315" name="Google Shape;315;p11"/>
          <p:cNvSpPr/>
          <p:nvPr/>
        </p:nvSpPr>
        <p:spPr>
          <a:xfrm>
            <a:off x="793790" y="5343882"/>
            <a:ext cx="7556421" cy="2254687"/>
          </a:xfrm>
          <a:prstGeom prst="roundRect">
            <a:avLst>
              <a:gd name="adj" fmla="val 1320"/>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1"/>
          <p:cNvSpPr/>
          <p:nvPr/>
        </p:nvSpPr>
        <p:spPr>
          <a:xfrm>
            <a:off x="992148" y="5542240"/>
            <a:ext cx="595313" cy="595313"/>
          </a:xfrm>
          <a:prstGeom prst="roundRect">
            <a:avLst>
              <a:gd name="adj" fmla="val 15358451"/>
            </a:avLst>
          </a:prstGeom>
          <a:solidFill>
            <a:srgbClr val="9FA5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7" name="Google Shape;317;p11" descr="preencoded.png"/>
          <p:cNvPicPr preferRelativeResize="0"/>
          <p:nvPr/>
        </p:nvPicPr>
        <p:blipFill rotWithShape="1">
          <a:blip r:embed="rId5">
            <a:alphaModFix/>
          </a:blip>
          <a:srcRect/>
          <a:stretch/>
        </p:blipFill>
        <p:spPr>
          <a:xfrm>
            <a:off x="1155859" y="5705832"/>
            <a:ext cx="267891" cy="267891"/>
          </a:xfrm>
          <a:prstGeom prst="rect">
            <a:avLst/>
          </a:prstGeom>
          <a:noFill/>
          <a:ln>
            <a:noFill/>
          </a:ln>
        </p:spPr>
      </p:pic>
      <p:sp>
        <p:nvSpPr>
          <p:cNvPr id="318" name="Google Shape;318;p11"/>
          <p:cNvSpPr/>
          <p:nvPr/>
        </p:nvSpPr>
        <p:spPr>
          <a:xfrm>
            <a:off x="992148" y="6335911"/>
            <a:ext cx="2480905" cy="310158"/>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C2C4B5"/>
              </a:buClr>
              <a:buSzPts val="1950"/>
              <a:buFont typeface="Outfit"/>
              <a:buNone/>
            </a:pPr>
            <a:r>
              <a:rPr lang="en-US" sz="1950" b="1">
                <a:solidFill>
                  <a:srgbClr val="C2C4B5"/>
                </a:solidFill>
                <a:latin typeface="Outfit"/>
                <a:ea typeface="Outfit"/>
                <a:cs typeface="Outfit"/>
                <a:sym typeface="Outfit"/>
              </a:rPr>
              <a:t>Scheduling Impact</a:t>
            </a:r>
            <a:endParaRPr sz="1950">
              <a:solidFill>
                <a:schemeClr val="dk1"/>
              </a:solidFill>
              <a:latin typeface="Calibri"/>
              <a:ea typeface="Calibri"/>
              <a:cs typeface="Calibri"/>
              <a:sym typeface="Calibri"/>
            </a:endParaRPr>
          </a:p>
        </p:txBody>
      </p:sp>
      <p:sp>
        <p:nvSpPr>
          <p:cNvPr id="319" name="Google Shape;319;p11"/>
          <p:cNvSpPr/>
          <p:nvPr/>
        </p:nvSpPr>
        <p:spPr>
          <a:xfrm>
            <a:off x="992148" y="6765131"/>
            <a:ext cx="7159704" cy="635079"/>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C2C4B5"/>
              </a:buClr>
              <a:buSzPts val="1550"/>
              <a:buFont typeface="Bitter"/>
              <a:buNone/>
            </a:pPr>
            <a:r>
              <a:rPr lang="en-US" sz="1550">
                <a:solidFill>
                  <a:srgbClr val="C2C4B5"/>
                </a:solidFill>
                <a:latin typeface="Bitter"/>
                <a:ea typeface="Bitter"/>
                <a:cs typeface="Bitter"/>
                <a:sym typeface="Bitter"/>
              </a:rPr>
              <a:t>Less flexibility in scheduling which may lead to pending pods if suitable nodes aren't available, requiring careful cluster planning.</a:t>
            </a:r>
            <a:endParaRPr sz="1550">
              <a:solidFill>
                <a:schemeClr val="dk1"/>
              </a:solidFill>
              <a:latin typeface="Calibri"/>
              <a:ea typeface="Calibri"/>
              <a:cs typeface="Calibri"/>
              <a:sym typeface="Calibri"/>
            </a:endParaRPr>
          </a:p>
        </p:txBody>
      </p:sp>
      <p:pic>
        <p:nvPicPr>
          <p:cNvPr id="320" name="Google Shape;320;p11"/>
          <p:cNvPicPr preferRelativeResize="0"/>
          <p:nvPr/>
        </p:nvPicPr>
        <p:blipFill rotWithShape="1">
          <a:blip r:embed="rId6">
            <a:alphaModFix/>
          </a:blip>
          <a:srcRect l="31958" t="10795" r="33225" b="2906"/>
          <a:stretch/>
        </p:blipFill>
        <p:spPr>
          <a:xfrm>
            <a:off x="8901948" y="496533"/>
            <a:ext cx="5089048" cy="710203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13"/>
          <p:cNvSpPr/>
          <p:nvPr/>
        </p:nvSpPr>
        <p:spPr>
          <a:xfrm>
            <a:off x="775216" y="586264"/>
            <a:ext cx="5272887" cy="431363"/>
          </a:xfrm>
          <a:prstGeom prst="rect">
            <a:avLst/>
          </a:prstGeom>
          <a:noFill/>
          <a:ln>
            <a:noFill/>
          </a:ln>
        </p:spPr>
        <p:txBody>
          <a:bodyPr spcFirstLastPara="1" wrap="square" lIns="0" tIns="0" rIns="0" bIns="0" anchor="t" anchorCtr="0">
            <a:noAutofit/>
          </a:bodyPr>
          <a:lstStyle/>
          <a:p>
            <a:pPr marL="0" marR="0" lvl="0" indent="0" algn="l" rtl="0">
              <a:lnSpc>
                <a:spcPct val="124590"/>
              </a:lnSpc>
              <a:spcBef>
                <a:spcPts val="0"/>
              </a:spcBef>
              <a:spcAft>
                <a:spcPts val="0"/>
              </a:spcAft>
              <a:buClr>
                <a:srgbClr val="E1E5CD"/>
              </a:buClr>
              <a:buSzPts val="3050"/>
              <a:buFont typeface="Outfit"/>
              <a:buNone/>
            </a:pPr>
            <a:r>
              <a:rPr lang="en-US" sz="3050" b="1" dirty="0">
                <a:solidFill>
                  <a:srgbClr val="E1E5CD"/>
                </a:solidFill>
                <a:latin typeface="Outfit"/>
                <a:ea typeface="Outfit"/>
                <a:cs typeface="Outfit"/>
                <a:sym typeface="Outfit"/>
              </a:rPr>
              <a:t>Summary &amp; Key Takeaways</a:t>
            </a:r>
            <a:endParaRPr sz="3050" dirty="0">
              <a:solidFill>
                <a:schemeClr val="dk1"/>
              </a:solidFill>
              <a:latin typeface="Calibri"/>
              <a:ea typeface="Calibri"/>
              <a:cs typeface="Calibri"/>
              <a:sym typeface="Calibri"/>
            </a:endParaRPr>
          </a:p>
        </p:txBody>
      </p:sp>
      <p:sp>
        <p:nvSpPr>
          <p:cNvPr id="327" name="Google Shape;327;p13"/>
          <p:cNvSpPr/>
          <p:nvPr/>
        </p:nvSpPr>
        <p:spPr>
          <a:xfrm>
            <a:off x="775216" y="1313021"/>
            <a:ext cx="348853" cy="348853"/>
          </a:xfrm>
          <a:prstGeom prst="roundRect">
            <a:avLst>
              <a:gd name="adj" fmla="val 6667"/>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3"/>
          <p:cNvSpPr/>
          <p:nvPr/>
        </p:nvSpPr>
        <p:spPr>
          <a:xfrm>
            <a:off x="1245156" y="1366242"/>
            <a:ext cx="3254812" cy="242292"/>
          </a:xfrm>
          <a:prstGeom prst="rect">
            <a:avLst/>
          </a:prstGeom>
          <a:noFill/>
          <a:ln>
            <a:noFill/>
          </a:ln>
        </p:spPr>
        <p:txBody>
          <a:bodyPr spcFirstLastPara="1" wrap="square" lIns="0" tIns="0" rIns="0" bIns="0" anchor="t" anchorCtr="0">
            <a:noAutofit/>
          </a:bodyPr>
          <a:lstStyle/>
          <a:p>
            <a:pPr marL="0" marR="0" lvl="0" indent="0" algn="l" rtl="0">
              <a:lnSpc>
                <a:spcPct val="126666"/>
              </a:lnSpc>
              <a:spcBef>
                <a:spcPts val="0"/>
              </a:spcBef>
              <a:spcAft>
                <a:spcPts val="0"/>
              </a:spcAft>
              <a:buClr>
                <a:srgbClr val="C2C4B5"/>
              </a:buClr>
              <a:buSzPts val="1500"/>
              <a:buFont typeface="Outfit"/>
              <a:buNone/>
            </a:pPr>
            <a:r>
              <a:rPr lang="en-US" sz="1500" b="1">
                <a:solidFill>
                  <a:srgbClr val="C2C4B5"/>
                </a:solidFill>
                <a:latin typeface="Outfit"/>
                <a:ea typeface="Outfit"/>
                <a:cs typeface="Outfit"/>
                <a:sym typeface="Outfit"/>
              </a:rPr>
              <a:t>Node Affinity Replaces nodeSelector</a:t>
            </a:r>
            <a:endParaRPr sz="1500">
              <a:solidFill>
                <a:schemeClr val="dk1"/>
              </a:solidFill>
              <a:latin typeface="Calibri"/>
              <a:ea typeface="Calibri"/>
              <a:cs typeface="Calibri"/>
              <a:sym typeface="Calibri"/>
            </a:endParaRPr>
          </a:p>
        </p:txBody>
      </p:sp>
      <p:sp>
        <p:nvSpPr>
          <p:cNvPr id="329" name="Google Shape;329;p13"/>
          <p:cNvSpPr/>
          <p:nvPr/>
        </p:nvSpPr>
        <p:spPr>
          <a:xfrm>
            <a:off x="1245156" y="1681163"/>
            <a:ext cx="12610028" cy="220861"/>
          </a:xfrm>
          <a:prstGeom prst="rect">
            <a:avLst/>
          </a:prstGeom>
          <a:noFill/>
          <a:ln>
            <a:noFill/>
          </a:ln>
        </p:spPr>
        <p:txBody>
          <a:bodyPr spcFirstLastPara="1" wrap="square" lIns="0" tIns="0" rIns="0" bIns="0" anchor="t" anchorCtr="0">
            <a:noAutofit/>
          </a:bodyPr>
          <a:lstStyle/>
          <a:p>
            <a:pPr marL="0" marR="0" lvl="0" indent="0" algn="l" rtl="0">
              <a:lnSpc>
                <a:spcPct val="141666"/>
              </a:lnSpc>
              <a:spcBef>
                <a:spcPts val="0"/>
              </a:spcBef>
              <a:spcAft>
                <a:spcPts val="0"/>
              </a:spcAft>
              <a:buClr>
                <a:srgbClr val="C2C4B5"/>
              </a:buClr>
              <a:buSzPts val="1200"/>
              <a:buFont typeface="Bitter"/>
              <a:buNone/>
            </a:pPr>
            <a:r>
              <a:rPr lang="en-US" sz="1200">
                <a:solidFill>
                  <a:srgbClr val="C2C4B5"/>
                </a:solidFill>
                <a:latin typeface="Bitter"/>
                <a:ea typeface="Bitter"/>
                <a:cs typeface="Bitter"/>
                <a:sym typeface="Bitter"/>
              </a:rPr>
              <a:t>Provides flexible, powerful scheduling constraints with both hard requirements and soft preferences</a:t>
            </a:r>
            <a:endParaRPr sz="1200">
              <a:solidFill>
                <a:schemeClr val="dk1"/>
              </a:solidFill>
              <a:latin typeface="Calibri"/>
              <a:ea typeface="Calibri"/>
              <a:cs typeface="Calibri"/>
              <a:sym typeface="Calibri"/>
            </a:endParaRPr>
          </a:p>
        </p:txBody>
      </p:sp>
      <p:sp>
        <p:nvSpPr>
          <p:cNvPr id="330" name="Google Shape;330;p13"/>
          <p:cNvSpPr/>
          <p:nvPr/>
        </p:nvSpPr>
        <p:spPr>
          <a:xfrm>
            <a:off x="775216" y="2144197"/>
            <a:ext cx="348853" cy="348853"/>
          </a:xfrm>
          <a:prstGeom prst="roundRect">
            <a:avLst>
              <a:gd name="adj" fmla="val 6667"/>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3"/>
          <p:cNvSpPr/>
          <p:nvPr/>
        </p:nvSpPr>
        <p:spPr>
          <a:xfrm>
            <a:off x="1245156" y="2197418"/>
            <a:ext cx="1937980" cy="242292"/>
          </a:xfrm>
          <a:prstGeom prst="rect">
            <a:avLst/>
          </a:prstGeom>
          <a:noFill/>
          <a:ln>
            <a:noFill/>
          </a:ln>
        </p:spPr>
        <p:txBody>
          <a:bodyPr spcFirstLastPara="1" wrap="square" lIns="0" tIns="0" rIns="0" bIns="0" anchor="t" anchorCtr="0">
            <a:noAutofit/>
          </a:bodyPr>
          <a:lstStyle/>
          <a:p>
            <a:pPr marL="0" marR="0" lvl="0" indent="0" algn="l" rtl="0">
              <a:lnSpc>
                <a:spcPct val="126666"/>
              </a:lnSpc>
              <a:spcBef>
                <a:spcPts val="0"/>
              </a:spcBef>
              <a:spcAft>
                <a:spcPts val="0"/>
              </a:spcAft>
              <a:buClr>
                <a:srgbClr val="C2C4B5"/>
              </a:buClr>
              <a:buSzPts val="1500"/>
              <a:buFont typeface="Outfit"/>
              <a:buNone/>
            </a:pPr>
            <a:r>
              <a:rPr lang="en-US" sz="1500" b="1">
                <a:solidFill>
                  <a:srgbClr val="C2C4B5"/>
                </a:solidFill>
                <a:latin typeface="Outfit"/>
                <a:ea typeface="Outfit"/>
                <a:cs typeface="Outfit"/>
                <a:sym typeface="Outfit"/>
              </a:rPr>
              <a:t>Two Rule Types</a:t>
            </a:r>
            <a:endParaRPr sz="1500">
              <a:solidFill>
                <a:schemeClr val="dk1"/>
              </a:solidFill>
              <a:latin typeface="Calibri"/>
              <a:ea typeface="Calibri"/>
              <a:cs typeface="Calibri"/>
              <a:sym typeface="Calibri"/>
            </a:endParaRPr>
          </a:p>
        </p:txBody>
      </p:sp>
      <p:sp>
        <p:nvSpPr>
          <p:cNvPr id="332" name="Google Shape;332;p13"/>
          <p:cNvSpPr/>
          <p:nvPr/>
        </p:nvSpPr>
        <p:spPr>
          <a:xfrm>
            <a:off x="1245156" y="2512338"/>
            <a:ext cx="12610028" cy="228481"/>
          </a:xfrm>
          <a:prstGeom prst="rect">
            <a:avLst/>
          </a:prstGeom>
          <a:noFill/>
          <a:ln>
            <a:noFill/>
          </a:ln>
        </p:spPr>
        <p:txBody>
          <a:bodyPr spcFirstLastPara="1" wrap="square" lIns="0" tIns="0" rIns="0" bIns="0" anchor="t" anchorCtr="0">
            <a:noAutofit/>
          </a:bodyPr>
          <a:lstStyle/>
          <a:p>
            <a:pPr marL="0" marR="0" lvl="0" indent="0" algn="l" rtl="0">
              <a:lnSpc>
                <a:spcPct val="141666"/>
              </a:lnSpc>
              <a:spcBef>
                <a:spcPts val="0"/>
              </a:spcBef>
              <a:spcAft>
                <a:spcPts val="0"/>
              </a:spcAft>
              <a:buClr>
                <a:srgbClr val="C2C4B5"/>
              </a:buClr>
              <a:buSzPts val="1200"/>
              <a:buFont typeface="Consolas"/>
              <a:buNone/>
            </a:pPr>
            <a:r>
              <a:rPr lang="en-US" sz="1200">
                <a:solidFill>
                  <a:srgbClr val="C2C4B5"/>
                </a:solidFill>
                <a:highlight>
                  <a:srgbClr val="292A2C"/>
                </a:highlight>
                <a:latin typeface="Consolas"/>
                <a:ea typeface="Consolas"/>
                <a:cs typeface="Consolas"/>
                <a:sym typeface="Consolas"/>
              </a:rPr>
              <a:t>requiredDuringScheduling</a:t>
            </a:r>
            <a:r>
              <a:rPr lang="en-US" sz="1200">
                <a:solidFill>
                  <a:srgbClr val="C2C4B5"/>
                </a:solidFill>
                <a:latin typeface="Bitter"/>
                <a:ea typeface="Bitter"/>
                <a:cs typeface="Bitter"/>
                <a:sym typeface="Bitter"/>
              </a:rPr>
              <a:t> = hard requirement (pod pending if unsatisfiable), </a:t>
            </a:r>
            <a:r>
              <a:rPr lang="en-US" sz="1200">
                <a:solidFill>
                  <a:srgbClr val="C2C4B5"/>
                </a:solidFill>
                <a:highlight>
                  <a:srgbClr val="292A2C"/>
                </a:highlight>
                <a:latin typeface="Consolas"/>
                <a:ea typeface="Consolas"/>
                <a:cs typeface="Consolas"/>
                <a:sym typeface="Consolas"/>
              </a:rPr>
              <a:t>preferredDuringScheduling</a:t>
            </a:r>
            <a:r>
              <a:rPr lang="en-US" sz="1200">
                <a:solidFill>
                  <a:srgbClr val="C2C4B5"/>
                </a:solidFill>
                <a:latin typeface="Bitter"/>
                <a:ea typeface="Bitter"/>
                <a:cs typeface="Bitter"/>
                <a:sym typeface="Bitter"/>
              </a:rPr>
              <a:t> = soft preference (scheduler optimizes)</a:t>
            </a:r>
            <a:endParaRPr sz="1200">
              <a:solidFill>
                <a:schemeClr val="dk1"/>
              </a:solidFill>
              <a:latin typeface="Calibri"/>
              <a:ea typeface="Calibri"/>
              <a:cs typeface="Calibri"/>
              <a:sym typeface="Calibri"/>
            </a:endParaRPr>
          </a:p>
        </p:txBody>
      </p:sp>
      <p:sp>
        <p:nvSpPr>
          <p:cNvPr id="333" name="Google Shape;333;p13"/>
          <p:cNvSpPr/>
          <p:nvPr/>
        </p:nvSpPr>
        <p:spPr>
          <a:xfrm>
            <a:off x="775216" y="2982992"/>
            <a:ext cx="348853" cy="348853"/>
          </a:xfrm>
          <a:prstGeom prst="roundRect">
            <a:avLst>
              <a:gd name="adj" fmla="val 6667"/>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3"/>
          <p:cNvSpPr/>
          <p:nvPr/>
        </p:nvSpPr>
        <p:spPr>
          <a:xfrm>
            <a:off x="1245156" y="3036213"/>
            <a:ext cx="1937980" cy="242292"/>
          </a:xfrm>
          <a:prstGeom prst="rect">
            <a:avLst/>
          </a:prstGeom>
          <a:noFill/>
          <a:ln>
            <a:noFill/>
          </a:ln>
        </p:spPr>
        <p:txBody>
          <a:bodyPr spcFirstLastPara="1" wrap="square" lIns="0" tIns="0" rIns="0" bIns="0" anchor="t" anchorCtr="0">
            <a:noAutofit/>
          </a:bodyPr>
          <a:lstStyle/>
          <a:p>
            <a:pPr marL="0" marR="0" lvl="0" indent="0" algn="l" rtl="0">
              <a:lnSpc>
                <a:spcPct val="126666"/>
              </a:lnSpc>
              <a:spcBef>
                <a:spcPts val="0"/>
              </a:spcBef>
              <a:spcAft>
                <a:spcPts val="0"/>
              </a:spcAft>
              <a:buClr>
                <a:srgbClr val="C2C4B5"/>
              </a:buClr>
              <a:buSzPts val="1500"/>
              <a:buFont typeface="Outfit"/>
              <a:buNone/>
            </a:pPr>
            <a:r>
              <a:rPr lang="en-US" sz="1500" b="1">
                <a:solidFill>
                  <a:srgbClr val="C2C4B5"/>
                </a:solidFill>
                <a:latin typeface="Outfit"/>
                <a:ea typeface="Outfit"/>
                <a:cs typeface="Outfit"/>
                <a:sym typeface="Outfit"/>
              </a:rPr>
              <a:t>Multiple Operators</a:t>
            </a:r>
            <a:endParaRPr sz="1500">
              <a:solidFill>
                <a:schemeClr val="dk1"/>
              </a:solidFill>
              <a:latin typeface="Calibri"/>
              <a:ea typeface="Calibri"/>
              <a:cs typeface="Calibri"/>
              <a:sym typeface="Calibri"/>
            </a:endParaRPr>
          </a:p>
        </p:txBody>
      </p:sp>
      <p:sp>
        <p:nvSpPr>
          <p:cNvPr id="335" name="Google Shape;335;p13"/>
          <p:cNvSpPr/>
          <p:nvPr/>
        </p:nvSpPr>
        <p:spPr>
          <a:xfrm>
            <a:off x="1245156" y="3351133"/>
            <a:ext cx="12610028" cy="220861"/>
          </a:xfrm>
          <a:prstGeom prst="rect">
            <a:avLst/>
          </a:prstGeom>
          <a:noFill/>
          <a:ln>
            <a:noFill/>
          </a:ln>
        </p:spPr>
        <p:txBody>
          <a:bodyPr spcFirstLastPara="1" wrap="square" lIns="0" tIns="0" rIns="0" bIns="0" anchor="t" anchorCtr="0">
            <a:noAutofit/>
          </a:bodyPr>
          <a:lstStyle/>
          <a:p>
            <a:pPr marL="0" marR="0" lvl="0" indent="0" algn="l" rtl="0">
              <a:lnSpc>
                <a:spcPct val="141666"/>
              </a:lnSpc>
              <a:spcBef>
                <a:spcPts val="0"/>
              </a:spcBef>
              <a:spcAft>
                <a:spcPts val="0"/>
              </a:spcAft>
              <a:buClr>
                <a:srgbClr val="C2C4B5"/>
              </a:buClr>
              <a:buSzPts val="1200"/>
              <a:buFont typeface="Bitter"/>
              <a:buNone/>
            </a:pPr>
            <a:r>
              <a:rPr lang="en-US" sz="1200">
                <a:solidFill>
                  <a:srgbClr val="C2C4B5"/>
                </a:solidFill>
                <a:latin typeface="Bitter"/>
                <a:ea typeface="Bitter"/>
                <a:cs typeface="Bitter"/>
                <a:sym typeface="Bitter"/>
              </a:rPr>
              <a:t>In, NotIn, Exists, DoesNotExist, Gt, Lt allow sophisticated matching logic</a:t>
            </a:r>
            <a:endParaRPr sz="1200">
              <a:solidFill>
                <a:schemeClr val="dk1"/>
              </a:solidFill>
              <a:latin typeface="Calibri"/>
              <a:ea typeface="Calibri"/>
              <a:cs typeface="Calibri"/>
              <a:sym typeface="Calibri"/>
            </a:endParaRPr>
          </a:p>
        </p:txBody>
      </p:sp>
      <p:sp>
        <p:nvSpPr>
          <p:cNvPr id="336" name="Google Shape;336;p13"/>
          <p:cNvSpPr/>
          <p:nvPr/>
        </p:nvSpPr>
        <p:spPr>
          <a:xfrm>
            <a:off x="775216" y="3814167"/>
            <a:ext cx="348853" cy="348853"/>
          </a:xfrm>
          <a:prstGeom prst="roundRect">
            <a:avLst>
              <a:gd name="adj" fmla="val 6667"/>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3"/>
          <p:cNvSpPr/>
          <p:nvPr/>
        </p:nvSpPr>
        <p:spPr>
          <a:xfrm>
            <a:off x="1245156" y="3867388"/>
            <a:ext cx="1937980" cy="242292"/>
          </a:xfrm>
          <a:prstGeom prst="rect">
            <a:avLst/>
          </a:prstGeom>
          <a:noFill/>
          <a:ln>
            <a:noFill/>
          </a:ln>
        </p:spPr>
        <p:txBody>
          <a:bodyPr spcFirstLastPara="1" wrap="square" lIns="0" tIns="0" rIns="0" bIns="0" anchor="t" anchorCtr="0">
            <a:noAutofit/>
          </a:bodyPr>
          <a:lstStyle/>
          <a:p>
            <a:pPr marL="0" marR="0" lvl="0" indent="0" algn="l" rtl="0">
              <a:lnSpc>
                <a:spcPct val="126666"/>
              </a:lnSpc>
              <a:spcBef>
                <a:spcPts val="0"/>
              </a:spcBef>
              <a:spcAft>
                <a:spcPts val="0"/>
              </a:spcAft>
              <a:buClr>
                <a:srgbClr val="C2C4B5"/>
              </a:buClr>
              <a:buSzPts val="1500"/>
              <a:buFont typeface="Outfit"/>
              <a:buNone/>
            </a:pPr>
            <a:r>
              <a:rPr lang="en-US" sz="1500" b="1">
                <a:solidFill>
                  <a:srgbClr val="C2C4B5"/>
                </a:solidFill>
                <a:latin typeface="Outfit"/>
                <a:ea typeface="Outfit"/>
                <a:cs typeface="Outfit"/>
                <a:sym typeface="Outfit"/>
              </a:rPr>
              <a:t>AND/OR Logic</a:t>
            </a:r>
            <a:endParaRPr sz="1500">
              <a:solidFill>
                <a:schemeClr val="dk1"/>
              </a:solidFill>
              <a:latin typeface="Calibri"/>
              <a:ea typeface="Calibri"/>
              <a:cs typeface="Calibri"/>
              <a:sym typeface="Calibri"/>
            </a:endParaRPr>
          </a:p>
        </p:txBody>
      </p:sp>
      <p:sp>
        <p:nvSpPr>
          <p:cNvPr id="338" name="Google Shape;338;p13"/>
          <p:cNvSpPr/>
          <p:nvPr/>
        </p:nvSpPr>
        <p:spPr>
          <a:xfrm>
            <a:off x="1245156" y="4182308"/>
            <a:ext cx="12610028" cy="228481"/>
          </a:xfrm>
          <a:prstGeom prst="rect">
            <a:avLst/>
          </a:prstGeom>
          <a:noFill/>
          <a:ln>
            <a:noFill/>
          </a:ln>
        </p:spPr>
        <p:txBody>
          <a:bodyPr spcFirstLastPara="1" wrap="square" lIns="0" tIns="0" rIns="0" bIns="0" anchor="t" anchorCtr="0">
            <a:noAutofit/>
          </a:bodyPr>
          <a:lstStyle/>
          <a:p>
            <a:pPr marL="0" marR="0" lvl="0" indent="0" algn="l" rtl="0">
              <a:lnSpc>
                <a:spcPct val="141666"/>
              </a:lnSpc>
              <a:spcBef>
                <a:spcPts val="0"/>
              </a:spcBef>
              <a:spcAft>
                <a:spcPts val="0"/>
              </a:spcAft>
              <a:buClr>
                <a:srgbClr val="C2C4B5"/>
              </a:buClr>
              <a:buSzPts val="1200"/>
              <a:buFont typeface="Consolas"/>
              <a:buNone/>
            </a:pPr>
            <a:r>
              <a:rPr lang="en-US" sz="1200">
                <a:solidFill>
                  <a:srgbClr val="C2C4B5"/>
                </a:solidFill>
                <a:highlight>
                  <a:srgbClr val="292A2C"/>
                </a:highlight>
                <a:latin typeface="Consolas"/>
                <a:ea typeface="Consolas"/>
                <a:cs typeface="Consolas"/>
                <a:sym typeface="Consolas"/>
              </a:rPr>
              <a:t>matchExpressions</a:t>
            </a:r>
            <a:r>
              <a:rPr lang="en-US" sz="1200">
                <a:solidFill>
                  <a:srgbClr val="C2C4B5"/>
                </a:solidFill>
                <a:latin typeface="Bitter"/>
                <a:ea typeface="Bitter"/>
                <a:cs typeface="Bitter"/>
                <a:sym typeface="Bitter"/>
              </a:rPr>
              <a:t> use AND logic, </a:t>
            </a:r>
            <a:r>
              <a:rPr lang="en-US" sz="1200">
                <a:solidFill>
                  <a:srgbClr val="C2C4B5"/>
                </a:solidFill>
                <a:highlight>
                  <a:srgbClr val="292A2C"/>
                </a:highlight>
                <a:latin typeface="Consolas"/>
                <a:ea typeface="Consolas"/>
                <a:cs typeface="Consolas"/>
                <a:sym typeface="Consolas"/>
              </a:rPr>
              <a:t>nodeSelectorTerms</a:t>
            </a:r>
            <a:r>
              <a:rPr lang="en-US" sz="1200">
                <a:solidFill>
                  <a:srgbClr val="C2C4B5"/>
                </a:solidFill>
                <a:latin typeface="Bitter"/>
                <a:ea typeface="Bitter"/>
                <a:cs typeface="Bitter"/>
                <a:sym typeface="Bitter"/>
              </a:rPr>
              <a:t> use OR logic, weights sum for preferences</a:t>
            </a:r>
            <a:endParaRPr sz="1200">
              <a:solidFill>
                <a:schemeClr val="dk1"/>
              </a:solidFill>
              <a:latin typeface="Calibri"/>
              <a:ea typeface="Calibri"/>
              <a:cs typeface="Calibri"/>
              <a:sym typeface="Calibri"/>
            </a:endParaRPr>
          </a:p>
        </p:txBody>
      </p:sp>
      <p:sp>
        <p:nvSpPr>
          <p:cNvPr id="339" name="Google Shape;339;p13"/>
          <p:cNvSpPr/>
          <p:nvPr/>
        </p:nvSpPr>
        <p:spPr>
          <a:xfrm>
            <a:off x="775216" y="4652963"/>
            <a:ext cx="348853" cy="348853"/>
          </a:xfrm>
          <a:prstGeom prst="roundRect">
            <a:avLst>
              <a:gd name="adj" fmla="val 6667"/>
            </a:avLst>
          </a:prstGeom>
          <a:solidFill>
            <a:srgbClr val="3B3C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3"/>
          <p:cNvSpPr/>
          <p:nvPr/>
        </p:nvSpPr>
        <p:spPr>
          <a:xfrm>
            <a:off x="1245156" y="4706183"/>
            <a:ext cx="1937980" cy="242292"/>
          </a:xfrm>
          <a:prstGeom prst="rect">
            <a:avLst/>
          </a:prstGeom>
          <a:noFill/>
          <a:ln>
            <a:noFill/>
          </a:ln>
        </p:spPr>
        <p:txBody>
          <a:bodyPr spcFirstLastPara="1" wrap="square" lIns="0" tIns="0" rIns="0" bIns="0" anchor="t" anchorCtr="0">
            <a:noAutofit/>
          </a:bodyPr>
          <a:lstStyle/>
          <a:p>
            <a:pPr marL="0" marR="0" lvl="0" indent="0" algn="l" rtl="0">
              <a:lnSpc>
                <a:spcPct val="126666"/>
              </a:lnSpc>
              <a:spcBef>
                <a:spcPts val="0"/>
              </a:spcBef>
              <a:spcAft>
                <a:spcPts val="0"/>
              </a:spcAft>
              <a:buClr>
                <a:srgbClr val="C2C4B5"/>
              </a:buClr>
              <a:buSzPts val="1500"/>
              <a:buFont typeface="Outfit"/>
              <a:buNone/>
            </a:pPr>
            <a:r>
              <a:rPr lang="en-US" sz="1500" b="1">
                <a:solidFill>
                  <a:srgbClr val="C2C4B5"/>
                </a:solidFill>
                <a:latin typeface="Outfit"/>
                <a:ea typeface="Outfit"/>
                <a:cs typeface="Outfit"/>
                <a:sym typeface="Outfit"/>
              </a:rPr>
              <a:t>Debug with Events</a:t>
            </a:r>
            <a:endParaRPr sz="1500">
              <a:solidFill>
                <a:schemeClr val="dk1"/>
              </a:solidFill>
              <a:latin typeface="Calibri"/>
              <a:ea typeface="Calibri"/>
              <a:cs typeface="Calibri"/>
              <a:sym typeface="Calibri"/>
            </a:endParaRPr>
          </a:p>
        </p:txBody>
      </p:sp>
      <p:sp>
        <p:nvSpPr>
          <p:cNvPr id="341" name="Google Shape;341;p13"/>
          <p:cNvSpPr/>
          <p:nvPr/>
        </p:nvSpPr>
        <p:spPr>
          <a:xfrm>
            <a:off x="1245156" y="5021104"/>
            <a:ext cx="12610028" cy="228481"/>
          </a:xfrm>
          <a:prstGeom prst="rect">
            <a:avLst/>
          </a:prstGeom>
          <a:noFill/>
          <a:ln>
            <a:noFill/>
          </a:ln>
        </p:spPr>
        <p:txBody>
          <a:bodyPr spcFirstLastPara="1" wrap="square" lIns="0" tIns="0" rIns="0" bIns="0" anchor="t" anchorCtr="0">
            <a:noAutofit/>
          </a:bodyPr>
          <a:lstStyle/>
          <a:p>
            <a:pPr marL="0" marR="0" lvl="0" indent="0" algn="l" rtl="0">
              <a:lnSpc>
                <a:spcPct val="141666"/>
              </a:lnSpc>
              <a:spcBef>
                <a:spcPts val="0"/>
              </a:spcBef>
              <a:spcAft>
                <a:spcPts val="0"/>
              </a:spcAft>
              <a:buClr>
                <a:srgbClr val="C2C4B5"/>
              </a:buClr>
              <a:buSzPts val="1200"/>
              <a:buFont typeface="Consolas"/>
              <a:buNone/>
            </a:pPr>
            <a:r>
              <a:rPr lang="en-US" sz="1200">
                <a:solidFill>
                  <a:srgbClr val="C2C4B5"/>
                </a:solidFill>
                <a:highlight>
                  <a:srgbClr val="292A2C"/>
                </a:highlight>
                <a:latin typeface="Consolas"/>
                <a:ea typeface="Consolas"/>
                <a:cs typeface="Consolas"/>
                <a:sym typeface="Consolas"/>
              </a:rPr>
              <a:t>kubectl describe pod</a:t>
            </a:r>
            <a:r>
              <a:rPr lang="en-US" sz="1200">
                <a:solidFill>
                  <a:srgbClr val="C2C4B5"/>
                </a:solidFill>
                <a:latin typeface="Bitter"/>
                <a:ea typeface="Bitter"/>
                <a:cs typeface="Bitter"/>
                <a:sym typeface="Bitter"/>
              </a:rPr>
              <a:t> shows why pods can't schedule - check node labels with </a:t>
            </a:r>
            <a:r>
              <a:rPr lang="en-US" sz="1200">
                <a:solidFill>
                  <a:srgbClr val="C2C4B5"/>
                </a:solidFill>
                <a:highlight>
                  <a:srgbClr val="292A2C"/>
                </a:highlight>
                <a:latin typeface="Consolas"/>
                <a:ea typeface="Consolas"/>
                <a:cs typeface="Consolas"/>
                <a:sym typeface="Consolas"/>
              </a:rPr>
              <a:t>kubectl get nodes --show-labels</a:t>
            </a:r>
            <a:endParaRPr sz="1200">
              <a:solidFill>
                <a:schemeClr val="dk1"/>
              </a:solidFill>
              <a:latin typeface="Calibri"/>
              <a:ea typeface="Calibri"/>
              <a:cs typeface="Calibri"/>
              <a:sym typeface="Calibri"/>
            </a:endParaRPr>
          </a:p>
        </p:txBody>
      </p:sp>
      <p:sp>
        <p:nvSpPr>
          <p:cNvPr id="342" name="Google Shape;342;p13"/>
          <p:cNvSpPr/>
          <p:nvPr/>
        </p:nvSpPr>
        <p:spPr>
          <a:xfrm>
            <a:off x="775216" y="5431155"/>
            <a:ext cx="2325648" cy="290632"/>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1E5CD"/>
              </a:buClr>
              <a:buSzPts val="1800"/>
              <a:buFont typeface="Outfit"/>
              <a:buNone/>
            </a:pPr>
            <a:r>
              <a:rPr lang="en-US" sz="1800" b="1">
                <a:solidFill>
                  <a:srgbClr val="E1E5CD"/>
                </a:solidFill>
                <a:latin typeface="Outfit"/>
                <a:ea typeface="Outfit"/>
                <a:cs typeface="Outfit"/>
                <a:sym typeface="Outfit"/>
              </a:rPr>
              <a:t>Best Practices</a:t>
            </a:r>
            <a:endParaRPr sz="1800">
              <a:solidFill>
                <a:schemeClr val="dk1"/>
              </a:solidFill>
              <a:latin typeface="Calibri"/>
              <a:ea typeface="Calibri"/>
              <a:cs typeface="Calibri"/>
              <a:sym typeface="Calibri"/>
            </a:endParaRPr>
          </a:p>
        </p:txBody>
      </p:sp>
      <p:sp>
        <p:nvSpPr>
          <p:cNvPr id="343" name="Google Shape;343;p13"/>
          <p:cNvSpPr/>
          <p:nvPr/>
        </p:nvSpPr>
        <p:spPr>
          <a:xfrm>
            <a:off x="775216" y="6012299"/>
            <a:ext cx="6350913" cy="1010603"/>
          </a:xfrm>
          <a:prstGeom prst="rect">
            <a:avLst/>
          </a:prstGeom>
          <a:noFill/>
          <a:ln>
            <a:noFill/>
          </a:ln>
        </p:spPr>
        <p:txBody>
          <a:bodyPr spcFirstLastPara="1" wrap="square" lIns="0" tIns="0" rIns="0" bIns="0" anchor="t" anchorCtr="0">
            <a:noAutofit/>
          </a:bodyPr>
          <a:lstStyle/>
          <a:p>
            <a:pPr marL="342900" marR="0" lvl="0" indent="-342900" algn="l" rtl="0">
              <a:lnSpc>
                <a:spcPct val="141666"/>
              </a:lnSpc>
              <a:spcBef>
                <a:spcPts val="0"/>
              </a:spcBef>
              <a:spcAft>
                <a:spcPts val="0"/>
              </a:spcAft>
              <a:buClr>
                <a:srgbClr val="C2C4B5"/>
              </a:buClr>
              <a:buSzPts val="1200"/>
              <a:buFont typeface="Bitter"/>
              <a:buChar char="•"/>
            </a:pPr>
            <a:r>
              <a:rPr lang="en-US" sz="1200">
                <a:solidFill>
                  <a:srgbClr val="C2C4B5"/>
                </a:solidFill>
                <a:latin typeface="Bitter"/>
                <a:ea typeface="Bitter"/>
                <a:cs typeface="Bitter"/>
                <a:sym typeface="Bitter"/>
              </a:rPr>
              <a:t>Start with preferred affinity and move to required only when necessary</a:t>
            </a:r>
            <a:endParaRPr sz="1200">
              <a:solidFill>
                <a:schemeClr val="dk1"/>
              </a:solidFill>
              <a:latin typeface="Calibri"/>
              <a:ea typeface="Calibri"/>
              <a:cs typeface="Calibri"/>
              <a:sym typeface="Calibri"/>
            </a:endParaRPr>
          </a:p>
          <a:p>
            <a:pPr marL="342900" marR="0" lvl="0" indent="-342900" algn="l" rtl="0">
              <a:lnSpc>
                <a:spcPct val="141666"/>
              </a:lnSpc>
              <a:spcBef>
                <a:spcPts val="0"/>
              </a:spcBef>
              <a:spcAft>
                <a:spcPts val="0"/>
              </a:spcAft>
              <a:buClr>
                <a:srgbClr val="C2C4B5"/>
              </a:buClr>
              <a:buSzPts val="1200"/>
              <a:buFont typeface="Bitter"/>
              <a:buChar char="•"/>
            </a:pPr>
            <a:r>
              <a:rPr lang="en-US" sz="1200">
                <a:solidFill>
                  <a:srgbClr val="C2C4B5"/>
                </a:solidFill>
                <a:latin typeface="Bitter"/>
                <a:ea typeface="Bitter"/>
                <a:cs typeface="Bitter"/>
                <a:sym typeface="Bitter"/>
              </a:rPr>
              <a:t>Use descriptive label keys following standard conventions</a:t>
            </a:r>
            <a:endParaRPr sz="1200">
              <a:solidFill>
                <a:schemeClr val="dk1"/>
              </a:solidFill>
              <a:latin typeface="Calibri"/>
              <a:ea typeface="Calibri"/>
              <a:cs typeface="Calibri"/>
              <a:sym typeface="Calibri"/>
            </a:endParaRPr>
          </a:p>
          <a:p>
            <a:pPr marL="342900" marR="0" lvl="0" indent="-342900" algn="l" rtl="0">
              <a:lnSpc>
                <a:spcPct val="141666"/>
              </a:lnSpc>
              <a:spcBef>
                <a:spcPts val="0"/>
              </a:spcBef>
              <a:spcAft>
                <a:spcPts val="0"/>
              </a:spcAft>
              <a:buClr>
                <a:srgbClr val="C2C4B5"/>
              </a:buClr>
              <a:buSzPts val="1200"/>
              <a:buFont typeface="Bitter"/>
              <a:buChar char="•"/>
            </a:pPr>
            <a:r>
              <a:rPr lang="en-US" sz="1200">
                <a:solidFill>
                  <a:srgbClr val="C2C4B5"/>
                </a:solidFill>
                <a:latin typeface="Bitter"/>
                <a:ea typeface="Bitter"/>
                <a:cs typeface="Bitter"/>
                <a:sym typeface="Bitter"/>
              </a:rPr>
              <a:t>Test affinity rules before applying to production workloads</a:t>
            </a:r>
            <a:endParaRPr sz="1200">
              <a:solidFill>
                <a:schemeClr val="dk1"/>
              </a:solidFill>
              <a:latin typeface="Calibri"/>
              <a:ea typeface="Calibri"/>
              <a:cs typeface="Calibri"/>
              <a:sym typeface="Calibri"/>
            </a:endParaRPr>
          </a:p>
          <a:p>
            <a:pPr marL="342900" marR="0" lvl="0" indent="-342900" algn="l" rtl="0">
              <a:lnSpc>
                <a:spcPct val="141666"/>
              </a:lnSpc>
              <a:spcBef>
                <a:spcPts val="0"/>
              </a:spcBef>
              <a:spcAft>
                <a:spcPts val="0"/>
              </a:spcAft>
              <a:buClr>
                <a:srgbClr val="C2C4B5"/>
              </a:buClr>
              <a:buSzPts val="1200"/>
              <a:buFont typeface="Bitter"/>
              <a:buChar char="•"/>
            </a:pPr>
            <a:r>
              <a:rPr lang="en-US" sz="1200">
                <a:solidFill>
                  <a:srgbClr val="C2C4B5"/>
                </a:solidFill>
                <a:latin typeface="Bitter"/>
                <a:ea typeface="Bitter"/>
                <a:cs typeface="Bitter"/>
                <a:sym typeface="Bitter"/>
              </a:rPr>
              <a:t>Document why specific affinity rules exist</a:t>
            </a:r>
            <a:endParaRPr sz="1200">
              <a:solidFill>
                <a:schemeClr val="dk1"/>
              </a:solidFill>
              <a:latin typeface="Calibri"/>
              <a:ea typeface="Calibri"/>
              <a:cs typeface="Calibri"/>
              <a:sym typeface="Calibri"/>
            </a:endParaRPr>
          </a:p>
        </p:txBody>
      </p:sp>
      <p:sp>
        <p:nvSpPr>
          <p:cNvPr id="344" name="Google Shape;344;p13"/>
          <p:cNvSpPr/>
          <p:nvPr/>
        </p:nvSpPr>
        <p:spPr>
          <a:xfrm>
            <a:off x="7511891" y="6012299"/>
            <a:ext cx="6350913" cy="1010603"/>
          </a:xfrm>
          <a:prstGeom prst="rect">
            <a:avLst/>
          </a:prstGeom>
          <a:noFill/>
          <a:ln>
            <a:noFill/>
          </a:ln>
        </p:spPr>
        <p:txBody>
          <a:bodyPr spcFirstLastPara="1" wrap="square" lIns="0" tIns="0" rIns="0" bIns="0" anchor="t" anchorCtr="0">
            <a:noAutofit/>
          </a:bodyPr>
          <a:lstStyle/>
          <a:p>
            <a:pPr marL="342900" marR="0" lvl="0" indent="-342900" algn="l" rtl="0">
              <a:lnSpc>
                <a:spcPct val="141666"/>
              </a:lnSpc>
              <a:spcBef>
                <a:spcPts val="0"/>
              </a:spcBef>
              <a:spcAft>
                <a:spcPts val="0"/>
              </a:spcAft>
              <a:buClr>
                <a:srgbClr val="C2C4B5"/>
              </a:buClr>
              <a:buSzPts val="1200"/>
              <a:buFont typeface="Bitter"/>
              <a:buChar char="•"/>
            </a:pPr>
            <a:r>
              <a:rPr lang="en-US" sz="1200">
                <a:solidFill>
                  <a:srgbClr val="C2C4B5"/>
                </a:solidFill>
                <a:latin typeface="Bitter"/>
                <a:ea typeface="Bitter"/>
                <a:cs typeface="Bitter"/>
                <a:sym typeface="Bitter"/>
              </a:rPr>
              <a:t>Avoid over-constraining - ensure enough nodes can satisfy requirements</a:t>
            </a:r>
            <a:endParaRPr sz="1200">
              <a:solidFill>
                <a:schemeClr val="dk1"/>
              </a:solidFill>
              <a:latin typeface="Calibri"/>
              <a:ea typeface="Calibri"/>
              <a:cs typeface="Calibri"/>
              <a:sym typeface="Calibri"/>
            </a:endParaRPr>
          </a:p>
          <a:p>
            <a:pPr marL="342900" marR="0" lvl="0" indent="-342900" algn="l" rtl="0">
              <a:lnSpc>
                <a:spcPct val="141666"/>
              </a:lnSpc>
              <a:spcBef>
                <a:spcPts val="0"/>
              </a:spcBef>
              <a:spcAft>
                <a:spcPts val="0"/>
              </a:spcAft>
              <a:buClr>
                <a:srgbClr val="C2C4B5"/>
              </a:buClr>
              <a:buSzPts val="1200"/>
              <a:buFont typeface="Bitter"/>
              <a:buChar char="•"/>
            </a:pPr>
            <a:r>
              <a:rPr lang="en-US" sz="1200">
                <a:solidFill>
                  <a:srgbClr val="C2C4B5"/>
                </a:solidFill>
                <a:latin typeface="Bitter"/>
                <a:ea typeface="Bitter"/>
                <a:cs typeface="Bitter"/>
                <a:sym typeface="Bitter"/>
              </a:rPr>
              <a:t>Consider node label consistency across clusters</a:t>
            </a:r>
            <a:endParaRPr sz="1200">
              <a:solidFill>
                <a:schemeClr val="dk1"/>
              </a:solidFill>
              <a:latin typeface="Calibri"/>
              <a:ea typeface="Calibri"/>
              <a:cs typeface="Calibri"/>
              <a:sym typeface="Calibri"/>
            </a:endParaRPr>
          </a:p>
          <a:p>
            <a:pPr marL="342900" marR="0" lvl="0" indent="-342900" algn="l" rtl="0">
              <a:lnSpc>
                <a:spcPct val="141666"/>
              </a:lnSpc>
              <a:spcBef>
                <a:spcPts val="0"/>
              </a:spcBef>
              <a:spcAft>
                <a:spcPts val="0"/>
              </a:spcAft>
              <a:buClr>
                <a:srgbClr val="C2C4B5"/>
              </a:buClr>
              <a:buSzPts val="1200"/>
              <a:buFont typeface="Bitter"/>
              <a:buChar char="•"/>
            </a:pPr>
            <a:r>
              <a:rPr lang="en-US" sz="1200">
                <a:solidFill>
                  <a:srgbClr val="C2C4B5"/>
                </a:solidFill>
                <a:latin typeface="Bitter"/>
                <a:ea typeface="Bitter"/>
                <a:cs typeface="Bitter"/>
                <a:sym typeface="Bitter"/>
              </a:rPr>
              <a:t>Use taints/tolerations for runtime node restrictions</a:t>
            </a:r>
            <a:endParaRPr sz="1200">
              <a:solidFill>
                <a:schemeClr val="dk1"/>
              </a:solidFill>
              <a:latin typeface="Calibri"/>
              <a:ea typeface="Calibri"/>
              <a:cs typeface="Calibri"/>
              <a:sym typeface="Calibri"/>
            </a:endParaRPr>
          </a:p>
          <a:p>
            <a:pPr marL="342900" marR="0" lvl="0" indent="-342900" algn="l" rtl="0">
              <a:lnSpc>
                <a:spcPct val="141666"/>
              </a:lnSpc>
              <a:spcBef>
                <a:spcPts val="0"/>
              </a:spcBef>
              <a:spcAft>
                <a:spcPts val="0"/>
              </a:spcAft>
              <a:buClr>
                <a:srgbClr val="C2C4B5"/>
              </a:buClr>
              <a:buSzPts val="1200"/>
              <a:buFont typeface="Bitter"/>
              <a:buChar char="•"/>
            </a:pPr>
            <a:r>
              <a:rPr lang="en-US" sz="1200">
                <a:solidFill>
                  <a:srgbClr val="C2C4B5"/>
                </a:solidFill>
                <a:latin typeface="Bitter"/>
                <a:ea typeface="Bitter"/>
                <a:cs typeface="Bitter"/>
                <a:sym typeface="Bitter"/>
              </a:rPr>
              <a:t>Monitor for pods stuck in Pending state</a:t>
            </a:r>
            <a:endParaRPr sz="1200">
              <a:solidFill>
                <a:schemeClr val="dk1"/>
              </a:solidFill>
              <a:latin typeface="Calibri"/>
              <a:ea typeface="Calibri"/>
              <a:cs typeface="Calibri"/>
              <a:sym typeface="Calibri"/>
            </a:endParaRPr>
          </a:p>
        </p:txBody>
      </p:sp>
      <p:sp>
        <p:nvSpPr>
          <p:cNvPr id="345" name="Google Shape;345;p13"/>
          <p:cNvSpPr/>
          <p:nvPr/>
        </p:nvSpPr>
        <p:spPr>
          <a:xfrm>
            <a:off x="775216" y="7201495"/>
            <a:ext cx="13079968" cy="441722"/>
          </a:xfrm>
          <a:prstGeom prst="rect">
            <a:avLst/>
          </a:prstGeom>
          <a:noFill/>
          <a:ln>
            <a:noFill/>
          </a:ln>
        </p:spPr>
        <p:txBody>
          <a:bodyPr spcFirstLastPara="1" wrap="square" lIns="0" tIns="0" rIns="0" bIns="0" anchor="t" anchorCtr="0">
            <a:noAutofit/>
          </a:bodyPr>
          <a:lstStyle/>
          <a:p>
            <a:pPr marL="0" marR="0" lvl="0" indent="0" algn="l" rtl="0">
              <a:lnSpc>
                <a:spcPct val="141666"/>
              </a:lnSpc>
              <a:spcBef>
                <a:spcPts val="0"/>
              </a:spcBef>
              <a:spcAft>
                <a:spcPts val="0"/>
              </a:spcAft>
              <a:buClr>
                <a:srgbClr val="9FA582"/>
              </a:buClr>
              <a:buSzPts val="1200"/>
              <a:buFont typeface="Bitter"/>
              <a:buNone/>
            </a:pPr>
            <a:r>
              <a:rPr lang="en-US" sz="1200" b="1">
                <a:solidFill>
                  <a:srgbClr val="9FA582"/>
                </a:solidFill>
                <a:latin typeface="Bitter"/>
                <a:ea typeface="Bitter"/>
                <a:cs typeface="Bitter"/>
                <a:sym typeface="Bitter"/>
              </a:rPr>
              <a:t>Remember:</a:t>
            </a:r>
            <a:r>
              <a:rPr lang="en-US" sz="1200">
                <a:solidFill>
                  <a:srgbClr val="C2C4B5"/>
                </a:solidFill>
                <a:latin typeface="Bitter"/>
                <a:ea typeface="Bitter"/>
                <a:cs typeface="Bitter"/>
                <a:sym typeface="Bitter"/>
              </a:rPr>
              <a:t> Node Affinity is evaluated only during initial scheduling. For runtime node restrictions, you need taints and tolerations. Master both concepts for the CKA exam and production Kubernetes management.</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2202</Words>
  <Application>Microsoft Office PowerPoint</Application>
  <PresentationFormat>Custom</PresentationFormat>
  <Paragraphs>249</Paragraphs>
  <Slides>14</Slides>
  <Notes>14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Bitter</vt:lpstr>
      <vt:lpstr>Consolas</vt:lpstr>
      <vt:lpstr>Outfit</vt:lpstr>
      <vt:lpstr>Calibri</vt:lpstr>
      <vt:lpstr>Arial</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Bharath Kakunuri</dc:creator>
  <cp:lastModifiedBy>Nandana Suresh(UST,IN)</cp:lastModifiedBy>
  <cp:revision>1</cp:revision>
  <dcterms:created xsi:type="dcterms:W3CDTF">2026-03-24T17:27:25Z</dcterms:created>
  <dcterms:modified xsi:type="dcterms:W3CDTF">2026-03-25T13:16:52Z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2026-03-25T13:16:50Z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101195a9-d291-4356-ab44-2405cc914a06</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